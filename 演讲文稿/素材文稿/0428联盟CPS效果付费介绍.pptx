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840" r:id="rId3"/>
    <p:sldId id="815" r:id="rId5"/>
    <p:sldId id="785" r:id="rId6"/>
    <p:sldId id="841" r:id="rId7"/>
    <p:sldId id="842" r:id="rId8"/>
    <p:sldId id="816" r:id="rId9"/>
    <p:sldId id="838" r:id="rId10"/>
    <p:sldId id="839" r:id="rId11"/>
    <p:sldId id="817" r:id="rId12"/>
    <p:sldId id="822" r:id="rId13"/>
    <p:sldId id="821" r:id="rId14"/>
    <p:sldId id="834" r:id="rId15"/>
    <p:sldId id="824" r:id="rId16"/>
    <p:sldId id="825" r:id="rId17"/>
    <p:sldId id="826" r:id="rId18"/>
    <p:sldId id="827" r:id="rId19"/>
    <p:sldId id="828" r:id="rId20"/>
    <p:sldId id="829" r:id="rId21"/>
    <p:sldId id="830" r:id="rId22"/>
    <p:sldId id="832" r:id="rId23"/>
    <p:sldId id="847"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55" userDrawn="1">
          <p15:clr>
            <a:srgbClr val="A4A3A4"/>
          </p15:clr>
        </p15:guide>
        <p15:guide id="3" pos="422" userDrawn="1">
          <p15:clr>
            <a:srgbClr val="A4A3A4"/>
          </p15:clr>
        </p15:guide>
        <p15:guide id="4" pos="7257" userDrawn="1">
          <p15:clr>
            <a:srgbClr val="A4A3A4"/>
          </p15:clr>
        </p15:guide>
        <p15:guide id="5" orient="horz" pos="648" userDrawn="1">
          <p15:clr>
            <a:srgbClr val="A4A3A4"/>
          </p15:clr>
        </p15:guide>
        <p15:guide id="6" orient="horz" pos="727" userDrawn="1">
          <p15:clr>
            <a:srgbClr val="A4A3A4"/>
          </p15:clr>
        </p15:guide>
        <p15:guide id="7" orient="horz" pos="3994" userDrawn="1">
          <p15:clr>
            <a:srgbClr val="A4A3A4"/>
          </p15:clr>
        </p15:guide>
        <p15:guide id="8" orient="horz" pos="3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50B"/>
    <a:srgbClr val="D5AC6C"/>
    <a:srgbClr val="CE6900"/>
    <a:srgbClr val="EA9600"/>
    <a:srgbClr val="F49F00"/>
    <a:srgbClr val="A20000"/>
    <a:srgbClr val="A40000"/>
    <a:srgbClr val="9E0000"/>
    <a:srgbClr val="C7450B"/>
    <a:srgbClr val="E24E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6182" autoAdjust="0"/>
  </p:normalViewPr>
  <p:slideViewPr>
    <p:cSldViewPr snapToGrid="0" showGuides="1">
      <p:cViewPr varScale="1">
        <p:scale>
          <a:sx n="70" d="100"/>
          <a:sy n="70" d="100"/>
        </p:scale>
        <p:origin x="536" y="56"/>
      </p:cViewPr>
      <p:guideLst>
        <p:guide orient="horz" pos="2174"/>
        <p:guide pos="3855"/>
        <p:guide pos="422"/>
        <p:guide pos="7257"/>
        <p:guide orient="horz" pos="648"/>
        <p:guide orient="horz" pos="727"/>
        <p:guide orient="horz" pos="3994"/>
        <p:guide orient="horz" pos="3845"/>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4A1AFA6-3243-4998-AA10-2E30E8220BD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CAF58F12-E86D-432D-87C4-9DCFAF5FF192}">
      <dgm:prSet phldrT="[文本]"/>
      <dgm:spPr>
        <a:solidFill>
          <a:srgbClr val="92D050"/>
        </a:solidFill>
      </dgm:spPr>
      <dgm:t>
        <a:bodyPr/>
        <a:lstStyle/>
        <a:p>
          <a:r>
            <a:rPr lang="zh-CN" altLang="en-US" dirty="0"/>
            <a:t>完善平台信息</a:t>
          </a:r>
        </a:p>
      </dgm:t>
    </dgm:pt>
    <dgm:pt modelId="{435EFFEE-4970-4968-BD96-A0F4CEE5F7A2}" cxnId="{B81EC620-C486-492A-944C-8FC77E11F78F}" type="parTrans">
      <dgm:prSet/>
      <dgm:spPr/>
      <dgm:t>
        <a:bodyPr/>
        <a:lstStyle/>
        <a:p>
          <a:endParaRPr lang="zh-CN" altLang="en-US"/>
        </a:p>
      </dgm:t>
    </dgm:pt>
    <dgm:pt modelId="{3384073D-EBF3-41F3-8E65-15159C98C0AF}" cxnId="{B81EC620-C486-492A-944C-8FC77E11F78F}" type="sibTrans">
      <dgm:prSet/>
      <dgm:spPr/>
      <dgm:t>
        <a:bodyPr/>
        <a:lstStyle/>
        <a:p>
          <a:endParaRPr lang="zh-CN" altLang="en-US"/>
        </a:p>
      </dgm:t>
    </dgm:pt>
    <dgm:pt modelId="{7B760D2F-3FFB-4F7E-9F1C-C3AEA452E899}">
      <dgm:prSet phldrT="[文本]" custT="1"/>
      <dgm:spPr/>
      <dgm:t>
        <a:bodyPr/>
        <a:lstStyle/>
        <a:p>
          <a:r>
            <a:rPr lang="zh-CN" altLang="en-US" sz="1400" b="0" dirty="0"/>
            <a:t>项目介绍</a:t>
          </a:r>
          <a:r>
            <a:rPr lang="en-US" altLang="en-US" sz="1400" b="0" dirty="0"/>
            <a:t>/</a:t>
          </a:r>
          <a:r>
            <a:rPr lang="zh-CN" altLang="en-US" sz="1400" b="0" dirty="0"/>
            <a:t>联盟条款</a:t>
          </a:r>
          <a:r>
            <a:rPr lang="en-US" altLang="en-US" sz="1400" b="0" dirty="0"/>
            <a:t>/PPC Policy/</a:t>
          </a:r>
          <a:r>
            <a:rPr lang="zh-CN" altLang="en-US" sz="1400" b="0" dirty="0"/>
            <a:t>佣金</a:t>
          </a:r>
        </a:p>
      </dgm:t>
    </dgm:pt>
    <dgm:pt modelId="{5274A9CE-C626-4F50-8D26-6CDF3867B3B2}" cxnId="{EE724E91-1075-4B0E-A2DB-DEEC6D97EFE8}" type="parTrans">
      <dgm:prSet/>
      <dgm:spPr/>
      <dgm:t>
        <a:bodyPr/>
        <a:lstStyle/>
        <a:p>
          <a:endParaRPr lang="zh-CN" altLang="en-US"/>
        </a:p>
      </dgm:t>
    </dgm:pt>
    <dgm:pt modelId="{AEEF1286-E216-4549-97BE-6888C2BEAF54}" cxnId="{EE724E91-1075-4B0E-A2DB-DEEC6D97EFE8}" type="sibTrans">
      <dgm:prSet/>
      <dgm:spPr/>
      <dgm:t>
        <a:bodyPr/>
        <a:lstStyle/>
        <a:p>
          <a:endParaRPr lang="zh-CN" altLang="en-US"/>
        </a:p>
      </dgm:t>
    </dgm:pt>
    <dgm:pt modelId="{A88246E1-4ACD-4296-BED3-C3B7CE3E8A42}">
      <dgm:prSet phldrT="[文本]"/>
      <dgm:spPr>
        <a:solidFill>
          <a:srgbClr val="00B0F0"/>
        </a:solidFill>
      </dgm:spPr>
      <dgm:t>
        <a:bodyPr/>
        <a:lstStyle/>
        <a:p>
          <a:r>
            <a:rPr lang="zh-CN" altLang="en-US" dirty="0"/>
            <a:t>邀约</a:t>
          </a:r>
          <a:r>
            <a:rPr lang="en-US" altLang="zh-CN" dirty="0"/>
            <a:t>/</a:t>
          </a:r>
          <a:r>
            <a:rPr lang="zh-CN" altLang="en-US" dirty="0"/>
            <a:t>激活联盟客</a:t>
          </a:r>
        </a:p>
      </dgm:t>
    </dgm:pt>
    <dgm:pt modelId="{747ADF01-CA87-49C4-9946-805492E48FC1}" cxnId="{65AE9F89-C5A1-4A9F-AC40-BFED912961C0}" type="parTrans">
      <dgm:prSet/>
      <dgm:spPr/>
      <dgm:t>
        <a:bodyPr/>
        <a:lstStyle/>
        <a:p>
          <a:endParaRPr lang="zh-CN" altLang="en-US"/>
        </a:p>
      </dgm:t>
    </dgm:pt>
    <dgm:pt modelId="{C761E370-1D30-4706-B371-9F8ECCC95EBA}" cxnId="{65AE9F89-C5A1-4A9F-AC40-BFED912961C0}" type="sibTrans">
      <dgm:prSet/>
      <dgm:spPr/>
      <dgm:t>
        <a:bodyPr/>
        <a:lstStyle/>
        <a:p>
          <a:endParaRPr lang="zh-CN" altLang="en-US"/>
        </a:p>
      </dgm:t>
    </dgm:pt>
    <dgm:pt modelId="{10B77617-0507-403D-A793-56C404BC1998}">
      <dgm:prSet phldrT="[文本]" custT="1"/>
      <dgm:spPr/>
      <dgm:t>
        <a:bodyPr/>
        <a:lstStyle/>
        <a:p>
          <a:r>
            <a:rPr lang="zh-CN" altLang="en-US" sz="1400" dirty="0"/>
            <a:t>借助平台内跟平台外招募</a:t>
          </a:r>
        </a:p>
      </dgm:t>
    </dgm:pt>
    <dgm:pt modelId="{D21D9E0F-4255-4747-9A99-10D8D888EE9B}" cxnId="{7F54F8D4-2EA7-4BA3-A757-6F8AC486D438}" type="parTrans">
      <dgm:prSet/>
      <dgm:spPr/>
      <dgm:t>
        <a:bodyPr/>
        <a:lstStyle/>
        <a:p>
          <a:endParaRPr lang="zh-CN" altLang="en-US"/>
        </a:p>
      </dgm:t>
    </dgm:pt>
    <dgm:pt modelId="{788E5603-37CE-4657-8DE5-698F886203C3}" cxnId="{7F54F8D4-2EA7-4BA3-A757-6F8AC486D438}" type="sibTrans">
      <dgm:prSet/>
      <dgm:spPr/>
      <dgm:t>
        <a:bodyPr/>
        <a:lstStyle/>
        <a:p>
          <a:endParaRPr lang="zh-CN" altLang="en-US"/>
        </a:p>
      </dgm:t>
    </dgm:pt>
    <dgm:pt modelId="{1CEA3DC8-9386-4DAA-9E79-0F56B53D6451}">
      <dgm:prSet phldrT="[文本]"/>
      <dgm:spPr>
        <a:solidFill>
          <a:srgbClr val="C7450B"/>
        </a:solidFill>
      </dgm:spPr>
      <dgm:t>
        <a:bodyPr/>
        <a:lstStyle/>
        <a:p>
          <a:r>
            <a:rPr lang="zh-CN" altLang="en-US" dirty="0"/>
            <a:t>运营监测与警示</a:t>
          </a:r>
        </a:p>
      </dgm:t>
    </dgm:pt>
    <dgm:pt modelId="{EFE65190-A687-49D8-BF73-AD16747DC8D9}" cxnId="{4F6FD983-EEF9-48F5-ADB5-5C5B87681577}" type="parTrans">
      <dgm:prSet/>
      <dgm:spPr/>
      <dgm:t>
        <a:bodyPr/>
        <a:lstStyle/>
        <a:p>
          <a:endParaRPr lang="zh-CN" altLang="en-US"/>
        </a:p>
      </dgm:t>
    </dgm:pt>
    <dgm:pt modelId="{E12D2B1E-FA92-44CA-9FC4-E154FD4C0662}" cxnId="{4F6FD983-EEF9-48F5-ADB5-5C5B87681577}" type="sibTrans">
      <dgm:prSet/>
      <dgm:spPr/>
      <dgm:t>
        <a:bodyPr/>
        <a:lstStyle/>
        <a:p>
          <a:endParaRPr lang="zh-CN" altLang="en-US"/>
        </a:p>
      </dgm:t>
    </dgm:pt>
    <dgm:pt modelId="{BE4792FE-85AB-40BA-A192-135173D4F9EC}">
      <dgm:prSet phldrT="[文本]" custT="1"/>
      <dgm:spPr/>
      <dgm:t>
        <a:bodyPr/>
        <a:lstStyle/>
        <a:p>
          <a:r>
            <a:rPr lang="zh-CN" altLang="en-US" sz="1400" dirty="0"/>
            <a:t>销售数据（销售额</a:t>
          </a:r>
          <a:r>
            <a:rPr lang="en-US" altLang="en-US" sz="1400" dirty="0"/>
            <a:t>,</a:t>
          </a:r>
          <a:r>
            <a:rPr lang="zh-CN" altLang="en-US" sz="1400" dirty="0"/>
            <a:t>点击率</a:t>
          </a:r>
          <a:r>
            <a:rPr lang="en-US" altLang="en-US" sz="1400" dirty="0"/>
            <a:t>,</a:t>
          </a:r>
          <a:r>
            <a:rPr lang="zh-CN" altLang="en-US" sz="1400" dirty="0"/>
            <a:t>点击</a:t>
          </a:r>
          <a:r>
            <a:rPr lang="en-US" altLang="en-US" sz="1400" dirty="0"/>
            <a:t>,</a:t>
          </a:r>
          <a:r>
            <a:rPr lang="zh-CN" altLang="en-US" sz="1400" dirty="0"/>
            <a:t>转化率）</a:t>
          </a:r>
        </a:p>
      </dgm:t>
    </dgm:pt>
    <dgm:pt modelId="{72D37FA5-3614-41D0-A80D-0DAD80771A53}" cxnId="{5107ADFF-011D-469B-BAF2-218C4CCF4EA2}" type="parTrans">
      <dgm:prSet/>
      <dgm:spPr/>
      <dgm:t>
        <a:bodyPr/>
        <a:lstStyle/>
        <a:p>
          <a:endParaRPr lang="zh-CN" altLang="en-US"/>
        </a:p>
      </dgm:t>
    </dgm:pt>
    <dgm:pt modelId="{FA5191C5-0FE1-487B-82DF-592E9B0BCE58}" cxnId="{5107ADFF-011D-469B-BAF2-218C4CCF4EA2}" type="sibTrans">
      <dgm:prSet/>
      <dgm:spPr/>
      <dgm:t>
        <a:bodyPr/>
        <a:lstStyle/>
        <a:p>
          <a:endParaRPr lang="zh-CN" altLang="en-US"/>
        </a:p>
      </dgm:t>
    </dgm:pt>
    <dgm:pt modelId="{2636ACA0-9813-4BA8-B2AB-F8910B7E408F}">
      <dgm:prSet custT="1"/>
      <dgm:spPr/>
      <dgm:t>
        <a:bodyPr/>
        <a:lstStyle/>
        <a:p>
          <a:r>
            <a:rPr lang="zh-CN" altLang="en-US" sz="1400" b="0" dirty="0"/>
            <a:t>上传素材</a:t>
          </a:r>
          <a:r>
            <a:rPr lang="en-US" altLang="en-US" sz="1400" b="0" dirty="0"/>
            <a:t>Banner/code/text links/</a:t>
          </a:r>
          <a:r>
            <a:rPr lang="en-US" altLang="en-US" sz="1400" b="0" dirty="0" err="1"/>
            <a:t>datafeed</a:t>
          </a:r>
          <a:r>
            <a:rPr lang="zh-CN" altLang="en-US" sz="1400" b="0" dirty="0"/>
            <a:t>等</a:t>
          </a:r>
        </a:p>
      </dgm:t>
    </dgm:pt>
    <dgm:pt modelId="{F3F1D190-8FF0-477D-BF34-0D7BF3659329}" cxnId="{EA605429-3184-410E-9CE5-528389ADB8E0}" type="parTrans">
      <dgm:prSet/>
      <dgm:spPr/>
      <dgm:t>
        <a:bodyPr/>
        <a:lstStyle/>
        <a:p>
          <a:endParaRPr lang="zh-CN" altLang="en-US"/>
        </a:p>
      </dgm:t>
    </dgm:pt>
    <dgm:pt modelId="{886A2241-375D-441E-8C11-931FA67688DA}" cxnId="{EA605429-3184-410E-9CE5-528389ADB8E0}" type="sibTrans">
      <dgm:prSet/>
      <dgm:spPr/>
      <dgm:t>
        <a:bodyPr/>
        <a:lstStyle/>
        <a:p>
          <a:endParaRPr lang="zh-CN" altLang="en-US"/>
        </a:p>
      </dgm:t>
    </dgm:pt>
    <dgm:pt modelId="{BB8F722F-139A-4595-91E4-37BB28BDFEA4}">
      <dgm:prSet custT="1"/>
      <dgm:spPr/>
      <dgm:t>
        <a:bodyPr/>
        <a:lstStyle/>
        <a:p>
          <a:r>
            <a:rPr lang="zh-CN" altLang="en-US" sz="1400" dirty="0"/>
            <a:t>甄别筛选联盟客</a:t>
          </a:r>
          <a:r>
            <a:rPr lang="en-US" altLang="en-US" sz="1400" dirty="0"/>
            <a:t>,</a:t>
          </a:r>
          <a:r>
            <a:rPr lang="zh-CN" altLang="en-US" sz="1400" dirty="0"/>
            <a:t>并对联盟客进行分类分组</a:t>
          </a:r>
        </a:p>
      </dgm:t>
    </dgm:pt>
    <dgm:pt modelId="{8D787CEB-2423-4F91-8F3F-2DF680BC5970}" cxnId="{60DEE902-7838-44D5-A3F2-CA4BB8C6CC6A}" type="parTrans">
      <dgm:prSet/>
      <dgm:spPr/>
      <dgm:t>
        <a:bodyPr/>
        <a:lstStyle/>
        <a:p>
          <a:endParaRPr lang="zh-CN" altLang="en-US"/>
        </a:p>
      </dgm:t>
    </dgm:pt>
    <dgm:pt modelId="{90869D37-FDDD-4147-9715-0D6CAF5CF567}" cxnId="{60DEE902-7838-44D5-A3F2-CA4BB8C6CC6A}" type="sibTrans">
      <dgm:prSet/>
      <dgm:spPr/>
      <dgm:t>
        <a:bodyPr/>
        <a:lstStyle/>
        <a:p>
          <a:endParaRPr lang="zh-CN" altLang="en-US"/>
        </a:p>
      </dgm:t>
    </dgm:pt>
    <dgm:pt modelId="{1F0C3BAF-0919-443E-B524-BDE456D3A6AE}">
      <dgm:prSet custT="1"/>
      <dgm:spPr/>
      <dgm:t>
        <a:bodyPr/>
        <a:lstStyle/>
        <a:p>
          <a:r>
            <a:rPr lang="zh-CN" altLang="en-US" sz="1400" dirty="0"/>
            <a:t>多样化执行激励措施</a:t>
          </a:r>
          <a:r>
            <a:rPr lang="en-US" altLang="en-US" sz="1400" dirty="0"/>
            <a:t>,</a:t>
          </a:r>
          <a:r>
            <a:rPr lang="zh-CN" altLang="en-US" sz="1400" dirty="0"/>
            <a:t>鼓励内容</a:t>
          </a:r>
          <a:r>
            <a:rPr lang="en-US" altLang="en-US" sz="1400" dirty="0"/>
            <a:t>/</a:t>
          </a:r>
          <a:r>
            <a:rPr lang="zh-CN" altLang="en-US" sz="1400" dirty="0"/>
            <a:t>直播等联盟客</a:t>
          </a:r>
        </a:p>
      </dgm:t>
    </dgm:pt>
    <dgm:pt modelId="{5E7591E3-DB38-4F84-B6FE-DD43FBEBE8D3}" cxnId="{953947D4-F3DF-4592-A9CD-EF00577E972B}" type="parTrans">
      <dgm:prSet/>
      <dgm:spPr/>
      <dgm:t>
        <a:bodyPr/>
        <a:lstStyle/>
        <a:p>
          <a:endParaRPr lang="zh-CN" altLang="en-US"/>
        </a:p>
      </dgm:t>
    </dgm:pt>
    <dgm:pt modelId="{5FF811EA-A8CD-4CAE-A32F-6453269411EB}" cxnId="{953947D4-F3DF-4592-A9CD-EF00577E972B}" type="sibTrans">
      <dgm:prSet/>
      <dgm:spPr/>
      <dgm:t>
        <a:bodyPr/>
        <a:lstStyle/>
        <a:p>
          <a:endParaRPr lang="zh-CN" altLang="en-US"/>
        </a:p>
      </dgm:t>
    </dgm:pt>
    <dgm:pt modelId="{24D739B9-E119-49BF-BD1D-EE21B5BF55AE}">
      <dgm:prSet custT="1"/>
      <dgm:spPr/>
      <dgm:t>
        <a:bodyPr/>
        <a:lstStyle/>
        <a:p>
          <a:r>
            <a:rPr lang="zh-CN" altLang="en-US" sz="1400" dirty="0"/>
            <a:t>加强储备核心联盟成员以及专属设置</a:t>
          </a:r>
        </a:p>
      </dgm:t>
    </dgm:pt>
    <dgm:pt modelId="{692DF0FF-A19F-4746-BA2F-EB78E11F4B2D}" cxnId="{261F56A6-E16F-4DC0-9447-1031D17C9AFB}" type="parTrans">
      <dgm:prSet/>
      <dgm:spPr/>
      <dgm:t>
        <a:bodyPr/>
        <a:lstStyle/>
        <a:p>
          <a:endParaRPr lang="zh-CN" altLang="en-US"/>
        </a:p>
      </dgm:t>
    </dgm:pt>
    <dgm:pt modelId="{4525A3F7-4765-4872-BB9E-FE4577BAEFD6}" cxnId="{261F56A6-E16F-4DC0-9447-1031D17C9AFB}" type="sibTrans">
      <dgm:prSet/>
      <dgm:spPr/>
      <dgm:t>
        <a:bodyPr/>
        <a:lstStyle/>
        <a:p>
          <a:endParaRPr lang="zh-CN" altLang="en-US"/>
        </a:p>
      </dgm:t>
    </dgm:pt>
    <dgm:pt modelId="{3FEFE614-2046-447B-95A5-6C21AED90EAF}">
      <dgm:prSet custT="1"/>
      <dgm:spPr/>
      <dgm:t>
        <a:bodyPr/>
        <a:lstStyle/>
        <a:p>
          <a:r>
            <a:rPr lang="zh-CN" altLang="en-US" sz="1400" dirty="0"/>
            <a:t>素材使用评测</a:t>
          </a:r>
        </a:p>
      </dgm:t>
    </dgm:pt>
    <dgm:pt modelId="{56982C23-5C6E-4B94-BA6C-818BCFD1AAC6}" cxnId="{EC640C59-C738-4A67-8FC4-3A05E26B6A99}" type="parTrans">
      <dgm:prSet/>
      <dgm:spPr/>
      <dgm:t>
        <a:bodyPr/>
        <a:lstStyle/>
        <a:p>
          <a:endParaRPr lang="zh-CN" altLang="en-US"/>
        </a:p>
      </dgm:t>
    </dgm:pt>
    <dgm:pt modelId="{87BAED13-21E8-4E72-B5E6-ED20E3BD7929}" cxnId="{EC640C59-C738-4A67-8FC4-3A05E26B6A99}" type="sibTrans">
      <dgm:prSet/>
      <dgm:spPr/>
      <dgm:t>
        <a:bodyPr/>
        <a:lstStyle/>
        <a:p>
          <a:endParaRPr lang="zh-CN" altLang="en-US"/>
        </a:p>
      </dgm:t>
    </dgm:pt>
    <dgm:pt modelId="{F2E8741E-9D08-4FA8-AD3B-89FA7EB3AB9C}">
      <dgm:prSet custT="1"/>
      <dgm:spPr/>
      <dgm:t>
        <a:bodyPr/>
        <a:lstStyle/>
        <a:p>
          <a:r>
            <a:rPr lang="en-US" altLang="en-US" sz="1400" dirty="0"/>
            <a:t>AFF</a:t>
          </a:r>
          <a:r>
            <a:rPr lang="zh-CN" altLang="en-US" sz="1400" dirty="0"/>
            <a:t>关键动作（登录次数</a:t>
          </a:r>
          <a:r>
            <a:rPr lang="en-US" altLang="en-US" sz="1400" dirty="0"/>
            <a:t>,</a:t>
          </a:r>
          <a:r>
            <a:rPr lang="zh-CN" altLang="en-US" sz="1400" dirty="0"/>
            <a:t>登录时间）</a:t>
          </a:r>
        </a:p>
      </dgm:t>
    </dgm:pt>
    <dgm:pt modelId="{BF5BEA3F-3D54-44F2-9B7F-442C7B6C67AE}" cxnId="{5399E302-C910-4E2E-B359-75E27D0D4404}" type="parTrans">
      <dgm:prSet/>
      <dgm:spPr/>
      <dgm:t>
        <a:bodyPr/>
        <a:lstStyle/>
        <a:p>
          <a:endParaRPr lang="zh-CN" altLang="en-US"/>
        </a:p>
      </dgm:t>
    </dgm:pt>
    <dgm:pt modelId="{C9A31794-F119-471A-9B5B-6CFFAEC0FEF1}" cxnId="{5399E302-C910-4E2E-B359-75E27D0D4404}" type="sibTrans">
      <dgm:prSet/>
      <dgm:spPr/>
      <dgm:t>
        <a:bodyPr/>
        <a:lstStyle/>
        <a:p>
          <a:endParaRPr lang="zh-CN" altLang="en-US"/>
        </a:p>
      </dgm:t>
    </dgm:pt>
    <dgm:pt modelId="{A2265A82-539F-4F2E-A197-1EFE335CCC21}">
      <dgm:prSet custT="1"/>
      <dgm:spPr/>
      <dgm:t>
        <a:bodyPr/>
        <a:lstStyle/>
        <a:p>
          <a:r>
            <a:rPr lang="zh-CN" altLang="en-US" sz="1400" dirty="0"/>
            <a:t>风控</a:t>
          </a:r>
          <a:r>
            <a:rPr lang="en-US" altLang="en-US" sz="1400" dirty="0"/>
            <a:t>:</a:t>
          </a:r>
          <a:r>
            <a:rPr lang="zh-CN" altLang="en-US" sz="1400" dirty="0"/>
            <a:t>重复订单</a:t>
          </a:r>
          <a:r>
            <a:rPr lang="en-US" altLang="en-US" sz="1400" dirty="0"/>
            <a:t>/</a:t>
          </a:r>
          <a:r>
            <a:rPr lang="zh-CN" altLang="en-US" sz="1400" dirty="0"/>
            <a:t>欺诈交易订单</a:t>
          </a:r>
        </a:p>
      </dgm:t>
    </dgm:pt>
    <dgm:pt modelId="{2A3685BD-0CD5-4811-AE4D-4B8FAF7C1BF1}" cxnId="{9EEE6664-1E6C-42FD-A38B-6097F6FBBB1E}" type="parTrans">
      <dgm:prSet/>
      <dgm:spPr/>
      <dgm:t>
        <a:bodyPr/>
        <a:lstStyle/>
        <a:p>
          <a:endParaRPr lang="zh-CN" altLang="en-US"/>
        </a:p>
      </dgm:t>
    </dgm:pt>
    <dgm:pt modelId="{B7272574-4313-47A9-8CA5-0C5629F1E8A1}" cxnId="{9EEE6664-1E6C-42FD-A38B-6097F6FBBB1E}" type="sibTrans">
      <dgm:prSet/>
      <dgm:spPr/>
      <dgm:t>
        <a:bodyPr/>
        <a:lstStyle/>
        <a:p>
          <a:endParaRPr lang="zh-CN" altLang="en-US"/>
        </a:p>
      </dgm:t>
    </dgm:pt>
    <dgm:pt modelId="{690EC26B-86A8-42BD-8D07-DCA138A58F4F}" type="pres">
      <dgm:prSet presAssocID="{34A1AFA6-3243-4998-AA10-2E30E8220BDA}" presName="linearFlow" presStyleCnt="0">
        <dgm:presLayoutVars>
          <dgm:dir/>
          <dgm:animLvl val="lvl"/>
          <dgm:resizeHandles val="exact"/>
        </dgm:presLayoutVars>
      </dgm:prSet>
      <dgm:spPr/>
    </dgm:pt>
    <dgm:pt modelId="{D7384FAD-D25E-4228-87C9-D3B57D86A4F7}" type="pres">
      <dgm:prSet presAssocID="{CAF58F12-E86D-432D-87C4-9DCFAF5FF192}" presName="composite" presStyleCnt="0"/>
      <dgm:spPr/>
    </dgm:pt>
    <dgm:pt modelId="{3BB80537-0189-41C4-A43C-6C99D7F3FEBB}" type="pres">
      <dgm:prSet presAssocID="{CAF58F12-E86D-432D-87C4-9DCFAF5FF192}" presName="parentText" presStyleLbl="alignNode1" presStyleIdx="0" presStyleCnt="3" custLinFactNeighborX="2629" custLinFactNeighborY="1380">
        <dgm:presLayoutVars>
          <dgm:chMax val="1"/>
          <dgm:bulletEnabled val="1"/>
        </dgm:presLayoutVars>
      </dgm:prSet>
      <dgm:spPr/>
    </dgm:pt>
    <dgm:pt modelId="{A33F39E8-923E-4CF7-800E-FC0370CA8795}" type="pres">
      <dgm:prSet presAssocID="{CAF58F12-E86D-432D-87C4-9DCFAF5FF192}" presName="descendantText" presStyleLbl="alignAcc1" presStyleIdx="0" presStyleCnt="3" custLinFactNeighborY="-4243">
        <dgm:presLayoutVars>
          <dgm:bulletEnabled val="1"/>
        </dgm:presLayoutVars>
      </dgm:prSet>
      <dgm:spPr/>
    </dgm:pt>
    <dgm:pt modelId="{A2436A18-F910-4173-9A40-27A8698BD2FC}" type="pres">
      <dgm:prSet presAssocID="{3384073D-EBF3-41F3-8E65-15159C98C0AF}" presName="sp" presStyleCnt="0"/>
      <dgm:spPr/>
    </dgm:pt>
    <dgm:pt modelId="{5EB4090D-DE88-4037-984D-EBB060D6245C}" type="pres">
      <dgm:prSet presAssocID="{A88246E1-4ACD-4296-BED3-C3B7CE3E8A42}" presName="composite" presStyleCnt="0"/>
      <dgm:spPr/>
    </dgm:pt>
    <dgm:pt modelId="{6F5D80AF-0C5A-4299-BE12-BE3BBC66CB41}" type="pres">
      <dgm:prSet presAssocID="{A88246E1-4ACD-4296-BED3-C3B7CE3E8A42}" presName="parentText" presStyleLbl="alignNode1" presStyleIdx="1" presStyleCnt="3">
        <dgm:presLayoutVars>
          <dgm:chMax val="1"/>
          <dgm:bulletEnabled val="1"/>
        </dgm:presLayoutVars>
      </dgm:prSet>
      <dgm:spPr/>
    </dgm:pt>
    <dgm:pt modelId="{96E2DAB4-1111-4BA8-9F3C-DBAED6A0DB2F}" type="pres">
      <dgm:prSet presAssocID="{A88246E1-4ACD-4296-BED3-C3B7CE3E8A42}" presName="descendantText" presStyleLbl="alignAcc1" presStyleIdx="1" presStyleCnt="3">
        <dgm:presLayoutVars>
          <dgm:bulletEnabled val="1"/>
        </dgm:presLayoutVars>
      </dgm:prSet>
      <dgm:spPr/>
    </dgm:pt>
    <dgm:pt modelId="{F9CF9247-DF96-42F7-821B-DD4F0F81D575}" type="pres">
      <dgm:prSet presAssocID="{C761E370-1D30-4706-B371-9F8ECCC95EBA}" presName="sp" presStyleCnt="0"/>
      <dgm:spPr/>
    </dgm:pt>
    <dgm:pt modelId="{07196103-A4B9-4373-9A1C-787E1D0611F2}" type="pres">
      <dgm:prSet presAssocID="{1CEA3DC8-9386-4DAA-9E79-0F56B53D6451}" presName="composite" presStyleCnt="0"/>
      <dgm:spPr/>
    </dgm:pt>
    <dgm:pt modelId="{12599A4D-E8A6-40E9-8BB5-CE6F537443B1}" type="pres">
      <dgm:prSet presAssocID="{1CEA3DC8-9386-4DAA-9E79-0F56B53D6451}" presName="parentText" presStyleLbl="alignNode1" presStyleIdx="2" presStyleCnt="3">
        <dgm:presLayoutVars>
          <dgm:chMax val="1"/>
          <dgm:bulletEnabled val="1"/>
        </dgm:presLayoutVars>
      </dgm:prSet>
      <dgm:spPr/>
    </dgm:pt>
    <dgm:pt modelId="{E1D6D5E5-A364-41AE-96BB-987670A3197E}" type="pres">
      <dgm:prSet presAssocID="{1CEA3DC8-9386-4DAA-9E79-0F56B53D6451}" presName="descendantText" presStyleLbl="alignAcc1" presStyleIdx="2" presStyleCnt="3">
        <dgm:presLayoutVars>
          <dgm:bulletEnabled val="1"/>
        </dgm:presLayoutVars>
      </dgm:prSet>
      <dgm:spPr/>
    </dgm:pt>
  </dgm:ptLst>
  <dgm:cxnLst>
    <dgm:cxn modelId="{5399E302-C910-4E2E-B359-75E27D0D4404}" srcId="{1CEA3DC8-9386-4DAA-9E79-0F56B53D6451}" destId="{F2E8741E-9D08-4FA8-AD3B-89FA7EB3AB9C}" srcOrd="2" destOrd="0" parTransId="{BF5BEA3F-3D54-44F2-9B7F-442C7B6C67AE}" sibTransId="{C9A31794-F119-471A-9B5B-6CFFAEC0FEF1}"/>
    <dgm:cxn modelId="{60DEE902-7838-44D5-A3F2-CA4BB8C6CC6A}" srcId="{A88246E1-4ACD-4296-BED3-C3B7CE3E8A42}" destId="{BB8F722F-139A-4595-91E4-37BB28BDFEA4}" srcOrd="1" destOrd="0" parTransId="{8D787CEB-2423-4F91-8F3F-2DF680BC5970}" sibTransId="{90869D37-FDDD-4147-9715-0D6CAF5CF567}"/>
    <dgm:cxn modelId="{1EC79B03-4691-4A9E-9D1B-D587A10D0600}" type="presOf" srcId="{CAF58F12-E86D-432D-87C4-9DCFAF5FF192}" destId="{3BB80537-0189-41C4-A43C-6C99D7F3FEBB}" srcOrd="0" destOrd="0" presId="urn:microsoft.com/office/officeart/2005/8/layout/chevron2"/>
    <dgm:cxn modelId="{83FAA403-1311-4186-9676-5374A256F0EC}" type="presOf" srcId="{7B760D2F-3FFB-4F7E-9F1C-C3AEA452E899}" destId="{A33F39E8-923E-4CF7-800E-FC0370CA8795}" srcOrd="0" destOrd="0" presId="urn:microsoft.com/office/officeart/2005/8/layout/chevron2"/>
    <dgm:cxn modelId="{024ACF19-8C7B-4DCE-98B6-93E31BE12892}" type="presOf" srcId="{1CEA3DC8-9386-4DAA-9E79-0F56B53D6451}" destId="{12599A4D-E8A6-40E9-8BB5-CE6F537443B1}" srcOrd="0" destOrd="0" presId="urn:microsoft.com/office/officeart/2005/8/layout/chevron2"/>
    <dgm:cxn modelId="{B81EC620-C486-492A-944C-8FC77E11F78F}" srcId="{34A1AFA6-3243-4998-AA10-2E30E8220BDA}" destId="{CAF58F12-E86D-432D-87C4-9DCFAF5FF192}" srcOrd="0" destOrd="0" parTransId="{435EFFEE-4970-4968-BD96-A0F4CEE5F7A2}" sibTransId="{3384073D-EBF3-41F3-8E65-15159C98C0AF}"/>
    <dgm:cxn modelId="{EA605429-3184-410E-9CE5-528389ADB8E0}" srcId="{CAF58F12-E86D-432D-87C4-9DCFAF5FF192}" destId="{2636ACA0-9813-4BA8-B2AB-F8910B7E408F}" srcOrd="1" destOrd="0" parTransId="{F3F1D190-8FF0-477D-BF34-0D7BF3659329}" sibTransId="{886A2241-375D-441E-8C11-931FA67688DA}"/>
    <dgm:cxn modelId="{A4A09A37-F1F6-4FD7-8783-685ED5C0C8BB}" type="presOf" srcId="{2636ACA0-9813-4BA8-B2AB-F8910B7E408F}" destId="{A33F39E8-923E-4CF7-800E-FC0370CA8795}" srcOrd="0" destOrd="1" presId="urn:microsoft.com/office/officeart/2005/8/layout/chevron2"/>
    <dgm:cxn modelId="{9EEE6664-1E6C-42FD-A38B-6097F6FBBB1E}" srcId="{1CEA3DC8-9386-4DAA-9E79-0F56B53D6451}" destId="{A2265A82-539F-4F2E-A197-1EFE335CCC21}" srcOrd="3" destOrd="0" parTransId="{2A3685BD-0CD5-4811-AE4D-4B8FAF7C1BF1}" sibTransId="{B7272574-4313-47A9-8CA5-0C5629F1E8A1}"/>
    <dgm:cxn modelId="{683E8846-4778-489C-89AD-A76D984F62CE}" type="presOf" srcId="{BE4792FE-85AB-40BA-A192-135173D4F9EC}" destId="{E1D6D5E5-A364-41AE-96BB-987670A3197E}" srcOrd="0" destOrd="0" presId="urn:microsoft.com/office/officeart/2005/8/layout/chevron2"/>
    <dgm:cxn modelId="{982EDA4C-A26E-4F0C-A3DE-721E43745E95}" type="presOf" srcId="{34A1AFA6-3243-4998-AA10-2E30E8220BDA}" destId="{690EC26B-86A8-42BD-8D07-DCA138A58F4F}" srcOrd="0" destOrd="0" presId="urn:microsoft.com/office/officeart/2005/8/layout/chevron2"/>
    <dgm:cxn modelId="{28DA7A4D-F71C-4661-A03C-67EC70F7053B}" type="presOf" srcId="{10B77617-0507-403D-A793-56C404BC1998}" destId="{96E2DAB4-1111-4BA8-9F3C-DBAED6A0DB2F}" srcOrd="0" destOrd="0" presId="urn:microsoft.com/office/officeart/2005/8/layout/chevron2"/>
    <dgm:cxn modelId="{2629E06D-27CC-4A67-8993-9F3BCB6E7781}" type="presOf" srcId="{1F0C3BAF-0919-443E-B524-BDE456D3A6AE}" destId="{96E2DAB4-1111-4BA8-9F3C-DBAED6A0DB2F}" srcOrd="0" destOrd="2" presId="urn:microsoft.com/office/officeart/2005/8/layout/chevron2"/>
    <dgm:cxn modelId="{EC640C59-C738-4A67-8FC4-3A05E26B6A99}" srcId="{1CEA3DC8-9386-4DAA-9E79-0F56B53D6451}" destId="{3FEFE614-2046-447B-95A5-6C21AED90EAF}" srcOrd="1" destOrd="0" parTransId="{56982C23-5C6E-4B94-BA6C-818BCFD1AAC6}" sibTransId="{87BAED13-21E8-4E72-B5E6-ED20E3BD7929}"/>
    <dgm:cxn modelId="{4F6FD983-EEF9-48F5-ADB5-5C5B87681577}" srcId="{34A1AFA6-3243-4998-AA10-2E30E8220BDA}" destId="{1CEA3DC8-9386-4DAA-9E79-0F56B53D6451}" srcOrd="2" destOrd="0" parTransId="{EFE65190-A687-49D8-BF73-AD16747DC8D9}" sibTransId="{E12D2B1E-FA92-44CA-9FC4-E154FD4C0662}"/>
    <dgm:cxn modelId="{65AE9F89-C5A1-4A9F-AC40-BFED912961C0}" srcId="{34A1AFA6-3243-4998-AA10-2E30E8220BDA}" destId="{A88246E1-4ACD-4296-BED3-C3B7CE3E8A42}" srcOrd="1" destOrd="0" parTransId="{747ADF01-CA87-49C4-9946-805492E48FC1}" sibTransId="{C761E370-1D30-4706-B371-9F8ECCC95EBA}"/>
    <dgm:cxn modelId="{EE724E91-1075-4B0E-A2DB-DEEC6D97EFE8}" srcId="{CAF58F12-E86D-432D-87C4-9DCFAF5FF192}" destId="{7B760D2F-3FFB-4F7E-9F1C-C3AEA452E899}" srcOrd="0" destOrd="0" parTransId="{5274A9CE-C626-4F50-8D26-6CDF3867B3B2}" sibTransId="{AEEF1286-E216-4549-97BE-6888C2BEAF54}"/>
    <dgm:cxn modelId="{261F56A6-E16F-4DC0-9447-1031D17C9AFB}" srcId="{A88246E1-4ACD-4296-BED3-C3B7CE3E8A42}" destId="{24D739B9-E119-49BF-BD1D-EE21B5BF55AE}" srcOrd="3" destOrd="0" parTransId="{692DF0FF-A19F-4746-BA2F-EB78E11F4B2D}" sibTransId="{4525A3F7-4765-4872-BB9E-FE4577BAEFD6}"/>
    <dgm:cxn modelId="{ADB50BAC-1242-4EBC-9CD4-B652286A274B}" type="presOf" srcId="{BB8F722F-139A-4595-91E4-37BB28BDFEA4}" destId="{96E2DAB4-1111-4BA8-9F3C-DBAED6A0DB2F}" srcOrd="0" destOrd="1" presId="urn:microsoft.com/office/officeart/2005/8/layout/chevron2"/>
    <dgm:cxn modelId="{C4AF0FC7-AFA1-43DB-B6EE-52AE85BBC12E}" type="presOf" srcId="{A2265A82-539F-4F2E-A197-1EFE335CCC21}" destId="{E1D6D5E5-A364-41AE-96BB-987670A3197E}" srcOrd="0" destOrd="3" presId="urn:microsoft.com/office/officeart/2005/8/layout/chevron2"/>
    <dgm:cxn modelId="{39E86FCC-9459-4871-AA7D-E76D5342B163}" type="presOf" srcId="{3FEFE614-2046-447B-95A5-6C21AED90EAF}" destId="{E1D6D5E5-A364-41AE-96BB-987670A3197E}" srcOrd="0" destOrd="1" presId="urn:microsoft.com/office/officeart/2005/8/layout/chevron2"/>
    <dgm:cxn modelId="{953947D4-F3DF-4592-A9CD-EF00577E972B}" srcId="{A88246E1-4ACD-4296-BED3-C3B7CE3E8A42}" destId="{1F0C3BAF-0919-443E-B524-BDE456D3A6AE}" srcOrd="2" destOrd="0" parTransId="{5E7591E3-DB38-4F84-B6FE-DD43FBEBE8D3}" sibTransId="{5FF811EA-A8CD-4CAE-A32F-6453269411EB}"/>
    <dgm:cxn modelId="{7F54F8D4-2EA7-4BA3-A757-6F8AC486D438}" srcId="{A88246E1-4ACD-4296-BED3-C3B7CE3E8A42}" destId="{10B77617-0507-403D-A793-56C404BC1998}" srcOrd="0" destOrd="0" parTransId="{D21D9E0F-4255-4747-9A99-10D8D888EE9B}" sibTransId="{788E5603-37CE-4657-8DE5-698F886203C3}"/>
    <dgm:cxn modelId="{A56299ED-708E-455D-9122-E138503B09DB}" type="presOf" srcId="{F2E8741E-9D08-4FA8-AD3B-89FA7EB3AB9C}" destId="{E1D6D5E5-A364-41AE-96BB-987670A3197E}" srcOrd="0" destOrd="2" presId="urn:microsoft.com/office/officeart/2005/8/layout/chevron2"/>
    <dgm:cxn modelId="{E447C0F2-F064-48FF-B8B5-6D4DE08F680D}" type="presOf" srcId="{A88246E1-4ACD-4296-BED3-C3B7CE3E8A42}" destId="{6F5D80AF-0C5A-4299-BE12-BE3BBC66CB41}" srcOrd="0" destOrd="0" presId="urn:microsoft.com/office/officeart/2005/8/layout/chevron2"/>
    <dgm:cxn modelId="{82ECD6F4-762D-4D28-B8D3-1E161792672A}" type="presOf" srcId="{24D739B9-E119-49BF-BD1D-EE21B5BF55AE}" destId="{96E2DAB4-1111-4BA8-9F3C-DBAED6A0DB2F}" srcOrd="0" destOrd="3" presId="urn:microsoft.com/office/officeart/2005/8/layout/chevron2"/>
    <dgm:cxn modelId="{5107ADFF-011D-469B-BAF2-218C4CCF4EA2}" srcId="{1CEA3DC8-9386-4DAA-9E79-0F56B53D6451}" destId="{BE4792FE-85AB-40BA-A192-135173D4F9EC}" srcOrd="0" destOrd="0" parTransId="{72D37FA5-3614-41D0-A80D-0DAD80771A53}" sibTransId="{FA5191C5-0FE1-487B-82DF-592E9B0BCE58}"/>
    <dgm:cxn modelId="{5C62D1E4-E80C-447D-8821-8364CE346BB7}" type="presParOf" srcId="{690EC26B-86A8-42BD-8D07-DCA138A58F4F}" destId="{D7384FAD-D25E-4228-87C9-D3B57D86A4F7}" srcOrd="0" destOrd="0" presId="urn:microsoft.com/office/officeart/2005/8/layout/chevron2"/>
    <dgm:cxn modelId="{F3EF8A2C-8A71-4F09-B80B-6EA8678C7D89}" type="presParOf" srcId="{D7384FAD-D25E-4228-87C9-D3B57D86A4F7}" destId="{3BB80537-0189-41C4-A43C-6C99D7F3FEBB}" srcOrd="0" destOrd="0" presId="urn:microsoft.com/office/officeart/2005/8/layout/chevron2"/>
    <dgm:cxn modelId="{722C4E14-C8B3-47FA-A8DD-D2E237931919}" type="presParOf" srcId="{D7384FAD-D25E-4228-87C9-D3B57D86A4F7}" destId="{A33F39E8-923E-4CF7-800E-FC0370CA8795}" srcOrd="1" destOrd="0" presId="urn:microsoft.com/office/officeart/2005/8/layout/chevron2"/>
    <dgm:cxn modelId="{8951A616-1C96-4559-BC5F-8E49074F042F}" type="presParOf" srcId="{690EC26B-86A8-42BD-8D07-DCA138A58F4F}" destId="{A2436A18-F910-4173-9A40-27A8698BD2FC}" srcOrd="1" destOrd="0" presId="urn:microsoft.com/office/officeart/2005/8/layout/chevron2"/>
    <dgm:cxn modelId="{5890FE43-0A29-4A0A-B27F-EE3700CE110B}" type="presParOf" srcId="{690EC26B-86A8-42BD-8D07-DCA138A58F4F}" destId="{5EB4090D-DE88-4037-984D-EBB060D6245C}" srcOrd="2" destOrd="0" presId="urn:microsoft.com/office/officeart/2005/8/layout/chevron2"/>
    <dgm:cxn modelId="{47C21A1E-16C6-4AE6-BB45-A715B8276B3A}" type="presParOf" srcId="{5EB4090D-DE88-4037-984D-EBB060D6245C}" destId="{6F5D80AF-0C5A-4299-BE12-BE3BBC66CB41}" srcOrd="0" destOrd="0" presId="urn:microsoft.com/office/officeart/2005/8/layout/chevron2"/>
    <dgm:cxn modelId="{380E7C21-65D2-410B-A84A-26B28AE87B00}" type="presParOf" srcId="{5EB4090D-DE88-4037-984D-EBB060D6245C}" destId="{96E2DAB4-1111-4BA8-9F3C-DBAED6A0DB2F}" srcOrd="1" destOrd="0" presId="urn:microsoft.com/office/officeart/2005/8/layout/chevron2"/>
    <dgm:cxn modelId="{CA69A21F-FBEB-46F1-84D6-B941832BF61D}" type="presParOf" srcId="{690EC26B-86A8-42BD-8D07-DCA138A58F4F}" destId="{F9CF9247-DF96-42F7-821B-DD4F0F81D575}" srcOrd="3" destOrd="0" presId="urn:microsoft.com/office/officeart/2005/8/layout/chevron2"/>
    <dgm:cxn modelId="{F13A3BCF-B8B0-4111-B54F-29B99D8D301E}" type="presParOf" srcId="{690EC26B-86A8-42BD-8D07-DCA138A58F4F}" destId="{07196103-A4B9-4373-9A1C-787E1D0611F2}" srcOrd="4" destOrd="0" presId="urn:microsoft.com/office/officeart/2005/8/layout/chevron2"/>
    <dgm:cxn modelId="{C448E78C-3053-4229-A189-57BAA2AC45D7}" type="presParOf" srcId="{07196103-A4B9-4373-9A1C-787E1D0611F2}" destId="{12599A4D-E8A6-40E9-8BB5-CE6F537443B1}" srcOrd="0" destOrd="0" presId="urn:microsoft.com/office/officeart/2005/8/layout/chevron2"/>
    <dgm:cxn modelId="{9D1C406B-52B9-4E2B-B399-39B42134A893}" type="presParOf" srcId="{07196103-A4B9-4373-9A1C-787E1D0611F2}" destId="{E1D6D5E5-A364-41AE-96BB-987670A3197E}"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組合 1"/>
      <dsp:cNvGrpSpPr/>
    </dsp:nvGrpSpPr>
    <dsp:grpSpPr>
      <a:xfrm>
        <a:off x="0" y="0"/>
        <a:ext cx="8128000" cy="5418667"/>
        <a:chOff x="0" y="0"/>
        <a:chExt cx="8128000" cy="5418667"/>
      </a:xfrm>
    </dsp:grpSpPr>
    <dsp:sp modelId="{3BB80537-0189-41C4-A43C-6C99D7F3FEBB}">
      <dsp:nvSpPr>
        <dsp:cNvPr id="3" name="燕尾形 2"/>
        <dsp:cNvSpPr/>
      </dsp:nvSpPr>
      <dsp:spPr bwMode="white">
        <a:xfrm rot="5400000">
          <a:off x="-254464" y="316734"/>
          <a:ext cx="1933661" cy="1353563"/>
        </a:xfrm>
        <a:prstGeom prst="chevron">
          <a:avLst/>
        </a:prstGeom>
        <a:solidFill>
          <a:srgbClr val="92D050"/>
        </a:solidFill>
      </dsp:spPr>
      <dsp:style>
        <a:lnRef idx="2">
          <a:schemeClr val="accent1"/>
        </a:lnRef>
        <a:fillRef idx="1">
          <a:schemeClr val="accent1"/>
        </a:fillRef>
        <a:effectRef idx="0">
          <a:scrgbClr r="0" g="0" b="0"/>
        </a:effectRef>
        <a:fontRef idx="minor">
          <a:schemeClr val="lt1"/>
        </a:fontRef>
      </dsp:style>
      <dsp:txBody>
        <a:bodyPr rot="-5400000"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a:t>完善平台信息</a:t>
          </a:r>
        </a:p>
      </dsp:txBody>
      <dsp:txXfrm rot="5400000">
        <a:off x="-254464" y="316734"/>
        <a:ext cx="1933661" cy="1353563"/>
      </dsp:txXfrm>
    </dsp:sp>
    <dsp:sp modelId="{A33F39E8-923E-4CF7-800E-FC0370CA8795}">
      <dsp:nvSpPr>
        <dsp:cNvPr id="4" name="同側圓角矩形 3"/>
        <dsp:cNvSpPr/>
      </dsp:nvSpPr>
      <dsp:spPr bwMode="white">
        <a:xfrm rot="5400000">
          <a:off x="4112342" y="-2758779"/>
          <a:ext cx="1256880" cy="6774437"/>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b="0" dirty="0">
              <a:solidFill>
                <a:schemeClr val="dk1"/>
              </a:solidFill>
            </a:rPr>
            <a:t>项目介绍</a:t>
          </a:r>
          <a:r>
            <a:rPr lang="en-US" altLang="en-US" sz="1400" b="0" dirty="0">
              <a:solidFill>
                <a:schemeClr val="dk1"/>
              </a:solidFill>
            </a:rPr>
            <a:t>/</a:t>
          </a:r>
          <a:r>
            <a:rPr lang="zh-CN" altLang="en-US" sz="1400" b="0" dirty="0">
              <a:solidFill>
                <a:schemeClr val="dk1"/>
              </a:solidFill>
            </a:rPr>
            <a:t>联盟条款</a:t>
          </a:r>
          <a:r>
            <a:rPr lang="en-US" altLang="en-US" sz="1400" b="0" dirty="0">
              <a:solidFill>
                <a:schemeClr val="dk1"/>
              </a:solidFill>
            </a:rPr>
            <a:t>/PPC Policy/</a:t>
          </a:r>
          <a:r>
            <a:rPr lang="zh-CN" altLang="en-US" sz="1400" b="0" dirty="0">
              <a:solidFill>
                <a:schemeClr val="dk1"/>
              </a:solidFill>
            </a:rPr>
            <a:t>佣金</a:t>
          </a:r>
          <a:endParaRPr lang="zh-CN" altLang="en-US" sz="1400" b="0" dirty="0">
            <a:solidFill>
              <a:schemeClr val="dk1"/>
            </a:solidFill>
          </a:endParaRPr>
        </a:p>
        <a:p>
          <a:pPr marL="114300" lvl="1" indent="-114300">
            <a:lnSpc>
              <a:spcPct val="100000"/>
            </a:lnSpc>
            <a:spcBef>
              <a:spcPct val="0"/>
            </a:spcBef>
            <a:spcAft>
              <a:spcPct val="15000"/>
            </a:spcAft>
            <a:buChar char="•"/>
          </a:pPr>
          <a:r>
            <a:rPr lang="zh-CN" altLang="en-US" sz="1400" b="0" dirty="0">
              <a:solidFill>
                <a:schemeClr val="dk1"/>
              </a:solidFill>
            </a:rPr>
            <a:t>上传素材</a:t>
          </a:r>
          <a:r>
            <a:rPr lang="en-US" altLang="en-US" sz="1400" b="0" dirty="0">
              <a:solidFill>
                <a:schemeClr val="dk1"/>
              </a:solidFill>
            </a:rPr>
            <a:t>Banner/code/text links/</a:t>
          </a:r>
          <a:r>
            <a:rPr lang="en-US" altLang="en-US" sz="1400" b="0" dirty="0" err="1">
              <a:solidFill>
                <a:schemeClr val="dk1"/>
              </a:solidFill>
            </a:rPr>
            <a:t>datafeed</a:t>
          </a:r>
          <a:r>
            <a:rPr lang="zh-CN" altLang="en-US" sz="1400" b="0" dirty="0">
              <a:solidFill>
                <a:schemeClr val="dk1"/>
              </a:solidFill>
            </a:rPr>
            <a:t>等</a:t>
          </a:r>
          <a:endParaRPr>
            <a:solidFill>
              <a:schemeClr val="dk1"/>
            </a:solidFill>
          </a:endParaRPr>
        </a:p>
      </dsp:txBody>
      <dsp:txXfrm rot="5400000">
        <a:off x="4112342" y="-2758779"/>
        <a:ext cx="1256880" cy="6774437"/>
      </dsp:txXfrm>
    </dsp:sp>
    <dsp:sp modelId="{6F5D80AF-0C5A-4299-BE12-BE3BBC66CB41}">
      <dsp:nvSpPr>
        <dsp:cNvPr id="5" name="燕尾形 4"/>
        <dsp:cNvSpPr/>
      </dsp:nvSpPr>
      <dsp:spPr bwMode="white">
        <a:xfrm rot="5400000">
          <a:off x="-290049" y="2032552"/>
          <a:ext cx="1933661" cy="1353563"/>
        </a:xfrm>
        <a:prstGeom prst="chevron">
          <a:avLst/>
        </a:prstGeom>
        <a:solidFill>
          <a:srgbClr val="00B0F0"/>
        </a:solidFill>
      </dsp:spPr>
      <dsp:style>
        <a:lnRef idx="2">
          <a:schemeClr val="accent1"/>
        </a:lnRef>
        <a:fillRef idx="1">
          <a:schemeClr val="accent1"/>
        </a:fillRef>
        <a:effectRef idx="0">
          <a:scrgbClr r="0" g="0" b="0"/>
        </a:effectRef>
        <a:fontRef idx="minor">
          <a:schemeClr val="lt1"/>
        </a:fontRef>
      </dsp:style>
      <dsp:txBody>
        <a:bodyPr rot="-5400000"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a:t>邀约</a:t>
          </a:r>
          <a:r>
            <a:rPr lang="en-US" altLang="zh-CN" dirty="0"/>
            <a:t>/</a:t>
          </a:r>
          <a:r>
            <a:rPr lang="zh-CN" altLang="en-US" dirty="0"/>
            <a:t>激活联盟客</a:t>
          </a:r>
        </a:p>
      </dsp:txBody>
      <dsp:txXfrm rot="5400000">
        <a:off x="-290049" y="2032552"/>
        <a:ext cx="1933661" cy="1353563"/>
      </dsp:txXfrm>
    </dsp:sp>
    <dsp:sp modelId="{96E2DAB4-1111-4BA8-9F3C-DBAED6A0DB2F}">
      <dsp:nvSpPr>
        <dsp:cNvPr id="6" name="同側圓角矩形 5"/>
        <dsp:cNvSpPr/>
      </dsp:nvSpPr>
      <dsp:spPr bwMode="white">
        <a:xfrm rot="5400000">
          <a:off x="4112342" y="-1016276"/>
          <a:ext cx="1256880" cy="6774437"/>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a:solidFill>
                <a:schemeClr val="dk1"/>
              </a:solidFill>
            </a:rPr>
            <a:t>借助平台内跟平台外招募</a:t>
          </a:r>
          <a:endParaRPr lang="zh-CN" altLang="en-US" sz="1400" dirty="0">
            <a:solidFill>
              <a:schemeClr val="dk1"/>
            </a:solidFill>
          </a:endParaRPr>
        </a:p>
        <a:p>
          <a:pPr marL="114300" lvl="1" indent="-114300">
            <a:lnSpc>
              <a:spcPct val="100000"/>
            </a:lnSpc>
            <a:spcBef>
              <a:spcPct val="0"/>
            </a:spcBef>
            <a:spcAft>
              <a:spcPct val="15000"/>
            </a:spcAft>
            <a:buChar char="•"/>
          </a:pPr>
          <a:r>
            <a:rPr lang="zh-CN" altLang="en-US" sz="1400" dirty="0">
              <a:solidFill>
                <a:schemeClr val="dk1"/>
              </a:solidFill>
            </a:rPr>
            <a:t>甄别筛选联盟客</a:t>
          </a:r>
          <a:r>
            <a:rPr lang="en-US" altLang="en-US" sz="1400" dirty="0">
              <a:solidFill>
                <a:schemeClr val="dk1"/>
              </a:solidFill>
            </a:rPr>
            <a:t>,</a:t>
          </a:r>
          <a:r>
            <a:rPr lang="zh-CN" altLang="en-US" sz="1400" dirty="0">
              <a:solidFill>
                <a:schemeClr val="dk1"/>
              </a:solidFill>
            </a:rPr>
            <a:t>并对联盟客进行分类分组</a:t>
          </a:r>
          <a:endParaRPr lang="zh-CN" altLang="en-US" sz="1400" dirty="0">
            <a:solidFill>
              <a:schemeClr val="dk1"/>
            </a:solidFill>
          </a:endParaRPr>
        </a:p>
        <a:p>
          <a:pPr marL="114300" lvl="1" indent="-114300">
            <a:lnSpc>
              <a:spcPct val="100000"/>
            </a:lnSpc>
            <a:spcBef>
              <a:spcPct val="0"/>
            </a:spcBef>
            <a:spcAft>
              <a:spcPct val="15000"/>
            </a:spcAft>
            <a:buChar char="•"/>
          </a:pPr>
          <a:r>
            <a:rPr lang="zh-CN" altLang="en-US" sz="1400" dirty="0">
              <a:solidFill>
                <a:schemeClr val="dk1"/>
              </a:solidFill>
            </a:rPr>
            <a:t>多样化执行激励措施</a:t>
          </a:r>
          <a:r>
            <a:rPr lang="en-US" altLang="en-US" sz="1400" dirty="0">
              <a:solidFill>
                <a:schemeClr val="dk1"/>
              </a:solidFill>
            </a:rPr>
            <a:t>,</a:t>
          </a:r>
          <a:r>
            <a:rPr lang="zh-CN" altLang="en-US" sz="1400" dirty="0">
              <a:solidFill>
                <a:schemeClr val="dk1"/>
              </a:solidFill>
            </a:rPr>
            <a:t>鼓励内容</a:t>
          </a:r>
          <a:r>
            <a:rPr lang="en-US" altLang="en-US" sz="1400" dirty="0">
              <a:solidFill>
                <a:schemeClr val="dk1"/>
              </a:solidFill>
            </a:rPr>
            <a:t>/</a:t>
          </a:r>
          <a:r>
            <a:rPr lang="zh-CN" altLang="en-US" sz="1400" dirty="0">
              <a:solidFill>
                <a:schemeClr val="dk1"/>
              </a:solidFill>
            </a:rPr>
            <a:t>直播等联盟客</a:t>
          </a:r>
          <a:endParaRPr lang="zh-CN" altLang="en-US" sz="1400" dirty="0">
            <a:solidFill>
              <a:schemeClr val="dk1"/>
            </a:solidFill>
          </a:endParaRPr>
        </a:p>
        <a:p>
          <a:pPr marL="114300" lvl="1" indent="-114300">
            <a:lnSpc>
              <a:spcPct val="100000"/>
            </a:lnSpc>
            <a:spcBef>
              <a:spcPct val="0"/>
            </a:spcBef>
            <a:spcAft>
              <a:spcPct val="15000"/>
            </a:spcAft>
            <a:buChar char="•"/>
          </a:pPr>
          <a:r>
            <a:rPr lang="zh-CN" altLang="en-US" sz="1400" dirty="0">
              <a:solidFill>
                <a:schemeClr val="dk1"/>
              </a:solidFill>
            </a:rPr>
            <a:t>加强储备核心联盟成员以及专属设置</a:t>
          </a:r>
          <a:endParaRPr>
            <a:solidFill>
              <a:schemeClr val="dk1"/>
            </a:solidFill>
          </a:endParaRPr>
        </a:p>
      </dsp:txBody>
      <dsp:txXfrm rot="5400000">
        <a:off x="4112342" y="-1016276"/>
        <a:ext cx="1256880" cy="6774437"/>
      </dsp:txXfrm>
    </dsp:sp>
    <dsp:sp modelId="{12599A4D-E8A6-40E9-8BB5-CE6F537443B1}">
      <dsp:nvSpPr>
        <dsp:cNvPr id="7" name="燕尾形 6"/>
        <dsp:cNvSpPr/>
      </dsp:nvSpPr>
      <dsp:spPr bwMode="white">
        <a:xfrm rot="5400000">
          <a:off x="-290049" y="3775055"/>
          <a:ext cx="1933661" cy="1353563"/>
        </a:xfrm>
        <a:prstGeom prst="chevron">
          <a:avLst/>
        </a:prstGeom>
        <a:solidFill>
          <a:srgbClr val="C7450B"/>
        </a:solidFill>
      </dsp:spPr>
      <dsp:style>
        <a:lnRef idx="2">
          <a:schemeClr val="accent1"/>
        </a:lnRef>
        <a:fillRef idx="1">
          <a:schemeClr val="accent1"/>
        </a:fillRef>
        <a:effectRef idx="0">
          <a:scrgbClr r="0" g="0" b="0"/>
        </a:effectRef>
        <a:fontRef idx="minor">
          <a:schemeClr val="lt1"/>
        </a:fontRef>
      </dsp:style>
      <dsp:txBody>
        <a:bodyPr rot="-5400000"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dirty="0"/>
            <a:t>运营监测与警示</a:t>
          </a:r>
        </a:p>
      </dsp:txBody>
      <dsp:txXfrm rot="5400000">
        <a:off x="-290049" y="3775055"/>
        <a:ext cx="1933661" cy="1353563"/>
      </dsp:txXfrm>
    </dsp:sp>
    <dsp:sp modelId="{E1D6D5E5-A364-41AE-96BB-987670A3197E}">
      <dsp:nvSpPr>
        <dsp:cNvPr id="8" name="同側圓角矩形 7"/>
        <dsp:cNvSpPr/>
      </dsp:nvSpPr>
      <dsp:spPr bwMode="white">
        <a:xfrm rot="5400000">
          <a:off x="4112342" y="726227"/>
          <a:ext cx="1256880" cy="6774437"/>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a:solidFill>
                <a:schemeClr val="dk1"/>
              </a:solidFill>
            </a:rPr>
            <a:t>销售数据（销售额</a:t>
          </a:r>
          <a:r>
            <a:rPr lang="en-US" altLang="en-US" sz="1400" dirty="0">
              <a:solidFill>
                <a:schemeClr val="dk1"/>
              </a:solidFill>
            </a:rPr>
            <a:t>,</a:t>
          </a:r>
          <a:r>
            <a:rPr lang="zh-CN" altLang="en-US" sz="1400" dirty="0">
              <a:solidFill>
                <a:schemeClr val="dk1"/>
              </a:solidFill>
            </a:rPr>
            <a:t>点击率</a:t>
          </a:r>
          <a:r>
            <a:rPr lang="en-US" altLang="en-US" sz="1400" dirty="0">
              <a:solidFill>
                <a:schemeClr val="dk1"/>
              </a:solidFill>
            </a:rPr>
            <a:t>,</a:t>
          </a:r>
          <a:r>
            <a:rPr lang="zh-CN" altLang="en-US" sz="1400" dirty="0">
              <a:solidFill>
                <a:schemeClr val="dk1"/>
              </a:solidFill>
            </a:rPr>
            <a:t>点击</a:t>
          </a:r>
          <a:r>
            <a:rPr lang="en-US" altLang="en-US" sz="1400" dirty="0">
              <a:solidFill>
                <a:schemeClr val="dk1"/>
              </a:solidFill>
            </a:rPr>
            <a:t>,</a:t>
          </a:r>
          <a:r>
            <a:rPr lang="zh-CN" altLang="en-US" sz="1400" dirty="0">
              <a:solidFill>
                <a:schemeClr val="dk1"/>
              </a:solidFill>
            </a:rPr>
            <a:t>转化率）</a:t>
          </a:r>
          <a:endParaRPr lang="zh-CN" altLang="en-US" sz="1400" dirty="0">
            <a:solidFill>
              <a:schemeClr val="dk1"/>
            </a:solidFill>
          </a:endParaRPr>
        </a:p>
        <a:p>
          <a:pPr marL="114300" lvl="1" indent="-114300">
            <a:lnSpc>
              <a:spcPct val="100000"/>
            </a:lnSpc>
            <a:spcBef>
              <a:spcPct val="0"/>
            </a:spcBef>
            <a:spcAft>
              <a:spcPct val="15000"/>
            </a:spcAft>
            <a:buChar char="•"/>
          </a:pPr>
          <a:r>
            <a:rPr lang="zh-CN" altLang="en-US" sz="1400" dirty="0">
              <a:solidFill>
                <a:schemeClr val="dk1"/>
              </a:solidFill>
            </a:rPr>
            <a:t>素材使用评测</a:t>
          </a:r>
          <a:endParaRPr lang="zh-CN" altLang="en-US" sz="1400" dirty="0">
            <a:solidFill>
              <a:schemeClr val="dk1"/>
            </a:solidFill>
          </a:endParaRPr>
        </a:p>
        <a:p>
          <a:pPr marL="114300" lvl="1" indent="-114300">
            <a:lnSpc>
              <a:spcPct val="100000"/>
            </a:lnSpc>
            <a:spcBef>
              <a:spcPct val="0"/>
            </a:spcBef>
            <a:spcAft>
              <a:spcPct val="15000"/>
            </a:spcAft>
            <a:buChar char="•"/>
          </a:pPr>
          <a:r>
            <a:rPr lang="en-US" altLang="en-US" sz="1400" dirty="0">
              <a:solidFill>
                <a:schemeClr val="dk1"/>
              </a:solidFill>
            </a:rPr>
            <a:t>AFF</a:t>
          </a:r>
          <a:r>
            <a:rPr lang="zh-CN" altLang="en-US" sz="1400" dirty="0">
              <a:solidFill>
                <a:schemeClr val="dk1"/>
              </a:solidFill>
            </a:rPr>
            <a:t>关键动作（登录次数</a:t>
          </a:r>
          <a:r>
            <a:rPr lang="en-US" altLang="en-US" sz="1400" dirty="0">
              <a:solidFill>
                <a:schemeClr val="dk1"/>
              </a:solidFill>
            </a:rPr>
            <a:t>,</a:t>
          </a:r>
          <a:r>
            <a:rPr lang="zh-CN" altLang="en-US" sz="1400" dirty="0">
              <a:solidFill>
                <a:schemeClr val="dk1"/>
              </a:solidFill>
            </a:rPr>
            <a:t>登录时间）</a:t>
          </a:r>
          <a:endParaRPr lang="zh-CN" altLang="en-US" sz="1400" dirty="0">
            <a:solidFill>
              <a:schemeClr val="dk1"/>
            </a:solidFill>
          </a:endParaRPr>
        </a:p>
        <a:p>
          <a:pPr marL="114300" lvl="1" indent="-114300">
            <a:lnSpc>
              <a:spcPct val="100000"/>
            </a:lnSpc>
            <a:spcBef>
              <a:spcPct val="0"/>
            </a:spcBef>
            <a:spcAft>
              <a:spcPct val="15000"/>
            </a:spcAft>
            <a:buChar char="•"/>
          </a:pPr>
          <a:r>
            <a:rPr lang="zh-CN" altLang="en-US" sz="1400" dirty="0">
              <a:solidFill>
                <a:schemeClr val="dk1"/>
              </a:solidFill>
            </a:rPr>
            <a:t>风控</a:t>
          </a:r>
          <a:r>
            <a:rPr lang="en-US" altLang="en-US" sz="1400" dirty="0">
              <a:solidFill>
                <a:schemeClr val="dk1"/>
              </a:solidFill>
            </a:rPr>
            <a:t>:</a:t>
          </a:r>
          <a:r>
            <a:rPr lang="zh-CN" altLang="en-US" sz="1400" dirty="0">
              <a:solidFill>
                <a:schemeClr val="dk1"/>
              </a:solidFill>
            </a:rPr>
            <a:t>重复订单</a:t>
          </a:r>
          <a:r>
            <a:rPr lang="en-US" altLang="en-US" sz="1400" dirty="0">
              <a:solidFill>
                <a:schemeClr val="dk1"/>
              </a:solidFill>
            </a:rPr>
            <a:t>/</a:t>
          </a:r>
          <a:r>
            <a:rPr lang="zh-CN" altLang="en-US" sz="1400" dirty="0">
              <a:solidFill>
                <a:schemeClr val="dk1"/>
              </a:solidFill>
            </a:rPr>
            <a:t>欺诈交易订单</a:t>
          </a:r>
          <a:endParaRPr>
            <a:solidFill>
              <a:schemeClr val="dk1"/>
            </a:solidFill>
          </a:endParaRPr>
        </a:p>
      </dsp:txBody>
      <dsp:txXfrm rot="5400000">
        <a:off x="4112342" y="726227"/>
        <a:ext cx="1256880" cy="677443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燈片圖像佔位符 1"/>
          <p:cNvSpPr>
            <a:spLocks noGrp="1"/>
          </p:cNvSpPr>
          <p:nvPr>
            <p:ph type="sldImg" idx="2"/>
          </p:nvPr>
        </p:nvSpPr>
        <p:spPr/>
      </p:sp>
      <p:sp>
        <p:nvSpPr>
          <p:cNvPr id="3" name="文字佔位符 2"/>
          <p:cNvSpPr>
            <a:spLocks noGrp="1"/>
          </p:cNvSpPr>
          <p:nvPr>
            <p:ph type="body" idx="3"/>
          </p:nvPr>
        </p:nvSpPr>
        <p:spPr/>
        <p:txBody>
          <a:bodyPr/>
          <a:p>
            <a:endParaRPr lang="zh-HK"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11113" y="-1"/>
            <a:ext cx="12192000" cy="4808187"/>
          </a:xfrm>
          <a:prstGeom prst="rect">
            <a:avLst/>
          </a:prstGeom>
        </p:spPr>
      </p:pic>
      <p:sp>
        <p:nvSpPr>
          <p:cNvPr id="11" name="Rectangle 5_1"/>
          <p:cNvSpPr/>
          <p:nvPr userDrawn="1"/>
        </p:nvSpPr>
        <p:spPr>
          <a:xfrm>
            <a:off x="0" y="0"/>
            <a:ext cx="12192000" cy="6857999"/>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52" name="Freeform 4811"/>
          <p:cNvSpPr/>
          <p:nvPr userDrawn="1"/>
        </p:nvSpPr>
        <p:spPr bwMode="auto">
          <a:xfrm>
            <a:off x="0" y="2519361"/>
            <a:ext cx="12203113" cy="4338638"/>
          </a:xfrm>
          <a:custGeom>
            <a:avLst/>
            <a:gdLst>
              <a:gd name="T0" fmla="*/ 6400 w 6400"/>
              <a:gd name="T1" fmla="*/ 0 h 2280"/>
              <a:gd name="T2" fmla="*/ 3210 w 6400"/>
              <a:gd name="T3" fmla="*/ 1014 h 2280"/>
              <a:gd name="T4" fmla="*/ 0 w 6400"/>
              <a:gd name="T5" fmla="*/ 913 h 2280"/>
              <a:gd name="T6" fmla="*/ 0 w 6400"/>
              <a:gd name="T7" fmla="*/ 2280 h 2280"/>
              <a:gd name="T8" fmla="*/ 6400 w 6400"/>
              <a:gd name="T9" fmla="*/ 2280 h 2280"/>
              <a:gd name="T10" fmla="*/ 6400 w 6400"/>
              <a:gd name="T11" fmla="*/ 476 h 2280"/>
              <a:gd name="T12" fmla="*/ 3800 w 6400"/>
              <a:gd name="T13" fmla="*/ 972 h 2280"/>
              <a:gd name="T14" fmla="*/ 6400 w 6400"/>
              <a:gd name="T15" fmla="*/ 184 h 2280"/>
              <a:gd name="T16" fmla="*/ 6400 w 6400"/>
              <a:gd name="T17" fmla="*/ 0 h 2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00" h="2280">
                <a:moveTo>
                  <a:pt x="6400" y="0"/>
                </a:moveTo>
                <a:cubicBezTo>
                  <a:pt x="5632" y="463"/>
                  <a:pt x="4500" y="841"/>
                  <a:pt x="3210" y="1014"/>
                </a:cubicBezTo>
                <a:cubicBezTo>
                  <a:pt x="1986" y="1178"/>
                  <a:pt x="850" y="1128"/>
                  <a:pt x="0" y="913"/>
                </a:cubicBezTo>
                <a:cubicBezTo>
                  <a:pt x="0" y="2280"/>
                  <a:pt x="0" y="2280"/>
                  <a:pt x="0" y="2280"/>
                </a:cubicBezTo>
                <a:cubicBezTo>
                  <a:pt x="6400" y="2280"/>
                  <a:pt x="6400" y="2280"/>
                  <a:pt x="6400" y="2280"/>
                </a:cubicBezTo>
                <a:cubicBezTo>
                  <a:pt x="6400" y="476"/>
                  <a:pt x="6400" y="476"/>
                  <a:pt x="6400" y="476"/>
                </a:cubicBezTo>
                <a:cubicBezTo>
                  <a:pt x="6400" y="476"/>
                  <a:pt x="5094" y="1073"/>
                  <a:pt x="3800" y="972"/>
                </a:cubicBezTo>
                <a:cubicBezTo>
                  <a:pt x="3800" y="972"/>
                  <a:pt x="4988" y="908"/>
                  <a:pt x="6400" y="184"/>
                </a:cubicBezTo>
                <a:lnTo>
                  <a:pt x="6400"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354" name="Freeform 4813"/>
          <p:cNvSpPr/>
          <p:nvPr userDrawn="1"/>
        </p:nvSpPr>
        <p:spPr bwMode="auto">
          <a:xfrm>
            <a:off x="0" y="1681161"/>
            <a:ext cx="12203113" cy="3079750"/>
          </a:xfrm>
          <a:custGeom>
            <a:avLst/>
            <a:gdLst>
              <a:gd name="T0" fmla="*/ 2788 w 6400"/>
              <a:gd name="T1" fmla="*/ 1172 h 1618"/>
              <a:gd name="T2" fmla="*/ 0 w 6400"/>
              <a:gd name="T3" fmla="*/ 549 h 1618"/>
              <a:gd name="T4" fmla="*/ 0 w 6400"/>
              <a:gd name="T5" fmla="*/ 1353 h 1618"/>
              <a:gd name="T6" fmla="*/ 3210 w 6400"/>
              <a:gd name="T7" fmla="*/ 1454 h 1618"/>
              <a:gd name="T8" fmla="*/ 6400 w 6400"/>
              <a:gd name="T9" fmla="*/ 440 h 1618"/>
              <a:gd name="T10" fmla="*/ 6400 w 6400"/>
              <a:gd name="T11" fmla="*/ 0 h 1618"/>
              <a:gd name="T12" fmla="*/ 2788 w 6400"/>
              <a:gd name="T13" fmla="*/ 1172 h 1618"/>
            </a:gdLst>
            <a:ahLst/>
            <a:cxnLst>
              <a:cxn ang="0">
                <a:pos x="T0" y="T1"/>
              </a:cxn>
              <a:cxn ang="0">
                <a:pos x="T2" y="T3"/>
              </a:cxn>
              <a:cxn ang="0">
                <a:pos x="T4" y="T5"/>
              </a:cxn>
              <a:cxn ang="0">
                <a:pos x="T6" y="T7"/>
              </a:cxn>
              <a:cxn ang="0">
                <a:pos x="T8" y="T9"/>
              </a:cxn>
              <a:cxn ang="0">
                <a:pos x="T10" y="T11"/>
              </a:cxn>
              <a:cxn ang="0">
                <a:pos x="T12" y="T13"/>
              </a:cxn>
            </a:cxnLst>
            <a:rect l="0" t="0" r="r" b="b"/>
            <a:pathLst>
              <a:path w="6400" h="1618">
                <a:moveTo>
                  <a:pt x="2788" y="1172"/>
                </a:moveTo>
                <a:cubicBezTo>
                  <a:pt x="1669" y="1172"/>
                  <a:pt x="668" y="930"/>
                  <a:pt x="0" y="549"/>
                </a:cubicBezTo>
                <a:cubicBezTo>
                  <a:pt x="0" y="1353"/>
                  <a:pt x="0" y="1353"/>
                  <a:pt x="0" y="1353"/>
                </a:cubicBezTo>
                <a:cubicBezTo>
                  <a:pt x="850" y="1568"/>
                  <a:pt x="1986" y="1618"/>
                  <a:pt x="3210" y="1454"/>
                </a:cubicBezTo>
                <a:cubicBezTo>
                  <a:pt x="4500" y="1281"/>
                  <a:pt x="5632" y="903"/>
                  <a:pt x="6400" y="440"/>
                </a:cubicBezTo>
                <a:cubicBezTo>
                  <a:pt x="6400" y="0"/>
                  <a:pt x="6400" y="0"/>
                  <a:pt x="6400" y="0"/>
                </a:cubicBezTo>
                <a:cubicBezTo>
                  <a:pt x="6028" y="471"/>
                  <a:pt x="4645" y="1172"/>
                  <a:pt x="2788" y="1172"/>
                </a:cubicBezTo>
                <a:close/>
              </a:path>
            </a:pathLst>
          </a:custGeom>
          <a:gradFill>
            <a:gsLst>
              <a:gs pos="100000">
                <a:schemeClr val="accent1"/>
              </a:gs>
              <a:gs pos="24000">
                <a:schemeClr val="accent1">
                  <a:lumMod val="40000"/>
                  <a:lumOff val="60000"/>
                </a:schemeClr>
              </a:gs>
            </a:gsLst>
            <a:path path="circle">
              <a:fillToRect l="50000" t="50000" r="50000" b="50000"/>
            </a:path>
          </a:gradFill>
          <a:ln>
            <a:noFill/>
          </a:ln>
        </p:spPr>
        <p:txBody>
          <a:bodyPr anchor="ctr"/>
          <a:lstStyle/>
          <a:p>
            <a:pPr lvl="0" algn="ctr"/>
            <a:endParaRPr lang="zh-CN" altLang="en-US" dirty="0"/>
          </a:p>
        </p:txBody>
      </p:sp>
      <p:sp>
        <p:nvSpPr>
          <p:cNvPr id="14353" name="Freeform 4812"/>
          <p:cNvSpPr/>
          <p:nvPr userDrawn="1"/>
        </p:nvSpPr>
        <p:spPr bwMode="auto">
          <a:xfrm>
            <a:off x="0" y="2092323"/>
            <a:ext cx="6043553" cy="1728788"/>
          </a:xfrm>
          <a:custGeom>
            <a:avLst/>
            <a:gdLst>
              <a:gd name="T0" fmla="*/ 3172 w 3172"/>
              <a:gd name="T1" fmla="*/ 896 h 908"/>
              <a:gd name="T2" fmla="*/ 0 w 3172"/>
              <a:gd name="T3" fmla="*/ 0 h 908"/>
              <a:gd name="T4" fmla="*/ 0 w 3172"/>
              <a:gd name="T5" fmla="*/ 292 h 908"/>
              <a:gd name="T6" fmla="*/ 3172 w 3172"/>
              <a:gd name="T7" fmla="*/ 896 h 908"/>
            </a:gdLst>
            <a:ahLst/>
            <a:cxnLst>
              <a:cxn ang="0">
                <a:pos x="T0" y="T1"/>
              </a:cxn>
              <a:cxn ang="0">
                <a:pos x="T2" y="T3"/>
              </a:cxn>
              <a:cxn ang="0">
                <a:pos x="T4" y="T5"/>
              </a:cxn>
              <a:cxn ang="0">
                <a:pos x="T6" y="T7"/>
              </a:cxn>
            </a:cxnLst>
            <a:rect l="0" t="0" r="r" b="b"/>
            <a:pathLst>
              <a:path w="3172" h="908">
                <a:moveTo>
                  <a:pt x="3172" y="896"/>
                </a:moveTo>
                <a:cubicBezTo>
                  <a:pt x="3172" y="896"/>
                  <a:pt x="1748" y="908"/>
                  <a:pt x="0" y="0"/>
                </a:cubicBezTo>
                <a:cubicBezTo>
                  <a:pt x="0" y="292"/>
                  <a:pt x="0" y="292"/>
                  <a:pt x="0" y="292"/>
                </a:cubicBezTo>
                <a:cubicBezTo>
                  <a:pt x="0" y="292"/>
                  <a:pt x="1136" y="876"/>
                  <a:pt x="3172" y="896"/>
                </a:cubicBezTo>
                <a:close/>
              </a:path>
            </a:pathLst>
          </a:custGeom>
          <a:gradFill>
            <a:gsLst>
              <a:gs pos="100000">
                <a:schemeClr val="accent1"/>
              </a:gs>
              <a:gs pos="24000">
                <a:schemeClr val="accent1">
                  <a:lumMod val="40000"/>
                  <a:lumOff val="60000"/>
                </a:schemeClr>
              </a:gs>
            </a:gsLst>
            <a:path path="circle">
              <a:fillToRect l="50000" t="50000" r="50000" b="50000"/>
            </a:path>
          </a:gradFill>
          <a:ln>
            <a:noFill/>
          </a:ln>
        </p:spPr>
        <p:txBody>
          <a:bodyPr anchor="ctr"/>
          <a:lstStyle/>
          <a:p>
            <a:pPr lvl="0" algn="ctr"/>
            <a:endParaRPr lang="zh-CN" altLang="en-US"/>
          </a:p>
        </p:txBody>
      </p:sp>
      <p:sp>
        <p:nvSpPr>
          <p:cNvPr id="12" name="文本占位符 13"/>
          <p:cNvSpPr>
            <a:spLocks noGrp="1"/>
          </p:cNvSpPr>
          <p:nvPr userDrawn="1">
            <p:ph type="body" sz="quarter" idx="10" hasCustomPrompt="1"/>
          </p:nvPr>
        </p:nvSpPr>
        <p:spPr>
          <a:xfrm>
            <a:off x="685006" y="5544733"/>
            <a:ext cx="10845800"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85006" y="5841004"/>
            <a:ext cx="10845800" cy="296271"/>
          </a:xfr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962250"/>
            <a:ext cx="10821988" cy="558799"/>
          </a:xfrm>
        </p:spPr>
        <p:txBody>
          <a:bodyPr anchor="ct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4263659"/>
            <a:ext cx="10821988" cy="698591"/>
          </a:xfrm>
        </p:spPr>
        <p:txBody>
          <a:bodyPr anchor="ctr">
            <a:normAutofit/>
          </a:bodyPr>
          <a:lstStyle>
            <a:lvl1pPr algn="ctr">
              <a:defRPr sz="4000">
                <a:solidFill>
                  <a:schemeClr val="tx1"/>
                </a:solidFill>
              </a:defRPr>
            </a:lvl1pPr>
          </a:lstStyle>
          <a:p>
            <a:r>
              <a:rPr lang="en-US" dirty="0"/>
              <a:t>Click to edit Master title style</a:t>
            </a:r>
            <a:endParaRPr lang="zh-CN" altLang="en-US" dirty="0"/>
          </a:p>
        </p:txBody>
      </p:sp>
      <p:pic>
        <p:nvPicPr>
          <p:cNvPr id="14" name="Picture 2" descr="C:\Users\Administrator\FangCloudV2\独步天下\设计存档\LOGO\fe619609cbf2754b063e886695cdf03.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42240" y="5778499"/>
            <a:ext cx="1850073" cy="103621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4677787" y="1814511"/>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4678903" y="2709861"/>
            <a:ext cx="5419185" cy="1015623"/>
          </a:xfrm>
        </p:spPr>
        <p:txBody>
          <a:bodyPr anchor="t">
            <a:normAutofit/>
          </a:bodyPr>
          <a:lstStyle>
            <a:lvl1pPr marL="0" indent="0" algn="l">
              <a:lnSpc>
                <a:spcPct val="100000"/>
              </a:lnSpc>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
        <p:nvSpPr>
          <p:cNvPr id="7" name="Freeform 4813"/>
          <p:cNvSpPr/>
          <p:nvPr userDrawn="1"/>
        </p:nvSpPr>
        <p:spPr bwMode="auto">
          <a:xfrm>
            <a:off x="0" y="2709861"/>
            <a:ext cx="12203113" cy="3079750"/>
          </a:xfrm>
          <a:custGeom>
            <a:avLst/>
            <a:gdLst>
              <a:gd name="T0" fmla="*/ 2788 w 6400"/>
              <a:gd name="T1" fmla="*/ 1172 h 1618"/>
              <a:gd name="T2" fmla="*/ 0 w 6400"/>
              <a:gd name="T3" fmla="*/ 549 h 1618"/>
              <a:gd name="T4" fmla="*/ 0 w 6400"/>
              <a:gd name="T5" fmla="*/ 1353 h 1618"/>
              <a:gd name="T6" fmla="*/ 3210 w 6400"/>
              <a:gd name="T7" fmla="*/ 1454 h 1618"/>
              <a:gd name="T8" fmla="*/ 6400 w 6400"/>
              <a:gd name="T9" fmla="*/ 440 h 1618"/>
              <a:gd name="T10" fmla="*/ 6400 w 6400"/>
              <a:gd name="T11" fmla="*/ 0 h 1618"/>
              <a:gd name="T12" fmla="*/ 2788 w 6400"/>
              <a:gd name="T13" fmla="*/ 1172 h 1618"/>
            </a:gdLst>
            <a:ahLst/>
            <a:cxnLst>
              <a:cxn ang="0">
                <a:pos x="T0" y="T1"/>
              </a:cxn>
              <a:cxn ang="0">
                <a:pos x="T2" y="T3"/>
              </a:cxn>
              <a:cxn ang="0">
                <a:pos x="T4" y="T5"/>
              </a:cxn>
              <a:cxn ang="0">
                <a:pos x="T6" y="T7"/>
              </a:cxn>
              <a:cxn ang="0">
                <a:pos x="T8" y="T9"/>
              </a:cxn>
              <a:cxn ang="0">
                <a:pos x="T10" y="T11"/>
              </a:cxn>
              <a:cxn ang="0">
                <a:pos x="T12" y="T13"/>
              </a:cxn>
            </a:cxnLst>
            <a:rect l="0" t="0" r="r" b="b"/>
            <a:pathLst>
              <a:path w="6400" h="1618">
                <a:moveTo>
                  <a:pt x="2788" y="1172"/>
                </a:moveTo>
                <a:cubicBezTo>
                  <a:pt x="1669" y="1172"/>
                  <a:pt x="668" y="930"/>
                  <a:pt x="0" y="549"/>
                </a:cubicBezTo>
                <a:cubicBezTo>
                  <a:pt x="0" y="1353"/>
                  <a:pt x="0" y="1353"/>
                  <a:pt x="0" y="1353"/>
                </a:cubicBezTo>
                <a:cubicBezTo>
                  <a:pt x="850" y="1568"/>
                  <a:pt x="1986" y="1618"/>
                  <a:pt x="3210" y="1454"/>
                </a:cubicBezTo>
                <a:cubicBezTo>
                  <a:pt x="4500" y="1281"/>
                  <a:pt x="5632" y="903"/>
                  <a:pt x="6400" y="440"/>
                </a:cubicBezTo>
                <a:cubicBezTo>
                  <a:pt x="6400" y="0"/>
                  <a:pt x="6400" y="0"/>
                  <a:pt x="6400" y="0"/>
                </a:cubicBezTo>
                <a:cubicBezTo>
                  <a:pt x="6028" y="471"/>
                  <a:pt x="4645" y="1172"/>
                  <a:pt x="2788" y="1172"/>
                </a:cubicBezTo>
                <a:close/>
              </a:path>
            </a:pathLst>
          </a:custGeom>
          <a:gradFill>
            <a:gsLst>
              <a:gs pos="100000">
                <a:schemeClr val="accent1"/>
              </a:gs>
              <a:gs pos="24000">
                <a:schemeClr val="accent1">
                  <a:lumMod val="40000"/>
                  <a:lumOff val="60000"/>
                </a:schemeClr>
              </a:gs>
            </a:gsLst>
            <a:path path="circle">
              <a:fillToRect l="50000" t="50000" r="50000" b="50000"/>
            </a:path>
          </a:gradFill>
          <a:ln>
            <a:noFill/>
          </a:ln>
        </p:spPr>
        <p:txBody>
          <a:bodyPr anchor="ctr"/>
          <a:lstStyle/>
          <a:p>
            <a:pPr lvl="0" algn="ctr"/>
            <a:endParaRPr lang="zh-CN" altLang="en-US" dirty="0"/>
          </a:p>
        </p:txBody>
      </p:sp>
      <p:sp>
        <p:nvSpPr>
          <p:cNvPr id="8" name="Freeform 4812"/>
          <p:cNvSpPr/>
          <p:nvPr userDrawn="1"/>
        </p:nvSpPr>
        <p:spPr bwMode="auto">
          <a:xfrm>
            <a:off x="0" y="3121023"/>
            <a:ext cx="6043553" cy="1728788"/>
          </a:xfrm>
          <a:custGeom>
            <a:avLst/>
            <a:gdLst>
              <a:gd name="T0" fmla="*/ 3172 w 3172"/>
              <a:gd name="T1" fmla="*/ 896 h 908"/>
              <a:gd name="T2" fmla="*/ 0 w 3172"/>
              <a:gd name="T3" fmla="*/ 0 h 908"/>
              <a:gd name="T4" fmla="*/ 0 w 3172"/>
              <a:gd name="T5" fmla="*/ 292 h 908"/>
              <a:gd name="T6" fmla="*/ 3172 w 3172"/>
              <a:gd name="T7" fmla="*/ 896 h 908"/>
            </a:gdLst>
            <a:ahLst/>
            <a:cxnLst>
              <a:cxn ang="0">
                <a:pos x="T0" y="T1"/>
              </a:cxn>
              <a:cxn ang="0">
                <a:pos x="T2" y="T3"/>
              </a:cxn>
              <a:cxn ang="0">
                <a:pos x="T4" y="T5"/>
              </a:cxn>
              <a:cxn ang="0">
                <a:pos x="T6" y="T7"/>
              </a:cxn>
            </a:cxnLst>
            <a:rect l="0" t="0" r="r" b="b"/>
            <a:pathLst>
              <a:path w="3172" h="908">
                <a:moveTo>
                  <a:pt x="3172" y="896"/>
                </a:moveTo>
                <a:cubicBezTo>
                  <a:pt x="3172" y="896"/>
                  <a:pt x="1748" y="908"/>
                  <a:pt x="0" y="0"/>
                </a:cubicBezTo>
                <a:cubicBezTo>
                  <a:pt x="0" y="292"/>
                  <a:pt x="0" y="292"/>
                  <a:pt x="0" y="292"/>
                </a:cubicBezTo>
                <a:cubicBezTo>
                  <a:pt x="0" y="292"/>
                  <a:pt x="1136" y="876"/>
                  <a:pt x="3172" y="896"/>
                </a:cubicBezTo>
                <a:close/>
              </a:path>
            </a:pathLst>
          </a:custGeom>
          <a:gradFill>
            <a:gsLst>
              <a:gs pos="100000">
                <a:schemeClr val="accent1"/>
              </a:gs>
              <a:gs pos="24000">
                <a:schemeClr val="accent1">
                  <a:lumMod val="40000"/>
                  <a:lumOff val="60000"/>
                </a:schemeClr>
              </a:gs>
            </a:gsLst>
            <a:path path="circle">
              <a:fillToRect l="50000" t="50000" r="50000" b="50000"/>
            </a:path>
          </a:gradFill>
          <a:ln>
            <a:noFill/>
          </a:ln>
        </p:spPr>
        <p:txBody>
          <a:bodyPr anchor="ctr"/>
          <a:lstStyle/>
          <a:p>
            <a:pPr lvl="0" algn="ctr"/>
            <a:endParaRPr lang="zh-CN" altLang="en-US"/>
          </a:p>
        </p:txBody>
      </p:sp>
      <p:pic>
        <p:nvPicPr>
          <p:cNvPr id="9" name="Picture 2" descr="C:\Users\Administrator\FangCloudV2\独步天下\设计存档\LOGO\fe619609cbf2754b063e886695cdf03.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667240" y="0"/>
            <a:ext cx="1850073" cy="103621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Picture 2" descr="C:\Users\Administrator\FangCloudV2\独步天下\设计存档\LOGO\fe619609cbf2754b063e886695cdf03.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667240" y="0"/>
            <a:ext cx="1850073" cy="10362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tretch>
            <a:fillRect/>
          </a:stretch>
        </p:blipFill>
        <p:spPr>
          <a:xfrm>
            <a:off x="11113" y="-1"/>
            <a:ext cx="12192000" cy="4808187"/>
          </a:xfrm>
          <a:prstGeom prst="rect">
            <a:avLst/>
          </a:prstGeom>
        </p:spPr>
      </p:pic>
      <p:sp>
        <p:nvSpPr>
          <p:cNvPr id="14" name="Rectangle 5_1"/>
          <p:cNvSpPr/>
          <p:nvPr userDrawn="1"/>
        </p:nvSpPr>
        <p:spPr>
          <a:xfrm>
            <a:off x="0" y="0"/>
            <a:ext cx="12192000" cy="6857999"/>
          </a:xfrm>
          <a:prstGeom prst="rect">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p:cNvGrpSpPr/>
          <p:nvPr userDrawn="1"/>
        </p:nvGrpSpPr>
        <p:grpSpPr>
          <a:xfrm flipH="1">
            <a:off x="0" y="1681161"/>
            <a:ext cx="12203113" cy="5176838"/>
            <a:chOff x="0" y="1681161"/>
            <a:chExt cx="12203113" cy="5176838"/>
          </a:xfrm>
        </p:grpSpPr>
        <p:sp>
          <p:nvSpPr>
            <p:cNvPr id="8" name="Freeform 4811"/>
            <p:cNvSpPr/>
            <p:nvPr userDrawn="1"/>
          </p:nvSpPr>
          <p:spPr bwMode="auto">
            <a:xfrm>
              <a:off x="0" y="2519361"/>
              <a:ext cx="12203113" cy="4338638"/>
            </a:xfrm>
            <a:custGeom>
              <a:avLst/>
              <a:gdLst>
                <a:gd name="T0" fmla="*/ 6400 w 6400"/>
                <a:gd name="T1" fmla="*/ 0 h 2280"/>
                <a:gd name="T2" fmla="*/ 3210 w 6400"/>
                <a:gd name="T3" fmla="*/ 1014 h 2280"/>
                <a:gd name="T4" fmla="*/ 0 w 6400"/>
                <a:gd name="T5" fmla="*/ 913 h 2280"/>
                <a:gd name="T6" fmla="*/ 0 w 6400"/>
                <a:gd name="T7" fmla="*/ 2280 h 2280"/>
                <a:gd name="T8" fmla="*/ 6400 w 6400"/>
                <a:gd name="T9" fmla="*/ 2280 h 2280"/>
                <a:gd name="T10" fmla="*/ 6400 w 6400"/>
                <a:gd name="T11" fmla="*/ 476 h 2280"/>
                <a:gd name="T12" fmla="*/ 3800 w 6400"/>
                <a:gd name="T13" fmla="*/ 972 h 2280"/>
                <a:gd name="T14" fmla="*/ 6400 w 6400"/>
                <a:gd name="T15" fmla="*/ 184 h 2280"/>
                <a:gd name="T16" fmla="*/ 6400 w 6400"/>
                <a:gd name="T17" fmla="*/ 0 h 2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00" h="2280">
                  <a:moveTo>
                    <a:pt x="6400" y="0"/>
                  </a:moveTo>
                  <a:cubicBezTo>
                    <a:pt x="5632" y="463"/>
                    <a:pt x="4500" y="841"/>
                    <a:pt x="3210" y="1014"/>
                  </a:cubicBezTo>
                  <a:cubicBezTo>
                    <a:pt x="1986" y="1178"/>
                    <a:pt x="850" y="1128"/>
                    <a:pt x="0" y="913"/>
                  </a:cubicBezTo>
                  <a:cubicBezTo>
                    <a:pt x="0" y="2280"/>
                    <a:pt x="0" y="2280"/>
                    <a:pt x="0" y="2280"/>
                  </a:cubicBezTo>
                  <a:cubicBezTo>
                    <a:pt x="6400" y="2280"/>
                    <a:pt x="6400" y="2280"/>
                    <a:pt x="6400" y="2280"/>
                  </a:cubicBezTo>
                  <a:cubicBezTo>
                    <a:pt x="6400" y="476"/>
                    <a:pt x="6400" y="476"/>
                    <a:pt x="6400" y="476"/>
                  </a:cubicBezTo>
                  <a:cubicBezTo>
                    <a:pt x="6400" y="476"/>
                    <a:pt x="5094" y="1073"/>
                    <a:pt x="3800" y="972"/>
                  </a:cubicBezTo>
                  <a:cubicBezTo>
                    <a:pt x="3800" y="972"/>
                    <a:pt x="4988" y="908"/>
                    <a:pt x="6400" y="184"/>
                  </a:cubicBezTo>
                  <a:lnTo>
                    <a:pt x="6400"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4813"/>
            <p:cNvSpPr/>
            <p:nvPr userDrawn="1"/>
          </p:nvSpPr>
          <p:spPr bwMode="auto">
            <a:xfrm>
              <a:off x="0" y="1681161"/>
              <a:ext cx="12203113" cy="3079750"/>
            </a:xfrm>
            <a:custGeom>
              <a:avLst/>
              <a:gdLst>
                <a:gd name="T0" fmla="*/ 2788 w 6400"/>
                <a:gd name="T1" fmla="*/ 1172 h 1618"/>
                <a:gd name="T2" fmla="*/ 0 w 6400"/>
                <a:gd name="T3" fmla="*/ 549 h 1618"/>
                <a:gd name="T4" fmla="*/ 0 w 6400"/>
                <a:gd name="T5" fmla="*/ 1353 h 1618"/>
                <a:gd name="T6" fmla="*/ 3210 w 6400"/>
                <a:gd name="T7" fmla="*/ 1454 h 1618"/>
                <a:gd name="T8" fmla="*/ 6400 w 6400"/>
                <a:gd name="T9" fmla="*/ 440 h 1618"/>
                <a:gd name="T10" fmla="*/ 6400 w 6400"/>
                <a:gd name="T11" fmla="*/ 0 h 1618"/>
                <a:gd name="T12" fmla="*/ 2788 w 6400"/>
                <a:gd name="T13" fmla="*/ 1172 h 1618"/>
              </a:gdLst>
              <a:ahLst/>
              <a:cxnLst>
                <a:cxn ang="0">
                  <a:pos x="T0" y="T1"/>
                </a:cxn>
                <a:cxn ang="0">
                  <a:pos x="T2" y="T3"/>
                </a:cxn>
                <a:cxn ang="0">
                  <a:pos x="T4" y="T5"/>
                </a:cxn>
                <a:cxn ang="0">
                  <a:pos x="T6" y="T7"/>
                </a:cxn>
                <a:cxn ang="0">
                  <a:pos x="T8" y="T9"/>
                </a:cxn>
                <a:cxn ang="0">
                  <a:pos x="T10" y="T11"/>
                </a:cxn>
                <a:cxn ang="0">
                  <a:pos x="T12" y="T13"/>
                </a:cxn>
              </a:cxnLst>
              <a:rect l="0" t="0" r="r" b="b"/>
              <a:pathLst>
                <a:path w="6400" h="1618">
                  <a:moveTo>
                    <a:pt x="2788" y="1172"/>
                  </a:moveTo>
                  <a:cubicBezTo>
                    <a:pt x="1669" y="1172"/>
                    <a:pt x="668" y="930"/>
                    <a:pt x="0" y="549"/>
                  </a:cubicBezTo>
                  <a:cubicBezTo>
                    <a:pt x="0" y="1353"/>
                    <a:pt x="0" y="1353"/>
                    <a:pt x="0" y="1353"/>
                  </a:cubicBezTo>
                  <a:cubicBezTo>
                    <a:pt x="850" y="1568"/>
                    <a:pt x="1986" y="1618"/>
                    <a:pt x="3210" y="1454"/>
                  </a:cubicBezTo>
                  <a:cubicBezTo>
                    <a:pt x="4500" y="1281"/>
                    <a:pt x="5632" y="903"/>
                    <a:pt x="6400" y="440"/>
                  </a:cubicBezTo>
                  <a:cubicBezTo>
                    <a:pt x="6400" y="0"/>
                    <a:pt x="6400" y="0"/>
                    <a:pt x="6400" y="0"/>
                  </a:cubicBezTo>
                  <a:cubicBezTo>
                    <a:pt x="6028" y="471"/>
                    <a:pt x="4645" y="1172"/>
                    <a:pt x="2788" y="1172"/>
                  </a:cubicBezTo>
                  <a:close/>
                </a:path>
              </a:pathLst>
            </a:custGeom>
            <a:solidFill>
              <a:schemeClr val="accent1"/>
            </a:solidFill>
            <a:ln>
              <a:noFill/>
            </a:ln>
          </p:spPr>
          <p:txBody>
            <a:bodyPr vert="horz" wrap="square" lIns="91440" tIns="45720" rIns="91440" bIns="45720" numCol="1" anchor="t" anchorCtr="0" compatLnSpc="1"/>
            <a:lstStyle/>
            <a:p>
              <a:endParaRPr lang="zh-CN" altLang="en-US" dirty="0"/>
            </a:p>
          </p:txBody>
        </p:sp>
        <p:sp>
          <p:nvSpPr>
            <p:cNvPr id="10" name="Freeform 4812"/>
            <p:cNvSpPr/>
            <p:nvPr userDrawn="1"/>
          </p:nvSpPr>
          <p:spPr bwMode="auto">
            <a:xfrm>
              <a:off x="0" y="2092323"/>
              <a:ext cx="6043553" cy="1728788"/>
            </a:xfrm>
            <a:custGeom>
              <a:avLst/>
              <a:gdLst>
                <a:gd name="T0" fmla="*/ 3172 w 3172"/>
                <a:gd name="T1" fmla="*/ 896 h 908"/>
                <a:gd name="T2" fmla="*/ 0 w 3172"/>
                <a:gd name="T3" fmla="*/ 0 h 908"/>
                <a:gd name="T4" fmla="*/ 0 w 3172"/>
                <a:gd name="T5" fmla="*/ 292 h 908"/>
                <a:gd name="T6" fmla="*/ 3172 w 3172"/>
                <a:gd name="T7" fmla="*/ 896 h 908"/>
              </a:gdLst>
              <a:ahLst/>
              <a:cxnLst>
                <a:cxn ang="0">
                  <a:pos x="T0" y="T1"/>
                </a:cxn>
                <a:cxn ang="0">
                  <a:pos x="T2" y="T3"/>
                </a:cxn>
                <a:cxn ang="0">
                  <a:pos x="T4" y="T5"/>
                </a:cxn>
                <a:cxn ang="0">
                  <a:pos x="T6" y="T7"/>
                </a:cxn>
              </a:cxnLst>
              <a:rect l="0" t="0" r="r" b="b"/>
              <a:pathLst>
                <a:path w="3172" h="908">
                  <a:moveTo>
                    <a:pt x="3172" y="896"/>
                  </a:moveTo>
                  <a:cubicBezTo>
                    <a:pt x="3172" y="896"/>
                    <a:pt x="1748" y="908"/>
                    <a:pt x="0" y="0"/>
                  </a:cubicBezTo>
                  <a:cubicBezTo>
                    <a:pt x="0" y="292"/>
                    <a:pt x="0" y="292"/>
                    <a:pt x="0" y="292"/>
                  </a:cubicBezTo>
                  <a:cubicBezTo>
                    <a:pt x="0" y="292"/>
                    <a:pt x="1136" y="876"/>
                    <a:pt x="3172" y="896"/>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13" name="标题 1"/>
          <p:cNvSpPr>
            <a:spLocks noGrp="1"/>
          </p:cNvSpPr>
          <p:nvPr userDrawn="1">
            <p:ph type="ctrTitle" hasCustomPrompt="1"/>
          </p:nvPr>
        </p:nvSpPr>
        <p:spPr>
          <a:xfrm>
            <a:off x="674690" y="3623356"/>
            <a:ext cx="10845798" cy="1621509"/>
          </a:xfrm>
        </p:spPr>
        <p:txBody>
          <a:bodyPr anchor="b">
            <a:normAutofit/>
          </a:bodyPr>
          <a:lstStyle>
            <a:lvl1pPr marL="0" indent="0" algn="ctr">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74690" y="5929592"/>
            <a:ext cx="10845798" cy="310871"/>
          </a:xfrm>
        </p:spPr>
        <p:txBody>
          <a:bodyPr vert="horz" lIns="91440" tIns="45720" rIns="91440" bIns="45720" rtlCol="0">
            <a:normAutofit/>
          </a:bodyPr>
          <a:lstStyle>
            <a:lvl1pPr marL="0" indent="0" algn="ctr">
              <a:buNone/>
              <a:defRPr lang="zh-CN" altLang="en-US" sz="15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674692" y="5633321"/>
            <a:ext cx="10845798" cy="296271"/>
          </a:xfrm>
        </p:spPr>
        <p:txBody>
          <a:bodyPr vert="horz" anchor="ctr">
            <a:noAutofit/>
          </a:bodyPr>
          <a:lstStyle>
            <a:lvl1pPr marL="0" indent="0" algn="ctr">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pic>
        <p:nvPicPr>
          <p:cNvPr id="12" name="Picture 2" descr="C:\Users\Administrator\FangCloudV2\独步天下\设计存档\LOGO\fe619609cbf2754b063e886695cdf03.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87940" y="5778499"/>
            <a:ext cx="1850073" cy="103621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pic>
        <p:nvPicPr>
          <p:cNvPr id="7" name="Picture 2" descr="F:\0\000000909.png"/>
          <p:cNvPicPr>
            <a:picLocks noChangeAspect="1" noChangeArrowheads="1"/>
          </p:cNvPicPr>
          <p:nvPr userDrawn="1"/>
        </p:nvPicPr>
        <p:blipFill>
          <a:blip r:embed="rId2" cstate="email"/>
          <a:srcRect/>
          <a:stretch>
            <a:fillRect/>
          </a:stretch>
        </p:blipFill>
        <p:spPr bwMode="auto">
          <a:xfrm>
            <a:off x="5647947" y="6395935"/>
            <a:ext cx="896107" cy="174606"/>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userDrawn="1"/>
        </p:nvPicPr>
        <p:blipFill>
          <a:blip r:embed="rId3" cstate="email"/>
          <a:stretch>
            <a:fillRect/>
          </a:stretch>
        </p:blipFill>
        <p:spPr>
          <a:xfrm rot="10800000">
            <a:off x="754380" y="991929"/>
            <a:ext cx="10683240" cy="15240"/>
          </a:xfrm>
          <a:prstGeom prst="rect">
            <a:avLst/>
          </a:prstGeom>
        </p:spPr>
      </p:pic>
      <p:sp>
        <p:nvSpPr>
          <p:cNvPr id="3" name="文本占位符 2"/>
          <p:cNvSpPr>
            <a:spLocks noGrp="1"/>
          </p:cNvSpPr>
          <p:nvPr>
            <p:ph type="body" sz="quarter" idx="10" hasCustomPrompt="1"/>
          </p:nvPr>
        </p:nvSpPr>
        <p:spPr>
          <a:xfrm>
            <a:off x="660314" y="444862"/>
            <a:ext cx="10777306" cy="554687"/>
          </a:xfrm>
          <a:prstGeom prst="rect">
            <a:avLst/>
          </a:prstGeom>
        </p:spPr>
        <p:txBody>
          <a:bodyPr/>
          <a:lstStyle>
            <a:lvl1pPr marL="0" indent="0" algn="l" defTabSz="914400" rtl="0" eaLnBrk="1" latinLnBrk="0" hangingPunct="1">
              <a:lnSpc>
                <a:spcPct val="100000"/>
              </a:lnSpc>
              <a:spcBef>
                <a:spcPts val="100"/>
              </a:spcBef>
              <a:buNone/>
              <a:defRPr lang="zh-CN" altLang="en-US" sz="3200" b="1" i="0" kern="1200" dirty="0">
                <a:gradFill>
                  <a:gsLst>
                    <a:gs pos="29000">
                      <a:srgbClr val="002060"/>
                    </a:gs>
                    <a:gs pos="0">
                      <a:srgbClr val="00B0F0"/>
                    </a:gs>
                    <a:gs pos="80000">
                      <a:srgbClr val="FF3980"/>
                    </a:gs>
                    <a:gs pos="93000">
                      <a:srgbClr val="FF89CD"/>
                    </a:gs>
                    <a:gs pos="87000">
                      <a:srgbClr val="FF6EB3"/>
                    </a:gs>
                    <a:gs pos="67000">
                      <a:srgbClr val="9C45FA"/>
                    </a:gs>
                  </a:gsLst>
                  <a:lin ang="2400000" scaled="0"/>
                </a:gradFill>
                <a:latin typeface="微软雅黑" panose="020B0503020204020204" charset="-122"/>
                <a:ea typeface="微软雅黑" panose="020B0503020204020204" charset="-122"/>
                <a:cs typeface="+mn-cs"/>
              </a:defRPr>
            </a:lvl1pPr>
          </a:lstStyle>
          <a:p>
            <a:pPr lvl="0"/>
            <a:r>
              <a:rPr lang="zh-CN" altLang="en-US" dirty="0"/>
              <a:t>点击此处添加标题</a:t>
            </a:r>
            <a:endParaRPr lang="zh-CN" altLang="en-US" dirty="0"/>
          </a:p>
        </p:txBody>
      </p:sp>
      <p:sp>
        <p:nvSpPr>
          <p:cNvPr id="5" name="文本占位符 4"/>
          <p:cNvSpPr>
            <a:spLocks noGrp="1"/>
          </p:cNvSpPr>
          <p:nvPr>
            <p:ph type="body" sz="quarter" idx="11" hasCustomPrompt="1"/>
          </p:nvPr>
        </p:nvSpPr>
        <p:spPr>
          <a:xfrm>
            <a:off x="660314" y="1108800"/>
            <a:ext cx="10777306" cy="5140800"/>
          </a:xfrm>
          <a:prstGeom prst="rect">
            <a:avLst/>
          </a:prstGeom>
        </p:spPr>
        <p:txBody>
          <a:bodyPr/>
          <a:lstStyle>
            <a:lvl1pPr marL="0" indent="0">
              <a:buNone/>
              <a:defRPr sz="1600">
                <a:latin typeface="微软雅黑" panose="020B0503020204020204" charset="-122"/>
                <a:ea typeface="微软雅黑" panose="020B0503020204020204" charset="-122"/>
              </a:defRPr>
            </a:lvl1pPr>
          </a:lstStyle>
          <a:p>
            <a:pPr lvl="0"/>
            <a:r>
              <a:rPr lang="zh-CN" altLang="en-US" dirty="0"/>
              <a:t>点击此处添加内容</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矩形"/>
          <p:cNvSpPr/>
          <p:nvPr userDrawn="1"/>
        </p:nvSpPr>
        <p:spPr>
          <a:xfrm>
            <a:off x="-1" y="0"/>
            <a:ext cx="12231615" cy="6858000"/>
          </a:xfrm>
          <a:prstGeom prst="rect">
            <a:avLst/>
          </a:prstGeom>
          <a:gradFill flip="none" rotWithShape="1">
            <a:gsLst>
              <a:gs pos="0">
                <a:srgbClr val="36C3DD"/>
              </a:gs>
              <a:gs pos="84000">
                <a:srgbClr val="FF50FF"/>
              </a:gs>
              <a:gs pos="51000">
                <a:srgbClr val="5A3CD9"/>
              </a:gs>
            </a:gsLst>
            <a:lin ang="2700000" scaled="1"/>
            <a:tileRect/>
          </a:gradFill>
          <a:ln w="3175">
            <a:miter lim="400000"/>
          </a:ln>
        </p:spPr>
        <p:txBody>
          <a:bodyPr lIns="71437" tIns="71437" rIns="71437" bIns="71437" anchor="ctr"/>
          <a:lstStyle/>
          <a:p>
            <a:pPr>
              <a:defRPr b="0">
                <a:latin typeface="Helvetica Light"/>
                <a:ea typeface="Helvetica Light"/>
                <a:cs typeface="Helvetica Light"/>
                <a:sym typeface="Helvetica Light"/>
              </a:defRPr>
            </a:pPr>
          </a:p>
        </p:txBody>
      </p:sp>
      <p:sp>
        <p:nvSpPr>
          <p:cNvPr id="8" name="矩形"/>
          <p:cNvSpPr/>
          <p:nvPr userDrawn="1"/>
        </p:nvSpPr>
        <p:spPr>
          <a:xfrm>
            <a:off x="160251" y="126225"/>
            <a:ext cx="11911111" cy="6605549"/>
          </a:xfrm>
          <a:prstGeom prst="rect">
            <a:avLst/>
          </a:prstGeom>
          <a:solidFill>
            <a:srgbClr val="FFFFFF"/>
          </a:solidFill>
          <a:ln w="3175">
            <a:miter lim="400000"/>
          </a:ln>
        </p:spPr>
        <p:txBody>
          <a:bodyPr lIns="71437" tIns="71437" rIns="71437" bIns="71437" anchor="ctr"/>
          <a:lstStyle/>
          <a:p>
            <a:pPr>
              <a:defRPr b="0">
                <a:latin typeface="Helvetica Light"/>
                <a:ea typeface="Helvetica Light"/>
                <a:cs typeface="Helvetica Light"/>
                <a:sym typeface="Helvetica Light"/>
              </a:defRPr>
            </a:pPr>
          </a:p>
        </p:txBody>
      </p:sp>
      <p:sp>
        <p:nvSpPr>
          <p:cNvPr id="9" name="矩形"/>
          <p:cNvSpPr/>
          <p:nvPr userDrawn="1"/>
        </p:nvSpPr>
        <p:spPr>
          <a:xfrm>
            <a:off x="3176197" y="2761266"/>
            <a:ext cx="3331113" cy="988069"/>
          </a:xfrm>
          <a:prstGeom prst="rect">
            <a:avLst/>
          </a:prstGeom>
          <a:gradFill>
            <a:gsLst>
              <a:gs pos="0">
                <a:srgbClr val="1ACDDB"/>
              </a:gs>
              <a:gs pos="100000">
                <a:srgbClr val="FF50FF">
                  <a:alpha val="392"/>
                </a:srgbClr>
              </a:gs>
            </a:gsLst>
          </a:gradFill>
          <a:ln w="3175">
            <a:miter lim="400000"/>
          </a:ln>
        </p:spPr>
        <p:txBody>
          <a:bodyPr lIns="71437" tIns="71437" rIns="71437" bIns="71437" anchor="ctr"/>
          <a:lstStyle/>
          <a:p>
            <a:pPr>
              <a:defRPr b="0">
                <a:latin typeface="Helvetica Light"/>
                <a:ea typeface="Helvetica Light"/>
                <a:cs typeface="Helvetica Light"/>
                <a:sym typeface="Helvetica Light"/>
              </a:defRPr>
            </a:pPr>
          </a:p>
        </p:txBody>
      </p:sp>
      <p:sp>
        <p:nvSpPr>
          <p:cNvPr id="10" name="content"/>
          <p:cNvSpPr txBox="1"/>
          <p:nvPr userDrawn="1"/>
        </p:nvSpPr>
        <p:spPr>
          <a:xfrm>
            <a:off x="1176852" y="2761266"/>
            <a:ext cx="4689308" cy="1159932"/>
          </a:xfrm>
          <a:prstGeom prst="rect">
            <a:avLst/>
          </a:prstGeom>
          <a:ln w="3175">
            <a:miter lim="400000"/>
          </a:ln>
        </p:spPr>
        <p:txBody>
          <a:bodyPr wrap="square" lIns="71437" tIns="71437" rIns="71437" bIns="71437">
            <a:spAutoFit/>
          </a:bodyPr>
          <a:lstStyle/>
          <a:p>
            <a:pPr algn="l" defTabSz="457200">
              <a:defRPr sz="14400" cap="all">
                <a:solidFill>
                  <a:srgbClr val="FFFFFF"/>
                </a:solidFill>
                <a:latin typeface="Avenir Next"/>
                <a:ea typeface="Avenir Next"/>
                <a:cs typeface="Avenir Next"/>
                <a:sym typeface="Avenir Next"/>
              </a:defRPr>
            </a:pPr>
            <a:r>
              <a:rPr sz="6600" dirty="0">
                <a:solidFill>
                  <a:srgbClr val="1ACDDB"/>
                </a:solidFill>
                <a:latin typeface="微软雅黑" panose="020B0503020204020204" charset="-122"/>
                <a:ea typeface="微软雅黑" panose="020B0503020204020204" charset="-122"/>
              </a:rPr>
              <a:t>con</a:t>
            </a:r>
            <a:r>
              <a:rPr sz="6600" dirty="0">
                <a:latin typeface="微软雅黑" panose="020B0503020204020204" charset="-122"/>
                <a:ea typeface="微软雅黑" panose="020B0503020204020204" charset="-122"/>
              </a:rPr>
              <a:t>tent</a:t>
            </a:r>
            <a:endParaRPr sz="660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C:\Users\Administrator\FangCloudV2\独步天下\设计存档\LOGO\fe619609cbf2754b063e886695cdf03.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667240" y="0"/>
            <a:ext cx="1850073" cy="103621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11.jpeg"/></Relationships>
</file>

<file path=ppt/slides/_rels/slide5.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1" Type="http://schemas.openxmlformats.org/officeDocument/2006/relationships/notesSlide" Target="../notesSlides/notesSlide4.xml"/><Relationship Id="rId10" Type="http://schemas.openxmlformats.org/officeDocument/2006/relationships/slideLayout" Target="../slideLayouts/slideLayout10.xml"/><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4.xml"/><Relationship Id="rId10" Type="http://schemas.openxmlformats.org/officeDocument/2006/relationships/image" Target="../media/image32.png"/><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7.png"/><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image" Target="../media/image39.png"/><Relationship Id="rId1"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40.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41.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0.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45.jpe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0.xml"/><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1.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0.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jpe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952500" y="2624881"/>
            <a:ext cx="6705600" cy="1298575"/>
          </a:xfrm>
          <a:prstGeom prst="rect">
            <a:avLst/>
          </a:prstGeom>
          <a:noFill/>
        </p:spPr>
        <p:txBody>
          <a:bodyPr wrap="square" lIns="0" tIns="0" rIns="0" bIns="0" rtlCol="0" anchor="t">
            <a:spAutoFit/>
          </a:bodyPr>
          <a:lstStyle/>
          <a:p>
            <a:pPr marL="0" indent="0" algn="l">
              <a:lnSpc>
                <a:spcPct val="96000"/>
              </a:lnSpc>
              <a:buNone/>
            </a:pPr>
            <a:r>
              <a:rPr lang="en-US" sz="4400" b="1" dirty="0">
                <a:solidFill>
                  <a:srgbClr val="2D3748"/>
                </a:solidFill>
                <a:latin typeface="Inter ExtraBold" pitchFamily="34" charset="0"/>
                <a:ea typeface="Inter ExtraBold" pitchFamily="34" charset="-122"/>
                <a:cs typeface="Inter ExtraBold" pitchFamily="34" charset="-120"/>
              </a:rPr>
              <a:t>联盟营销：
从种草到转化全路径解析</a:t>
            </a:r>
            <a:endParaRPr lang="en-US" sz="4400" dirty="0"/>
          </a:p>
        </p:txBody>
      </p:sp>
      <p:sp>
        <p:nvSpPr>
          <p:cNvPr id="4" name="Text 1"/>
          <p:cNvSpPr/>
          <p:nvPr/>
        </p:nvSpPr>
        <p:spPr>
          <a:xfrm>
            <a:off x="952500" y="4316463"/>
            <a:ext cx="6705600" cy="348615"/>
          </a:xfrm>
          <a:prstGeom prst="rect">
            <a:avLst/>
          </a:prstGeom>
          <a:noFill/>
        </p:spPr>
        <p:txBody>
          <a:bodyPr wrap="square" lIns="272118" tIns="0" rIns="0" bIns="0" rtlCol="0" anchor="t">
            <a:spAutoFit/>
          </a:bodyPr>
          <a:lstStyle/>
          <a:p>
            <a:pPr marL="0" indent="0" algn="l">
              <a:buNone/>
            </a:pPr>
            <a:r>
              <a:rPr lang="en-US" sz="2265" dirty="0">
                <a:solidFill>
                  <a:srgbClr val="718096"/>
                </a:solidFill>
                <a:latin typeface="Inter Medium" pitchFamily="34" charset="0"/>
                <a:ea typeface="Inter Medium" pitchFamily="34" charset="-122"/>
                <a:cs typeface="Inter Medium" pitchFamily="34" charset="-120"/>
              </a:rPr>
              <a:t>全方位营销目标实现与媒体资源布局</a:t>
            </a:r>
            <a:endParaRPr lang="en-US" sz="226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项目上线必要的准备工作以及联盟竞品调研</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stretch>
            <a:fillRect/>
          </a:stretch>
        </p:blipFill>
        <p:spPr>
          <a:xfrm>
            <a:off x="266065" y="1362075"/>
            <a:ext cx="7553325" cy="4133850"/>
          </a:xfrm>
          <a:prstGeom prst="rect">
            <a:avLst/>
          </a:prstGeom>
        </p:spPr>
      </p:pic>
      <p:pic>
        <p:nvPicPr>
          <p:cNvPr id="6" name="图片 5"/>
          <p:cNvPicPr>
            <a:picLocks noChangeAspect="1"/>
          </p:cNvPicPr>
          <p:nvPr/>
        </p:nvPicPr>
        <p:blipFill>
          <a:blip r:embed="rId2"/>
          <a:stretch>
            <a:fillRect/>
          </a:stretch>
        </p:blipFill>
        <p:spPr>
          <a:xfrm>
            <a:off x="7024370" y="1290955"/>
            <a:ext cx="4719320" cy="4093845"/>
          </a:xfrm>
          <a:prstGeom prst="rect">
            <a:avLst/>
          </a:prstGeom>
        </p:spPr>
      </p:pic>
      <p:pic>
        <p:nvPicPr>
          <p:cNvPr id="2" name="圖片 1"/>
          <p:cNvPicPr>
            <a:picLocks noChangeAspect="1"/>
          </p:cNvPicPr>
          <p:nvPr/>
        </p:nvPicPr>
        <p:blipFill>
          <a:blip r:embed="rId3"/>
          <a:stretch>
            <a:fillRect/>
          </a:stretch>
        </p:blipFill>
        <p:spPr>
          <a:xfrm>
            <a:off x="0" y="80645"/>
            <a:ext cx="11953875" cy="66960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latin typeface="+mn-lt"/>
                <a:ea typeface="+mn-ea"/>
                <a:cs typeface="+mn-ea"/>
                <a:sym typeface="+mn-lt"/>
              </a:rPr>
              <a:t>如何运营好联盟</a:t>
            </a:r>
            <a:endParaRPr lang="zh-CN" altLang="en-US" dirty="0" smtClean="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1"/>
          <a:stretch>
            <a:fillRect/>
          </a:stretch>
        </p:blipFill>
        <p:spPr>
          <a:xfrm>
            <a:off x="417830" y="1494790"/>
            <a:ext cx="6972935" cy="2976245"/>
          </a:xfrm>
          <a:prstGeom prst="rect">
            <a:avLst/>
          </a:prstGeom>
        </p:spPr>
      </p:pic>
      <p:sp>
        <p:nvSpPr>
          <p:cNvPr id="15" name="矩形 14"/>
          <p:cNvSpPr/>
          <p:nvPr/>
        </p:nvSpPr>
        <p:spPr>
          <a:xfrm>
            <a:off x="7998460" y="1809115"/>
            <a:ext cx="1532890" cy="890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rgbClr val="FF0000"/>
                </a:solidFill>
              </a:rPr>
              <a:t>基本信息：</a:t>
            </a:r>
            <a:endParaRPr lang="zh-CN" altLang="en-US" sz="1000">
              <a:solidFill>
                <a:srgbClr val="FF0000"/>
              </a:solidFill>
            </a:endParaRPr>
          </a:p>
          <a:p>
            <a:pPr algn="ctr"/>
            <a:r>
              <a:rPr lang="zh-CN" altLang="en-US" sz="1000">
                <a:solidFill>
                  <a:srgbClr val="FF0000"/>
                </a:solidFill>
              </a:rPr>
              <a:t>公司介绍（英文）,联系信息,银行详细账号</a:t>
            </a:r>
            <a:endParaRPr lang="zh-CN" altLang="en-US" sz="1000">
              <a:solidFill>
                <a:srgbClr val="FF0000"/>
              </a:solidFill>
            </a:endParaRPr>
          </a:p>
        </p:txBody>
      </p:sp>
      <p:sp>
        <p:nvSpPr>
          <p:cNvPr id="16" name="矩形 15"/>
          <p:cNvSpPr/>
          <p:nvPr/>
        </p:nvSpPr>
        <p:spPr>
          <a:xfrm>
            <a:off x="10109200" y="2700020"/>
            <a:ext cx="1696720" cy="1006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rgbClr val="FF0000"/>
                </a:solidFill>
              </a:rPr>
              <a:t>合作方式</a:t>
            </a:r>
            <a:endParaRPr lang="zh-CN" altLang="en-US" sz="1000">
              <a:solidFill>
                <a:srgbClr val="FF0000"/>
              </a:solidFill>
            </a:endParaRPr>
          </a:p>
          <a:p>
            <a:pPr algn="ctr"/>
            <a:r>
              <a:rPr lang="zh-CN" altLang="en-US" sz="1000">
                <a:solidFill>
                  <a:srgbClr val="FF0000"/>
                </a:solidFill>
              </a:rPr>
              <a:t>计价模式（CPS)，佣金比例设置,付费设置,cooike时长设定,订单审核确认时长,payment terms等</a:t>
            </a:r>
            <a:endParaRPr lang="zh-CN" altLang="en-US" sz="1000">
              <a:solidFill>
                <a:srgbClr val="FF0000"/>
              </a:solidFill>
            </a:endParaRPr>
          </a:p>
        </p:txBody>
      </p:sp>
      <p:sp>
        <p:nvSpPr>
          <p:cNvPr id="17" name="矩形 16"/>
          <p:cNvSpPr/>
          <p:nvPr/>
        </p:nvSpPr>
        <p:spPr>
          <a:xfrm>
            <a:off x="7815580" y="4351655"/>
            <a:ext cx="1696720" cy="1006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rgbClr val="FF0000"/>
                </a:solidFill>
              </a:rPr>
              <a:t>明确规定推广的法律协议（for affiliate）</a:t>
            </a:r>
            <a:endParaRPr lang="zh-CN" altLang="en-US" sz="1000">
              <a:solidFill>
                <a:srgbClr val="FF0000"/>
              </a:solidFill>
            </a:endParaRPr>
          </a:p>
          <a:p>
            <a:pPr algn="ctr"/>
            <a:r>
              <a:rPr lang="zh-CN" altLang="en-US" sz="1000">
                <a:solidFill>
                  <a:srgbClr val="FF0000"/>
                </a:solidFill>
              </a:rPr>
              <a:t>允许哪些流量推广,对品牌词的要求,反作弊条款等</a:t>
            </a:r>
            <a:endParaRPr lang="zh-CN" altLang="en-US" sz="1000">
              <a:solidFill>
                <a:srgbClr val="FF0000"/>
              </a:solidFill>
            </a:endParaRPr>
          </a:p>
        </p:txBody>
      </p:sp>
      <p:sp>
        <p:nvSpPr>
          <p:cNvPr id="18" name="矩形 17"/>
          <p:cNvSpPr/>
          <p:nvPr/>
        </p:nvSpPr>
        <p:spPr>
          <a:xfrm>
            <a:off x="10045700" y="5422265"/>
            <a:ext cx="1696720" cy="1006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rgbClr val="FF0000"/>
                </a:solidFill>
              </a:rPr>
              <a:t>素材和落地页链接</a:t>
            </a:r>
            <a:endParaRPr lang="zh-CN" altLang="en-US" sz="1000">
              <a:solidFill>
                <a:srgbClr val="FF0000"/>
              </a:solidFill>
            </a:endParaRPr>
          </a:p>
          <a:p>
            <a:pPr algn="ctr"/>
            <a:r>
              <a:rPr lang="zh-CN" altLang="en-US" sz="1000">
                <a:solidFill>
                  <a:srgbClr val="FF0000"/>
                </a:solidFill>
              </a:rPr>
              <a:t>默认落地页,活动页,促销信息,优惠券,爆品推广素材,banner,文字广告内容,商品API,Data feed等</a:t>
            </a:r>
            <a:endParaRPr lang="zh-CN" altLang="en-US" sz="1000">
              <a:solidFill>
                <a:srgbClr val="FF0000"/>
              </a:solidFill>
            </a:endParaRPr>
          </a:p>
        </p:txBody>
      </p:sp>
      <p:sp>
        <p:nvSpPr>
          <p:cNvPr id="19" name="文本框 18"/>
          <p:cNvSpPr txBox="1"/>
          <p:nvPr/>
        </p:nvSpPr>
        <p:spPr>
          <a:xfrm>
            <a:off x="7998460" y="1265555"/>
            <a:ext cx="3905885" cy="306705"/>
          </a:xfrm>
          <a:prstGeom prst="rect">
            <a:avLst/>
          </a:prstGeom>
          <a:solidFill>
            <a:schemeClr val="accent1"/>
          </a:solidFill>
        </p:spPr>
        <p:txBody>
          <a:bodyPr wrap="square" rtlCol="0" anchor="t">
            <a:spAutoFit/>
          </a:bodyPr>
          <a:p>
            <a:r>
              <a:rPr lang="zh-CN" altLang="en-US" sz="1400"/>
              <a:t>合作前需要准备和确认好的基本信息</a:t>
            </a:r>
            <a:endParaRPr lang="zh-CN" altLang="en-US" sz="1400"/>
          </a:p>
        </p:txBody>
      </p:sp>
      <p:sp>
        <p:nvSpPr>
          <p:cNvPr id="21" name="文本框 20"/>
          <p:cNvSpPr txBox="1"/>
          <p:nvPr/>
        </p:nvSpPr>
        <p:spPr>
          <a:xfrm>
            <a:off x="514985" y="1108710"/>
            <a:ext cx="6875780" cy="306705"/>
          </a:xfrm>
          <a:prstGeom prst="rect">
            <a:avLst/>
          </a:prstGeom>
          <a:solidFill>
            <a:schemeClr val="accent1"/>
          </a:solidFill>
        </p:spPr>
        <p:txBody>
          <a:bodyPr wrap="square" rtlCol="0" anchor="t">
            <a:spAutoFit/>
          </a:bodyPr>
          <a:p>
            <a:r>
              <a:rPr lang="zh-CN" altLang="en-US" sz="1400"/>
              <a:t>如何开始与联盟客合作</a:t>
            </a:r>
            <a:endParaRPr lang="zh-CN" altLang="en-US" sz="1400"/>
          </a:p>
        </p:txBody>
      </p:sp>
      <p:sp>
        <p:nvSpPr>
          <p:cNvPr id="22" name="文本框 21"/>
          <p:cNvSpPr txBox="1"/>
          <p:nvPr/>
        </p:nvSpPr>
        <p:spPr>
          <a:xfrm>
            <a:off x="295910" y="4471035"/>
            <a:ext cx="7094855" cy="2306955"/>
          </a:xfrm>
          <a:prstGeom prst="rect">
            <a:avLst/>
          </a:prstGeom>
          <a:solidFill>
            <a:srgbClr val="FFB50B"/>
          </a:solidFill>
        </p:spPr>
        <p:txBody>
          <a:bodyPr wrap="square" rtlCol="0" anchor="t">
            <a:spAutoFit/>
          </a:bodyPr>
          <a:p>
            <a:r>
              <a:rPr lang="zh-CN" altLang="en-US" sz="1200"/>
              <a:t>如何运营好网盟：</a:t>
            </a:r>
            <a:endParaRPr lang="zh-CN" altLang="en-US" sz="1200"/>
          </a:p>
          <a:p>
            <a:endParaRPr lang="zh-CN" altLang="en-US" sz="1200"/>
          </a:p>
          <a:p>
            <a:pPr marL="171450" indent="-171450">
              <a:buFont typeface="Wingdings" panose="05000000000000000000" charset="0"/>
              <a:buChar char="l"/>
            </a:pPr>
            <a:r>
              <a:rPr lang="zh-CN" altLang="en-US" sz="1200"/>
              <a:t>定时上传需要推得产品图片,视频,商品API,Data feed</a:t>
            </a:r>
            <a:r>
              <a:rPr lang="en-US" altLang="zh-CN" sz="1200"/>
              <a:t>,coupon code</a:t>
            </a:r>
            <a:r>
              <a:rPr lang="zh-CN" altLang="en-US" sz="1200"/>
              <a:t>等</a:t>
            </a:r>
            <a:endParaRPr lang="zh-CN" altLang="en-US" sz="1200"/>
          </a:p>
          <a:p>
            <a:pPr marL="171450" indent="-171450">
              <a:buFont typeface="Wingdings" panose="05000000000000000000" charset="0"/>
              <a:buChar char="l"/>
            </a:pPr>
            <a:r>
              <a:rPr lang="zh-CN" altLang="en-US" sz="1200"/>
              <a:t>甄别筛选联盟客,并对联盟客进行分类分组</a:t>
            </a:r>
            <a:endParaRPr lang="zh-CN" altLang="en-US" sz="1200"/>
          </a:p>
          <a:p>
            <a:pPr marL="171450" indent="-171450">
              <a:buFont typeface="Wingdings" panose="05000000000000000000" charset="0"/>
              <a:buChar char="l"/>
            </a:pPr>
            <a:r>
              <a:rPr lang="zh-CN" altLang="en-US" sz="1200"/>
              <a:t>对于内容营销类型的联盟客（博客论坛, Youtube, IG网红等）可以提高佣金比例,鼓励内容输出</a:t>
            </a:r>
            <a:endParaRPr lang="zh-CN" altLang="en-US" sz="1200"/>
          </a:p>
          <a:p>
            <a:pPr marL="171450" indent="-171450">
              <a:buFont typeface="Wingdings" panose="05000000000000000000" charset="0"/>
              <a:buChar char="l"/>
            </a:pPr>
            <a:r>
              <a:rPr lang="zh-CN" altLang="en-US" sz="1200"/>
              <a:t>对于Deal,coupon,dsp, media buy等平台设置可以设置相对低的佣金</a:t>
            </a:r>
            <a:endParaRPr lang="zh-CN" altLang="en-US" sz="1200"/>
          </a:p>
          <a:p>
            <a:pPr marL="171450" indent="-171450">
              <a:buFont typeface="Wingdings" panose="05000000000000000000" charset="0"/>
              <a:buChar char="l"/>
            </a:pPr>
            <a:r>
              <a:rPr lang="zh-CN" altLang="en-US" sz="1200"/>
              <a:t>打造核心联盟客蓄水池,重点扶持直播等新兴带货玩法</a:t>
            </a:r>
            <a:endParaRPr lang="zh-CN" altLang="en-US" sz="1200"/>
          </a:p>
          <a:p>
            <a:pPr marL="171450" indent="-171450">
              <a:buFont typeface="Wingdings" panose="05000000000000000000" charset="0"/>
              <a:buChar char="l"/>
            </a:pPr>
            <a:r>
              <a:rPr lang="zh-CN" altLang="en-US" sz="1200"/>
              <a:t>重点维护大的联盟客关系,另外大力发展拓新尤其是social的联盟客</a:t>
            </a:r>
            <a:endParaRPr lang="zh-CN" altLang="en-US" sz="1200"/>
          </a:p>
          <a:p>
            <a:pPr marL="171450" indent="-171450">
              <a:buFont typeface="Wingdings" panose="05000000000000000000" charset="0"/>
              <a:buChar char="l"/>
            </a:pPr>
            <a:r>
              <a:rPr lang="zh-CN" altLang="en-US" sz="1200"/>
              <a:t>及时在网盟平台内告知联盟客佣金比例</a:t>
            </a:r>
            <a:r>
              <a:rPr lang="en-US" altLang="zh-CN" sz="1200"/>
              <a:t>,coupon code</a:t>
            </a:r>
            <a:r>
              <a:rPr lang="zh-CN" altLang="en-US" sz="1200"/>
              <a:t>等更新一键触达</a:t>
            </a:r>
            <a:endParaRPr lang="zh-CN" altLang="en-US" sz="1200"/>
          </a:p>
          <a:p>
            <a:pPr marL="171450" indent="-171450"/>
            <a:endParaRPr lang="zh-CN" altLang="en-US" sz="1200"/>
          </a:p>
          <a:p>
            <a:endParaRPr lang="zh-CN" altLang="en-US" sz="1200"/>
          </a:p>
          <a:p>
            <a:endParaRPr lang="zh-CN" altLang="en-US" sz="1200"/>
          </a:p>
        </p:txBody>
      </p:sp>
      <p:sp>
        <p:nvSpPr>
          <p:cNvPr id="23" name="矩形 22"/>
          <p:cNvSpPr/>
          <p:nvPr/>
        </p:nvSpPr>
        <p:spPr>
          <a:xfrm>
            <a:off x="7593965" y="1108710"/>
            <a:ext cx="4389120" cy="5530850"/>
          </a:xfrm>
          <a:prstGeom prst="rect">
            <a:avLst/>
          </a:prstGeom>
          <a:noFill/>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4" name="直接箭头连接符 23"/>
          <p:cNvCxnSpPr/>
          <p:nvPr/>
        </p:nvCxnSpPr>
        <p:spPr>
          <a:xfrm flipH="1">
            <a:off x="9745345" y="1885315"/>
            <a:ext cx="9525" cy="4581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 name="圖片 1"/>
          <p:cNvPicPr>
            <a:picLocks noChangeAspect="1"/>
          </p:cNvPicPr>
          <p:nvPr/>
        </p:nvPicPr>
        <p:blipFill>
          <a:blip r:embed="rId2"/>
          <a:stretch>
            <a:fillRect/>
          </a:stretch>
        </p:blipFill>
        <p:spPr>
          <a:xfrm>
            <a:off x="-104140" y="0"/>
            <a:ext cx="12087225" cy="6762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762000" y="571500"/>
            <a:ext cx="10668000" cy="410210"/>
          </a:xfrm>
          <a:prstGeom prst="rect">
            <a:avLst/>
          </a:prstGeom>
          <a:noFill/>
        </p:spPr>
        <p:txBody>
          <a:bodyPr wrap="square" lIns="0" tIns="0" rIns="0" bIns="0" rtlCol="0" anchor="t">
            <a:spAutoFit/>
          </a:bodyPr>
          <a:lstStyle/>
          <a:p>
            <a:pPr marL="0" indent="0" algn="l">
              <a:buNone/>
            </a:pPr>
            <a:r>
              <a:rPr lang="en-US" sz="2665" b="1" dirty="0">
                <a:solidFill>
                  <a:srgbClr val="2D3748"/>
                </a:solidFill>
                <a:latin typeface="Inter ExtraBold" pitchFamily="34" charset="0"/>
                <a:ea typeface="Inter ExtraBold" pitchFamily="34" charset="-122"/>
                <a:cs typeface="Inter ExtraBold" pitchFamily="34" charset="-120"/>
              </a:rPr>
              <a:t>多样化资源布局：实现全方位营销目标</a:t>
            </a:r>
            <a:endParaRPr lang="en-US" sz="2665" dirty="0"/>
          </a:p>
        </p:txBody>
      </p:sp>
      <p:sp>
        <p:nvSpPr>
          <p:cNvPr id="4" name="Text 1"/>
          <p:cNvSpPr/>
          <p:nvPr/>
        </p:nvSpPr>
        <p:spPr>
          <a:xfrm>
            <a:off x="762000" y="1866900"/>
            <a:ext cx="3301975" cy="287020"/>
          </a:xfrm>
          <a:prstGeom prst="rect">
            <a:avLst/>
          </a:prstGeom>
          <a:noFill/>
        </p:spPr>
        <p:txBody>
          <a:bodyPr wrap="square" lIns="0" tIns="0" rIns="0" bIns="0" rtlCol="0" anchor="t">
            <a:spAutoFit/>
          </a:bodyPr>
          <a:lstStyle/>
          <a:p>
            <a:pPr marL="0" indent="0" algn="l">
              <a:buNone/>
            </a:pPr>
            <a:r>
              <a:rPr lang="en-US" sz="1865" b="1" dirty="0">
                <a:solidFill>
                  <a:srgbClr val="6B46C1"/>
                </a:solidFill>
                <a:latin typeface="Inter ExtraBold" pitchFamily="34" charset="0"/>
                <a:ea typeface="Inter ExtraBold" pitchFamily="34" charset="-122"/>
                <a:cs typeface="Inter ExtraBold" pitchFamily="34" charset="-120"/>
              </a:rPr>
              <a:t>认知阶段 (AWARENESS)</a:t>
            </a:r>
            <a:endParaRPr lang="en-US" sz="1865" dirty="0"/>
          </a:p>
        </p:txBody>
      </p:sp>
      <p:sp>
        <p:nvSpPr>
          <p:cNvPr id="5" name="Shape 2"/>
          <p:cNvSpPr/>
          <p:nvPr/>
        </p:nvSpPr>
        <p:spPr>
          <a:xfrm>
            <a:off x="762000" y="2369344"/>
            <a:ext cx="1752600" cy="473869"/>
          </a:xfrm>
          <a:prstGeom prst="rect">
            <a:avLst/>
          </a:prstGeom>
          <a:solidFill>
            <a:srgbClr val="F7FAFC"/>
          </a:solidFill>
        </p:spPr>
      </p:sp>
      <p:sp>
        <p:nvSpPr>
          <p:cNvPr id="6" name="Text 3"/>
          <p:cNvSpPr/>
          <p:nvPr/>
        </p:nvSpPr>
        <p:spPr>
          <a:xfrm>
            <a:off x="762000" y="2369344"/>
            <a:ext cx="1752600" cy="451485"/>
          </a:xfrm>
          <a:prstGeom prst="rect">
            <a:avLst/>
          </a:prstGeom>
          <a:noFill/>
        </p:spPr>
        <p:txBody>
          <a:bodyPr wrap="square" lIns="170010" tIns="113453" rIns="170010" bIns="113453" rtlCol="0" anchor="t">
            <a:spAutoFit/>
          </a:bodyPr>
          <a:lstStyle/>
          <a:p>
            <a:pPr marL="0" indent="0" algn="l">
              <a:buNone/>
            </a:pPr>
            <a:r>
              <a:rPr lang="en-US" sz="1465" b="1" dirty="0">
                <a:solidFill>
                  <a:srgbClr val="2D3748"/>
                </a:solidFill>
                <a:latin typeface="Inter ExtraBold" pitchFamily="34" charset="0"/>
                <a:ea typeface="Inter ExtraBold" pitchFamily="34" charset="-122"/>
                <a:cs typeface="Inter ExtraBold" pitchFamily="34" charset="-120"/>
              </a:rPr>
              <a:t>提升品牌知名度</a:t>
            </a:r>
            <a:endParaRPr lang="en-US" sz="1465" dirty="0"/>
          </a:p>
        </p:txBody>
      </p:sp>
      <p:sp>
        <p:nvSpPr>
          <p:cNvPr id="7" name="Text 4"/>
          <p:cNvSpPr/>
          <p:nvPr/>
        </p:nvSpPr>
        <p:spPr>
          <a:xfrm>
            <a:off x="762000" y="3033712"/>
            <a:ext cx="3301975"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718096"/>
                </a:solidFill>
                <a:latin typeface="Inter Medium" pitchFamily="34" charset="0"/>
                <a:ea typeface="Inter Medium" pitchFamily="34" charset="-122"/>
                <a:cs typeface="Inter Medium" pitchFamily="34" charset="-120"/>
              </a:rPr>
              <a:t>通过内容类媒体进行大规模品牌宣传和曝光触达，激发潜在消费者兴趣。</a:t>
            </a:r>
            <a:endParaRPr lang="en-US" sz="1265" dirty="0"/>
          </a:p>
        </p:txBody>
      </p:sp>
      <p:sp>
        <p:nvSpPr>
          <p:cNvPr id="8" name="Text 5"/>
          <p:cNvSpPr/>
          <p:nvPr/>
        </p:nvSpPr>
        <p:spPr>
          <a:xfrm>
            <a:off x="762000" y="3820417"/>
            <a:ext cx="3301975"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新闻媒体 (CNN, Yahoo!)</a:t>
            </a:r>
            <a:endParaRPr lang="en-US" sz="1200" dirty="0"/>
          </a:p>
        </p:txBody>
      </p:sp>
      <p:sp>
        <p:nvSpPr>
          <p:cNvPr id="9" name="Text 6"/>
          <p:cNvSpPr/>
          <p:nvPr/>
        </p:nvSpPr>
        <p:spPr>
          <a:xfrm>
            <a:off x="762000" y="4144268"/>
            <a:ext cx="3301975"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社交媒体 (IG, FB, YT)</a:t>
            </a:r>
            <a:endParaRPr lang="en-US" sz="1200" dirty="0"/>
          </a:p>
        </p:txBody>
      </p:sp>
      <p:sp>
        <p:nvSpPr>
          <p:cNvPr id="10" name="Text 7"/>
          <p:cNvSpPr/>
          <p:nvPr/>
        </p:nvSpPr>
        <p:spPr>
          <a:xfrm>
            <a:off x="4444975" y="1866900"/>
            <a:ext cx="3302012" cy="287020"/>
          </a:xfrm>
          <a:prstGeom prst="rect">
            <a:avLst/>
          </a:prstGeom>
          <a:noFill/>
        </p:spPr>
        <p:txBody>
          <a:bodyPr wrap="square" lIns="0" tIns="0" rIns="0" bIns="0" rtlCol="0" anchor="t">
            <a:spAutoFit/>
          </a:bodyPr>
          <a:lstStyle/>
          <a:p>
            <a:pPr marL="0" indent="0" algn="l">
              <a:buNone/>
            </a:pPr>
            <a:r>
              <a:rPr lang="en-US" sz="1865" b="1" dirty="0">
                <a:solidFill>
                  <a:srgbClr val="F56565"/>
                </a:solidFill>
                <a:latin typeface="Inter ExtraBold" pitchFamily="34" charset="0"/>
                <a:ea typeface="Inter ExtraBold" pitchFamily="34" charset="-122"/>
                <a:cs typeface="Inter ExtraBold" pitchFamily="34" charset="-120"/>
              </a:rPr>
              <a:t>考虑阶段 (CONSIDERATION)</a:t>
            </a:r>
            <a:endParaRPr lang="en-US" sz="1865" dirty="0"/>
          </a:p>
        </p:txBody>
      </p:sp>
      <p:sp>
        <p:nvSpPr>
          <p:cNvPr id="11" name="Shape 8"/>
          <p:cNvSpPr/>
          <p:nvPr/>
        </p:nvSpPr>
        <p:spPr>
          <a:xfrm>
            <a:off x="4444975" y="2693193"/>
            <a:ext cx="1543051" cy="473869"/>
          </a:xfrm>
          <a:prstGeom prst="rect">
            <a:avLst/>
          </a:prstGeom>
          <a:solidFill>
            <a:srgbClr val="F7FAFC"/>
          </a:solidFill>
        </p:spPr>
      </p:sp>
      <p:sp>
        <p:nvSpPr>
          <p:cNvPr id="12" name="Text 9"/>
          <p:cNvSpPr/>
          <p:nvPr/>
        </p:nvSpPr>
        <p:spPr>
          <a:xfrm>
            <a:off x="4444975" y="2693193"/>
            <a:ext cx="1466850" cy="451485"/>
          </a:xfrm>
          <a:prstGeom prst="rect">
            <a:avLst/>
          </a:prstGeom>
          <a:noFill/>
        </p:spPr>
        <p:txBody>
          <a:bodyPr wrap="none" lIns="170010" tIns="113453" rIns="170010" bIns="113453" rtlCol="0" anchor="t">
            <a:spAutoFit/>
          </a:bodyPr>
          <a:lstStyle/>
          <a:p>
            <a:pPr marL="0" indent="0" algn="l">
              <a:buNone/>
            </a:pPr>
            <a:r>
              <a:rPr lang="en-US" sz="1465" b="1" dirty="0">
                <a:solidFill>
                  <a:srgbClr val="2D3748"/>
                </a:solidFill>
                <a:latin typeface="Inter ExtraBold" pitchFamily="34" charset="0"/>
                <a:ea typeface="Inter ExtraBold" pitchFamily="34" charset="-122"/>
                <a:cs typeface="Inter ExtraBold" pitchFamily="34" charset="-120"/>
              </a:rPr>
              <a:t>巩固品牌心智</a:t>
            </a:r>
            <a:endParaRPr lang="en-US" sz="1465" dirty="0"/>
          </a:p>
        </p:txBody>
      </p:sp>
      <p:sp>
        <p:nvSpPr>
          <p:cNvPr id="13" name="Text 10"/>
          <p:cNvSpPr/>
          <p:nvPr/>
        </p:nvSpPr>
        <p:spPr>
          <a:xfrm>
            <a:off x="4444975" y="3357563"/>
            <a:ext cx="3302012"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718096"/>
                </a:solidFill>
                <a:latin typeface="Inter Medium" pitchFamily="34" charset="0"/>
                <a:ea typeface="Inter Medium" pitchFamily="34" charset="-122"/>
                <a:cs typeface="Inter Medium" pitchFamily="34" charset="-120"/>
              </a:rPr>
              <a:t>通过强引导性的产品背书建立用户信任，增强购买意图。</a:t>
            </a:r>
            <a:endParaRPr lang="en-US" sz="1265" dirty="0"/>
          </a:p>
        </p:txBody>
      </p:sp>
      <p:sp>
        <p:nvSpPr>
          <p:cNvPr id="14" name="Text 11"/>
          <p:cNvSpPr/>
          <p:nvPr/>
        </p:nvSpPr>
        <p:spPr>
          <a:xfrm>
            <a:off x="4444975" y="4144268"/>
            <a:ext cx="3302012"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导购/Review 站 (Dealmoon)</a:t>
            </a:r>
            <a:endParaRPr lang="en-US" sz="1200" dirty="0"/>
          </a:p>
        </p:txBody>
      </p:sp>
      <p:sp>
        <p:nvSpPr>
          <p:cNvPr id="15" name="Text 12"/>
          <p:cNvSpPr/>
          <p:nvPr/>
        </p:nvSpPr>
        <p:spPr>
          <a:xfrm>
            <a:off x="4444975" y="4468117"/>
            <a:ext cx="3302012"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评论站</a:t>
            </a:r>
            <a:endParaRPr lang="en-US" sz="1200" dirty="0"/>
          </a:p>
        </p:txBody>
      </p:sp>
      <p:sp>
        <p:nvSpPr>
          <p:cNvPr id="16" name="Text 13"/>
          <p:cNvSpPr/>
          <p:nvPr/>
        </p:nvSpPr>
        <p:spPr>
          <a:xfrm>
            <a:off x="8127988" y="1866900"/>
            <a:ext cx="3301975" cy="287020"/>
          </a:xfrm>
          <a:prstGeom prst="rect">
            <a:avLst/>
          </a:prstGeom>
          <a:noFill/>
        </p:spPr>
        <p:txBody>
          <a:bodyPr wrap="square" lIns="0" tIns="0" rIns="0" bIns="0" rtlCol="0" anchor="t">
            <a:spAutoFit/>
          </a:bodyPr>
          <a:lstStyle/>
          <a:p>
            <a:pPr marL="0" indent="0" algn="l">
              <a:buNone/>
            </a:pPr>
            <a:r>
              <a:rPr lang="en-US" sz="1865" b="1" dirty="0">
                <a:solidFill>
                  <a:srgbClr val="2D3748"/>
                </a:solidFill>
                <a:latin typeface="Inter ExtraBold" pitchFamily="34" charset="0"/>
                <a:ea typeface="Inter ExtraBold" pitchFamily="34" charset="-122"/>
                <a:cs typeface="Inter ExtraBold" pitchFamily="34" charset="-120"/>
              </a:rPr>
              <a:t>转化阶段 (CONVERSION)</a:t>
            </a:r>
            <a:endParaRPr lang="en-US" sz="1865" dirty="0"/>
          </a:p>
        </p:txBody>
      </p:sp>
      <p:sp>
        <p:nvSpPr>
          <p:cNvPr id="17" name="Shape 14"/>
          <p:cNvSpPr/>
          <p:nvPr/>
        </p:nvSpPr>
        <p:spPr>
          <a:xfrm>
            <a:off x="8127988" y="2369344"/>
            <a:ext cx="1543051" cy="473869"/>
          </a:xfrm>
          <a:prstGeom prst="rect">
            <a:avLst/>
          </a:prstGeom>
          <a:solidFill>
            <a:srgbClr val="F7FAFC"/>
          </a:solidFill>
        </p:spPr>
      </p:sp>
      <p:sp>
        <p:nvSpPr>
          <p:cNvPr id="18" name="Text 15"/>
          <p:cNvSpPr/>
          <p:nvPr/>
        </p:nvSpPr>
        <p:spPr>
          <a:xfrm>
            <a:off x="8127988" y="2369344"/>
            <a:ext cx="1466850" cy="451485"/>
          </a:xfrm>
          <a:prstGeom prst="rect">
            <a:avLst/>
          </a:prstGeom>
          <a:noFill/>
        </p:spPr>
        <p:txBody>
          <a:bodyPr wrap="none" lIns="170010" tIns="113453" rIns="170010" bIns="113453" rtlCol="0" anchor="t">
            <a:spAutoFit/>
          </a:bodyPr>
          <a:lstStyle/>
          <a:p>
            <a:pPr marL="0" indent="0" algn="l">
              <a:buNone/>
            </a:pPr>
            <a:r>
              <a:rPr lang="en-US" sz="1465" b="1" dirty="0">
                <a:solidFill>
                  <a:srgbClr val="2D3748"/>
                </a:solidFill>
                <a:latin typeface="Inter ExtraBold" pitchFamily="34" charset="0"/>
                <a:ea typeface="Inter ExtraBold" pitchFamily="34" charset="-122"/>
                <a:cs typeface="Inter ExtraBold" pitchFamily="34" charset="-120"/>
              </a:rPr>
              <a:t>驱动最终购买</a:t>
            </a:r>
            <a:endParaRPr lang="en-US" sz="1465" dirty="0"/>
          </a:p>
        </p:txBody>
      </p:sp>
      <p:sp>
        <p:nvSpPr>
          <p:cNvPr id="19" name="Text 16"/>
          <p:cNvSpPr/>
          <p:nvPr/>
        </p:nvSpPr>
        <p:spPr>
          <a:xfrm>
            <a:off x="8127988" y="3033712"/>
            <a:ext cx="3301975"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718096"/>
                </a:solidFill>
                <a:latin typeface="Inter Medium" pitchFamily="34" charset="0"/>
                <a:ea typeface="Inter Medium" pitchFamily="34" charset="-122"/>
                <a:cs typeface="Inter Medium" pitchFamily="34" charset="-120"/>
              </a:rPr>
              <a:t>利用价格优势和优惠刺激，打破信息差，促成用户下单。</a:t>
            </a:r>
            <a:endParaRPr lang="en-US" sz="1265" dirty="0"/>
          </a:p>
        </p:txBody>
      </p:sp>
      <p:sp>
        <p:nvSpPr>
          <p:cNvPr id="20" name="Text 17"/>
          <p:cNvSpPr/>
          <p:nvPr/>
        </p:nvSpPr>
        <p:spPr>
          <a:xfrm>
            <a:off x="8127988" y="3820417"/>
            <a:ext cx="3301975"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Cashback / Coupon 站</a:t>
            </a:r>
            <a:endParaRPr lang="en-US" sz="1200" dirty="0"/>
          </a:p>
        </p:txBody>
      </p:sp>
      <p:sp>
        <p:nvSpPr>
          <p:cNvPr id="21" name="Text 18"/>
          <p:cNvSpPr/>
          <p:nvPr/>
        </p:nvSpPr>
        <p:spPr>
          <a:xfrm>
            <a:off x="8127988" y="4144268"/>
            <a:ext cx="3301975" cy="184150"/>
          </a:xfrm>
          <a:prstGeom prst="rect">
            <a:avLst/>
          </a:prstGeom>
          <a:noFill/>
        </p:spPr>
        <p:txBody>
          <a:bodyPr wrap="square" lIns="0" tIns="0" rIns="0" bIns="0" rtlCol="0" anchor="t">
            <a:spAutoFit/>
          </a:bodyPr>
          <a:lstStyle/>
          <a:p>
            <a:pPr marL="0" indent="0" algn="l">
              <a:buNone/>
            </a:pPr>
            <a:r>
              <a:rPr lang="en-US" sz="1200" b="1" dirty="0">
                <a:solidFill>
                  <a:srgbClr val="2D3748"/>
                </a:solidFill>
                <a:latin typeface="Inter ExtraBold" pitchFamily="34" charset="0"/>
                <a:ea typeface="Inter ExtraBold" pitchFamily="34" charset="-122"/>
                <a:cs typeface="Inter ExtraBold" pitchFamily="34" charset="-120"/>
              </a:rPr>
              <a:t>Deal / 比价站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762000" y="571500"/>
            <a:ext cx="10668000" cy="410210"/>
          </a:xfrm>
          <a:prstGeom prst="rect">
            <a:avLst/>
          </a:prstGeom>
          <a:noFill/>
        </p:spPr>
        <p:txBody>
          <a:bodyPr wrap="square" lIns="0" tIns="0" rIns="0" bIns="0" rtlCol="0" anchor="t">
            <a:spAutoFit/>
          </a:bodyPr>
          <a:lstStyle/>
          <a:p>
            <a:pPr marL="0" indent="0" algn="l">
              <a:buNone/>
            </a:pPr>
            <a:r>
              <a:rPr lang="en-US" sz="2665" b="1" dirty="0">
                <a:solidFill>
                  <a:srgbClr val="2D3748"/>
                </a:solidFill>
                <a:latin typeface="Inter ExtraBold" pitchFamily="34" charset="0"/>
                <a:ea typeface="Inter ExtraBold" pitchFamily="34" charset="-122"/>
                <a:cs typeface="Inter ExtraBold" pitchFamily="34" charset="-120"/>
              </a:rPr>
              <a:t>头部分销渠道：构建多元化分销生态网</a:t>
            </a:r>
            <a:endParaRPr lang="en-US" sz="2665" dirty="0"/>
          </a:p>
        </p:txBody>
      </p:sp>
      <p:pic>
        <p:nvPicPr>
          <p:cNvPr id="4" name="Image 1" descr="preencoded.png"/>
          <p:cNvPicPr>
            <a:picLocks noChangeAspect="1"/>
          </p:cNvPicPr>
          <p:nvPr/>
        </p:nvPicPr>
        <p:blipFill>
          <a:blip r:embed="rId2"/>
          <a:stretch>
            <a:fillRect/>
          </a:stretch>
        </p:blipFill>
        <p:spPr>
          <a:xfrm>
            <a:off x="762000" y="1819275"/>
            <a:ext cx="304800" cy="304800"/>
          </a:xfrm>
          <a:prstGeom prst="rect">
            <a:avLst/>
          </a:prstGeom>
        </p:spPr>
      </p:pic>
      <p:sp>
        <p:nvSpPr>
          <p:cNvPr id="5" name="Text 1"/>
          <p:cNvSpPr/>
          <p:nvPr/>
        </p:nvSpPr>
        <p:spPr>
          <a:xfrm>
            <a:off x="762000" y="2302669"/>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Price / 比价网站</a:t>
            </a:r>
            <a:endParaRPr lang="en-US" sz="1335" dirty="0"/>
          </a:p>
        </p:txBody>
      </p:sp>
      <p:sp>
        <p:nvSpPr>
          <p:cNvPr id="6" name="Text 2"/>
          <p:cNvSpPr/>
          <p:nvPr/>
        </p:nvSpPr>
        <p:spPr>
          <a:xfrm>
            <a:off x="762000" y="2655093"/>
            <a:ext cx="2452688" cy="420370"/>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提供价格透明度，吸引价格敏感型用户。</a:t>
            </a:r>
            <a:endParaRPr lang="en-US" sz="1135" dirty="0"/>
          </a:p>
        </p:txBody>
      </p:sp>
      <p:pic>
        <p:nvPicPr>
          <p:cNvPr id="7" name="Image 2" descr="preencoded.png"/>
          <p:cNvPicPr>
            <a:picLocks noChangeAspect="1"/>
          </p:cNvPicPr>
          <p:nvPr/>
        </p:nvPicPr>
        <p:blipFill>
          <a:blip r:embed="rId3"/>
          <a:stretch>
            <a:fillRect/>
          </a:stretch>
        </p:blipFill>
        <p:spPr>
          <a:xfrm>
            <a:off x="3500437" y="1819275"/>
            <a:ext cx="304800" cy="304800"/>
          </a:xfrm>
          <a:prstGeom prst="rect">
            <a:avLst/>
          </a:prstGeom>
        </p:spPr>
      </p:pic>
      <p:sp>
        <p:nvSpPr>
          <p:cNvPr id="8" name="Text 3"/>
          <p:cNvSpPr/>
          <p:nvPr/>
        </p:nvSpPr>
        <p:spPr>
          <a:xfrm>
            <a:off x="3500437" y="2302669"/>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Email / 邮件营销</a:t>
            </a:r>
            <a:endParaRPr lang="en-US" sz="1335" dirty="0"/>
          </a:p>
        </p:txBody>
      </p:sp>
      <p:sp>
        <p:nvSpPr>
          <p:cNvPr id="9" name="Text 4"/>
          <p:cNvSpPr/>
          <p:nvPr/>
        </p:nvSpPr>
        <p:spPr>
          <a:xfrm>
            <a:off x="3500437" y="2655093"/>
            <a:ext cx="217170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精准推送，建立长期的用户关系。</a:t>
            </a:r>
            <a:endParaRPr lang="en-US" sz="1135" dirty="0"/>
          </a:p>
        </p:txBody>
      </p:sp>
      <p:pic>
        <p:nvPicPr>
          <p:cNvPr id="10" name="Image 3" descr="preencoded.png"/>
          <p:cNvPicPr>
            <a:picLocks noChangeAspect="1"/>
          </p:cNvPicPr>
          <p:nvPr/>
        </p:nvPicPr>
        <p:blipFill>
          <a:blip r:embed="rId4"/>
          <a:stretch>
            <a:fillRect/>
          </a:stretch>
        </p:blipFill>
        <p:spPr>
          <a:xfrm>
            <a:off x="6238875" y="1819275"/>
            <a:ext cx="342900" cy="304800"/>
          </a:xfrm>
          <a:prstGeom prst="rect">
            <a:avLst/>
          </a:prstGeom>
        </p:spPr>
      </p:pic>
      <p:sp>
        <p:nvSpPr>
          <p:cNvPr id="11" name="Text 5"/>
          <p:cNvSpPr/>
          <p:nvPr/>
        </p:nvSpPr>
        <p:spPr>
          <a:xfrm>
            <a:off x="6238875" y="2302669"/>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Vouchers / 券码平台</a:t>
            </a:r>
            <a:endParaRPr lang="en-US" sz="1335" dirty="0"/>
          </a:p>
        </p:txBody>
      </p:sp>
      <p:sp>
        <p:nvSpPr>
          <p:cNvPr id="12" name="Text 6"/>
          <p:cNvSpPr/>
          <p:nvPr/>
        </p:nvSpPr>
        <p:spPr>
          <a:xfrm>
            <a:off x="6238875" y="2655093"/>
            <a:ext cx="2452688" cy="210185"/>
          </a:xfrm>
          <a:prstGeom prst="rect">
            <a:avLst/>
          </a:prstGeom>
          <a:noFill/>
        </p:spPr>
        <p:txBody>
          <a:bodyPr wrap="squar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临门一脚的促活工具，刺激即时转化。</a:t>
            </a:r>
            <a:endParaRPr lang="en-US" sz="1135" dirty="0"/>
          </a:p>
        </p:txBody>
      </p:sp>
      <p:pic>
        <p:nvPicPr>
          <p:cNvPr id="13" name="Image 4" descr="preencoded.png"/>
          <p:cNvPicPr>
            <a:picLocks noChangeAspect="1"/>
          </p:cNvPicPr>
          <p:nvPr/>
        </p:nvPicPr>
        <p:blipFill>
          <a:blip r:embed="rId5"/>
          <a:stretch>
            <a:fillRect/>
          </a:stretch>
        </p:blipFill>
        <p:spPr>
          <a:xfrm>
            <a:off x="8977312" y="1819275"/>
            <a:ext cx="304800" cy="304800"/>
          </a:xfrm>
          <a:prstGeom prst="rect">
            <a:avLst/>
          </a:prstGeom>
        </p:spPr>
      </p:pic>
      <p:sp>
        <p:nvSpPr>
          <p:cNvPr id="14" name="Text 7"/>
          <p:cNvSpPr/>
          <p:nvPr/>
        </p:nvSpPr>
        <p:spPr>
          <a:xfrm>
            <a:off x="8977312" y="2302669"/>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Technology / 技术平台</a:t>
            </a:r>
            <a:endParaRPr lang="en-US" sz="1335" dirty="0"/>
          </a:p>
        </p:txBody>
      </p:sp>
      <p:sp>
        <p:nvSpPr>
          <p:cNvPr id="15" name="Text 8"/>
          <p:cNvSpPr/>
          <p:nvPr/>
        </p:nvSpPr>
        <p:spPr>
          <a:xfrm>
            <a:off x="8977312" y="2655093"/>
            <a:ext cx="217170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提供追踪、结算等底层技术支持。</a:t>
            </a:r>
            <a:endParaRPr lang="en-US" sz="1135" dirty="0"/>
          </a:p>
        </p:txBody>
      </p:sp>
      <p:pic>
        <p:nvPicPr>
          <p:cNvPr id="16" name="Image 5" descr="preencoded.png"/>
          <p:cNvPicPr>
            <a:picLocks noChangeAspect="1"/>
          </p:cNvPicPr>
          <p:nvPr/>
        </p:nvPicPr>
        <p:blipFill>
          <a:blip r:embed="rId6"/>
          <a:stretch>
            <a:fillRect/>
          </a:stretch>
        </p:blipFill>
        <p:spPr>
          <a:xfrm>
            <a:off x="762000" y="3655219"/>
            <a:ext cx="304800" cy="304800"/>
          </a:xfrm>
          <a:prstGeom prst="rect">
            <a:avLst/>
          </a:prstGeom>
        </p:spPr>
      </p:pic>
      <p:sp>
        <p:nvSpPr>
          <p:cNvPr id="17" name="Text 9"/>
          <p:cNvSpPr/>
          <p:nvPr/>
        </p:nvSpPr>
        <p:spPr>
          <a:xfrm>
            <a:off x="762000" y="4138612"/>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Incentive / 奖励计划</a:t>
            </a:r>
            <a:endParaRPr lang="en-US" sz="1335" dirty="0"/>
          </a:p>
        </p:txBody>
      </p:sp>
      <p:sp>
        <p:nvSpPr>
          <p:cNvPr id="18" name="Text 10"/>
          <p:cNvSpPr/>
          <p:nvPr/>
        </p:nvSpPr>
        <p:spPr>
          <a:xfrm>
            <a:off x="762000" y="4491037"/>
            <a:ext cx="202692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通过返利或福利增强用户粘性。</a:t>
            </a:r>
            <a:endParaRPr lang="en-US" sz="1135" dirty="0"/>
          </a:p>
        </p:txBody>
      </p:sp>
      <p:pic>
        <p:nvPicPr>
          <p:cNvPr id="19" name="Image 6" descr="preencoded.png"/>
          <p:cNvPicPr>
            <a:picLocks noChangeAspect="1"/>
          </p:cNvPicPr>
          <p:nvPr/>
        </p:nvPicPr>
        <p:blipFill>
          <a:blip r:embed="rId7"/>
          <a:stretch>
            <a:fillRect/>
          </a:stretch>
        </p:blipFill>
        <p:spPr>
          <a:xfrm>
            <a:off x="3500437" y="3655219"/>
            <a:ext cx="304800" cy="304800"/>
          </a:xfrm>
          <a:prstGeom prst="rect">
            <a:avLst/>
          </a:prstGeom>
        </p:spPr>
      </p:pic>
      <p:sp>
        <p:nvSpPr>
          <p:cNvPr id="20" name="Text 11"/>
          <p:cNvSpPr/>
          <p:nvPr/>
        </p:nvSpPr>
        <p:spPr>
          <a:xfrm>
            <a:off x="3500437" y="4138612"/>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PPC 搜索 (Paid Search)</a:t>
            </a:r>
            <a:endParaRPr lang="en-US" sz="1335" dirty="0"/>
          </a:p>
        </p:txBody>
      </p:sp>
      <p:sp>
        <p:nvSpPr>
          <p:cNvPr id="21" name="Text 12"/>
          <p:cNvSpPr/>
          <p:nvPr/>
        </p:nvSpPr>
        <p:spPr>
          <a:xfrm>
            <a:off x="3500437" y="4491037"/>
            <a:ext cx="217170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在搜索入口截流，提高转化效率。</a:t>
            </a:r>
            <a:endParaRPr lang="en-US" sz="1135" dirty="0"/>
          </a:p>
        </p:txBody>
      </p:sp>
      <p:pic>
        <p:nvPicPr>
          <p:cNvPr id="22" name="Image 7" descr="preencoded.png"/>
          <p:cNvPicPr>
            <a:picLocks noChangeAspect="1"/>
          </p:cNvPicPr>
          <p:nvPr/>
        </p:nvPicPr>
        <p:blipFill>
          <a:blip r:embed="rId8"/>
          <a:stretch>
            <a:fillRect/>
          </a:stretch>
        </p:blipFill>
        <p:spPr>
          <a:xfrm>
            <a:off x="6238875" y="3655219"/>
            <a:ext cx="304800" cy="304800"/>
          </a:xfrm>
          <a:prstGeom prst="rect">
            <a:avLst/>
          </a:prstGeom>
        </p:spPr>
      </p:pic>
      <p:sp>
        <p:nvSpPr>
          <p:cNvPr id="23" name="Text 13"/>
          <p:cNvSpPr/>
          <p:nvPr/>
        </p:nvSpPr>
        <p:spPr>
          <a:xfrm>
            <a:off x="6238875" y="4138612"/>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Content / 内容分销</a:t>
            </a:r>
            <a:endParaRPr lang="en-US" sz="1335" dirty="0"/>
          </a:p>
        </p:txBody>
      </p:sp>
      <p:sp>
        <p:nvSpPr>
          <p:cNvPr id="24" name="Text 14"/>
          <p:cNvSpPr/>
          <p:nvPr/>
        </p:nvSpPr>
        <p:spPr>
          <a:xfrm>
            <a:off x="6238875" y="4491037"/>
            <a:ext cx="231648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深度种草，通过优质内容影响决策。</a:t>
            </a:r>
            <a:endParaRPr lang="en-US" sz="1135" dirty="0"/>
          </a:p>
        </p:txBody>
      </p:sp>
      <p:pic>
        <p:nvPicPr>
          <p:cNvPr id="25" name="Image 8" descr="preencoded.png"/>
          <p:cNvPicPr>
            <a:picLocks noChangeAspect="1"/>
          </p:cNvPicPr>
          <p:nvPr/>
        </p:nvPicPr>
        <p:blipFill>
          <a:blip r:embed="rId9"/>
          <a:stretch>
            <a:fillRect/>
          </a:stretch>
        </p:blipFill>
        <p:spPr>
          <a:xfrm>
            <a:off x="8977312" y="3655219"/>
            <a:ext cx="304800" cy="304800"/>
          </a:xfrm>
          <a:prstGeom prst="rect">
            <a:avLst/>
          </a:prstGeom>
        </p:spPr>
      </p:pic>
      <p:sp>
        <p:nvSpPr>
          <p:cNvPr id="26" name="Text 15"/>
          <p:cNvSpPr/>
          <p:nvPr/>
        </p:nvSpPr>
        <p:spPr>
          <a:xfrm>
            <a:off x="8977312" y="4138612"/>
            <a:ext cx="2452688" cy="205740"/>
          </a:xfrm>
          <a:prstGeom prst="rect">
            <a:avLst/>
          </a:prstGeom>
          <a:noFill/>
        </p:spPr>
        <p:txBody>
          <a:bodyPr wrap="square" lIns="0" tIns="0" rIns="0" bIns="0" rtlCol="0" anchor="t">
            <a:spAutoFit/>
          </a:bodyPr>
          <a:lstStyle/>
          <a:p>
            <a:pPr marL="0" indent="0" algn="l">
              <a:buNone/>
            </a:pPr>
            <a:r>
              <a:rPr lang="en-US" sz="1335" b="1" dirty="0">
                <a:solidFill>
                  <a:srgbClr val="2D3748"/>
                </a:solidFill>
                <a:latin typeface="Inter ExtraBold" pitchFamily="34" charset="0"/>
                <a:ea typeface="Inter ExtraBold" pitchFamily="34" charset="-122"/>
                <a:cs typeface="Inter ExtraBold" pitchFamily="34" charset="-120"/>
              </a:rPr>
              <a:t>Cashback / 返现网</a:t>
            </a:r>
            <a:endParaRPr lang="en-US" sz="1335" dirty="0"/>
          </a:p>
        </p:txBody>
      </p:sp>
      <p:sp>
        <p:nvSpPr>
          <p:cNvPr id="27" name="Text 16"/>
          <p:cNvSpPr/>
          <p:nvPr/>
        </p:nvSpPr>
        <p:spPr>
          <a:xfrm>
            <a:off x="8977312" y="4491037"/>
            <a:ext cx="2171700" cy="210185"/>
          </a:xfrm>
          <a:prstGeom prst="rect">
            <a:avLst/>
          </a:prstGeom>
          <a:noFill/>
        </p:spPr>
        <p:txBody>
          <a:bodyPr wrap="none" lIns="0" tIns="0" rIns="0" bIns="0" rtlCol="0" anchor="t">
            <a:spAutoFit/>
          </a:bodyPr>
          <a:lstStyle/>
          <a:p>
            <a:pPr marL="0" indent="0" algn="l">
              <a:lnSpc>
                <a:spcPct val="120000"/>
              </a:lnSpc>
              <a:buNone/>
            </a:pPr>
            <a:r>
              <a:rPr lang="en-US" sz="1135" dirty="0">
                <a:solidFill>
                  <a:srgbClr val="718096"/>
                </a:solidFill>
                <a:latin typeface="Inter Medium" pitchFamily="34" charset="0"/>
                <a:ea typeface="Inter Medium" pitchFamily="34" charset="-122"/>
                <a:cs typeface="Inter Medium" pitchFamily="34" charset="-120"/>
              </a:rPr>
              <a:t>通过现金激励直接驱动交易闭环。</a:t>
            </a:r>
            <a:endParaRPr lang="en-US" sz="113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常见的</a:t>
            </a:r>
            <a:r>
              <a:rPr lang="en-US" altLang="zh-CN" dirty="0">
                <a:latin typeface="+mn-lt"/>
                <a:ea typeface="+mn-ea"/>
                <a:cs typeface="+mn-ea"/>
                <a:sym typeface="+mn-lt"/>
              </a:rPr>
              <a:t>11</a:t>
            </a:r>
            <a:r>
              <a:rPr lang="zh-CN" altLang="en-US" dirty="0">
                <a:latin typeface="+mn-lt"/>
                <a:ea typeface="+mn-ea"/>
                <a:cs typeface="+mn-ea"/>
                <a:sym typeface="+mn-lt"/>
              </a:rPr>
              <a:t>种联盟客资源开发方式</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
          <a:stretch>
            <a:fillRect/>
          </a:stretch>
        </p:blipFill>
        <p:spPr>
          <a:xfrm>
            <a:off x="224155" y="1028700"/>
            <a:ext cx="11741150" cy="5600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善于利用</a:t>
            </a:r>
            <a:r>
              <a:rPr lang="en-US" altLang="zh-CN" dirty="0">
                <a:latin typeface="+mn-lt"/>
                <a:ea typeface="+mn-ea"/>
                <a:cs typeface="+mn-ea"/>
                <a:sym typeface="+mn-lt"/>
              </a:rPr>
              <a:t>AI Agent M</a:t>
            </a:r>
            <a:r>
              <a:rPr lang="en-US" altLang="zh-HK" dirty="0">
                <a:latin typeface="+mn-lt"/>
                <a:ea typeface="+mn-ea"/>
                <a:cs typeface="+mn-ea"/>
                <a:sym typeface="+mn-lt"/>
              </a:rPr>
              <a:t>inimaxi&amp;Manus</a:t>
            </a:r>
            <a:r>
              <a:rPr lang="zh-CN" altLang="en-US" dirty="0">
                <a:latin typeface="+mn-lt"/>
                <a:ea typeface="+mn-ea"/>
                <a:cs typeface="+mn-ea"/>
                <a:sym typeface="+mn-lt"/>
              </a:rPr>
              <a:t>等</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圖片 2"/>
          <p:cNvPicPr/>
          <p:nvPr/>
        </p:nvPicPr>
        <p:blipFill>
          <a:blip r:embed="rId1"/>
          <a:stretch>
            <a:fillRect/>
          </a:stretch>
        </p:blipFill>
        <p:spPr>
          <a:xfrm>
            <a:off x="4138930" y="1329055"/>
            <a:ext cx="5682615" cy="4875530"/>
          </a:xfrm>
          <a:prstGeom prst="rect">
            <a:avLst/>
          </a:prstGeom>
        </p:spPr>
      </p:pic>
      <p:pic>
        <p:nvPicPr>
          <p:cNvPr id="6" name="圖片 5"/>
          <p:cNvPicPr/>
          <p:nvPr/>
        </p:nvPicPr>
        <p:blipFill>
          <a:blip r:embed="rId2"/>
          <a:stretch>
            <a:fillRect/>
          </a:stretch>
        </p:blipFill>
        <p:spPr>
          <a:xfrm>
            <a:off x="7508875" y="1259840"/>
            <a:ext cx="4395470" cy="5464810"/>
          </a:xfrm>
          <a:prstGeom prst="rect">
            <a:avLst/>
          </a:prstGeom>
        </p:spPr>
      </p:pic>
      <p:sp>
        <p:nvSpPr>
          <p:cNvPr id="2" name="文字框 1"/>
          <p:cNvSpPr txBox="1"/>
          <p:nvPr/>
        </p:nvSpPr>
        <p:spPr>
          <a:xfrm>
            <a:off x="167640" y="1230630"/>
            <a:ext cx="3971290" cy="5627370"/>
          </a:xfrm>
          <a:prstGeom prst="rect">
            <a:avLst/>
          </a:prstGeom>
        </p:spPr>
        <p:txBody>
          <a:bodyPr wrap="square">
            <a:noAutofit/>
          </a:bodyPr>
          <a:p>
            <a:r>
              <a:rPr lang="zh-CN" altLang="en-US" sz="1200"/>
              <a:t>我是</a:t>
            </a:r>
            <a:r>
              <a:rPr lang="en-US" altLang="zh-CN" sz="1200"/>
              <a:t>xxx.com</a:t>
            </a:r>
            <a:r>
              <a:rPr lang="zh-CN" altLang="en-US" sz="1200"/>
              <a:t>的</a:t>
            </a:r>
            <a:r>
              <a:rPr lang="en-US" altLang="zh-CN" sz="1200"/>
              <a:t>marketing manager,</a:t>
            </a:r>
            <a:r>
              <a:rPr lang="zh-CN" altLang="en-US" sz="1200"/>
              <a:t>现在需要您帮忙每天找出欧美</a:t>
            </a:r>
            <a:r>
              <a:rPr lang="en-US" altLang="zh-CN" sz="1200"/>
              <a:t>100</a:t>
            </a:r>
            <a:r>
              <a:rPr lang="zh-CN" altLang="en-US" sz="1200"/>
              <a:t>个左右</a:t>
            </a:r>
            <a:r>
              <a:rPr lang="en-US" altLang="zh-CN" sz="1200"/>
              <a:t>,</a:t>
            </a:r>
            <a:r>
              <a:rPr lang="zh-CN" altLang="en-US" sz="1200"/>
              <a:t>测评</a:t>
            </a:r>
            <a:r>
              <a:rPr lang="en-US" altLang="zh-CN" sz="1200"/>
              <a:t>home&amp;garden, diy, tools, gear</a:t>
            </a:r>
            <a:r>
              <a:rPr lang="zh-CN" altLang="en-US" sz="1200"/>
              <a:t>，</a:t>
            </a:r>
            <a:r>
              <a:rPr lang="en-US" altLang="zh-CN" sz="1200"/>
              <a:t>3C Tech, smart home</a:t>
            </a:r>
            <a:r>
              <a:rPr lang="zh-CN" altLang="en-US" sz="1200"/>
              <a:t>，</a:t>
            </a:r>
            <a:r>
              <a:rPr lang="en-US" altLang="zh-CN" sz="1200"/>
              <a:t>design,fashion</a:t>
            </a:r>
            <a:r>
              <a:rPr lang="zh-CN" altLang="en-US" sz="1200"/>
              <a:t>等类型头部科技媒体 比如</a:t>
            </a:r>
            <a:r>
              <a:rPr lang="en-US" altLang="zh-CN" sz="1200"/>
              <a:t>cent, tomsguide</a:t>
            </a:r>
            <a:r>
              <a:rPr lang="zh-CN" altLang="en-US" sz="1200"/>
              <a:t>等以及中部 腰部 底部的</a:t>
            </a:r>
            <a:r>
              <a:rPr lang="en-US" altLang="zh-CN" sz="1200"/>
              <a:t>blogger</a:t>
            </a:r>
            <a:r>
              <a:rPr lang="zh-CN" altLang="en-US" sz="1200"/>
              <a:t>博主的名单跟联系方式</a:t>
            </a:r>
            <a:endParaRPr lang="zh-CN" altLang="en-US" sz="1200"/>
          </a:p>
          <a:p>
            <a:endParaRPr lang="zh-CN" altLang="en-US" sz="1200"/>
          </a:p>
          <a:p>
            <a:r>
              <a:rPr lang="zh-CN" altLang="en-US" sz="1200"/>
              <a:t>第一类：海外头部综合，科技媒体 月访问流量千万以上</a:t>
            </a:r>
            <a:r>
              <a:rPr lang="en-US" altLang="zh-CN" sz="1200"/>
              <a:t>, </a:t>
            </a:r>
            <a:endParaRPr lang="en-US" altLang="zh-CN" sz="1200"/>
          </a:p>
          <a:p>
            <a:r>
              <a:rPr lang="zh-CN" altLang="en-US" sz="1200"/>
              <a:t>第二类</a:t>
            </a:r>
            <a:r>
              <a:rPr lang="en-US" altLang="zh-CN" sz="1200"/>
              <a:t>, </a:t>
            </a:r>
            <a:r>
              <a:rPr lang="zh-CN" altLang="en-US" sz="1200"/>
              <a:t>中腰部媒体</a:t>
            </a:r>
            <a:r>
              <a:rPr lang="en-US" altLang="zh-CN" sz="1200"/>
              <a:t>, </a:t>
            </a:r>
            <a:r>
              <a:rPr lang="zh-CN" altLang="en-US" sz="1200"/>
              <a:t>流量字啊</a:t>
            </a:r>
            <a:r>
              <a:rPr lang="en-US" altLang="zh-CN" sz="1200"/>
              <a:t>1M-10M</a:t>
            </a:r>
            <a:r>
              <a:rPr lang="zh-CN" altLang="en-US" sz="1200"/>
              <a:t>之家</a:t>
            </a:r>
            <a:endParaRPr lang="zh-CN" altLang="en-US" sz="1200"/>
          </a:p>
          <a:p>
            <a:r>
              <a:rPr lang="zh-CN" altLang="en-US" sz="1200"/>
              <a:t>第三类，流量在</a:t>
            </a:r>
            <a:r>
              <a:rPr lang="en-US" altLang="zh-CN" sz="1200"/>
              <a:t>1W-1M</a:t>
            </a:r>
            <a:r>
              <a:rPr lang="zh-CN" altLang="en-US" sz="1200"/>
              <a:t>直接的小</a:t>
            </a:r>
            <a:r>
              <a:rPr lang="en-US" altLang="zh-CN" sz="1200"/>
              <a:t>blogger, meida</a:t>
            </a:r>
            <a:r>
              <a:rPr lang="zh-CN" altLang="en-US" sz="1200"/>
              <a:t>等</a:t>
            </a:r>
            <a:endParaRPr lang="zh-CN" altLang="en-US" sz="1200"/>
          </a:p>
          <a:p>
            <a:endParaRPr lang="zh-CN" altLang="en-US" sz="1200"/>
          </a:p>
          <a:p>
            <a:r>
              <a:rPr lang="zh-CN" altLang="en-US" sz="1200"/>
              <a:t>需要注意的是如果是头部媒体 记得把里面测评对应编辑的邮箱跟名字找出来</a:t>
            </a:r>
            <a:r>
              <a:rPr lang="en-US" altLang="zh-CN" sz="1200"/>
              <a:t>, </a:t>
            </a:r>
            <a:r>
              <a:rPr lang="zh-CN" altLang="en-US" sz="1200"/>
              <a:t>以及把报告做个可视化的</a:t>
            </a:r>
            <a:r>
              <a:rPr lang="en-US" altLang="zh-CN" sz="1200"/>
              <a:t>web</a:t>
            </a:r>
            <a:r>
              <a:rPr lang="zh-CN" altLang="en-US" sz="1200"/>
              <a:t>网页 可以直接查看</a:t>
            </a:r>
            <a:r>
              <a:rPr lang="en-US" altLang="zh-CN" sz="1200"/>
              <a:t>, </a:t>
            </a:r>
            <a:r>
              <a:rPr lang="zh-CN" altLang="en-US" sz="1200"/>
              <a:t>记得加上更新日期</a:t>
            </a:r>
            <a:r>
              <a:rPr lang="en-US" altLang="zh-CN" sz="1200"/>
              <a:t>,</a:t>
            </a:r>
            <a:r>
              <a:rPr lang="zh-CN" altLang="en-US" sz="1200"/>
              <a:t>方便筛选</a:t>
            </a:r>
            <a:endParaRPr lang="zh-CN" altLang="en-US" sz="1200"/>
          </a:p>
          <a:p>
            <a:endParaRPr lang="zh-CN" altLang="en-US" sz="1200"/>
          </a:p>
          <a:p>
            <a:r>
              <a:rPr lang="zh-CN" altLang="en-US" sz="1200"/>
              <a:t>关键词： </a:t>
            </a:r>
            <a:r>
              <a:rPr lang="en-US" altLang="zh-CN" sz="1200"/>
              <a:t>home improvement, interior design, patio idea, garden renovation, smart home tour,diy project, home automation, retrofit, maker, electronics,power tools, garage tools, smart tools, tech gear,tech gadgets, cool tech, desk setup, gaming room, tech, 3c</a:t>
            </a:r>
            <a:endParaRPr lang="en-US" altLang="zh-CN" sz="1200"/>
          </a:p>
          <a:p>
            <a:endParaRPr lang="en-US" altLang="zh-CN" sz="1200"/>
          </a:p>
          <a:p>
            <a:r>
              <a:rPr lang="zh-CN" altLang="en-US" sz="1200"/>
              <a:t>字段：</a:t>
            </a:r>
            <a:r>
              <a:rPr lang="en-US" altLang="zh-CN" sz="1200"/>
              <a:t>PR Blogger name</a:t>
            </a:r>
            <a:r>
              <a:rPr lang="zh-CN" altLang="en-US" sz="1200"/>
              <a:t>、链接、月流量以</a:t>
            </a:r>
            <a:r>
              <a:rPr lang="en-US" altLang="zh-CN" sz="1200"/>
              <a:t>similarweb</a:t>
            </a:r>
            <a:r>
              <a:rPr lang="zh-CN" altLang="en-US" sz="1200"/>
              <a:t>参考、邮箱（优先，缺失留空）、分类、链接（频道</a:t>
            </a:r>
            <a:r>
              <a:rPr lang="en-US" altLang="zh-CN" sz="1200"/>
              <a:t>/</a:t>
            </a:r>
            <a:r>
              <a:rPr lang="zh-CN" altLang="en-US" sz="1200"/>
              <a:t>视频</a:t>
            </a:r>
            <a:r>
              <a:rPr lang="en-US" altLang="zh-CN" sz="1200"/>
              <a:t>/</a:t>
            </a:r>
            <a:r>
              <a:rPr lang="zh-CN" altLang="en-US" sz="1200"/>
              <a:t>帖子）</a:t>
            </a:r>
            <a:endParaRPr lang="zh-CN" altLang="en-US" sz="1200"/>
          </a:p>
          <a:p>
            <a:r>
              <a:rPr lang="zh-CN" altLang="en-US" sz="1200"/>
              <a:t>去重：与历史数据不重复以及做邮箱有效性验证</a:t>
            </a:r>
            <a:endParaRPr lang="zh-CN" altLang="en-US" sz="1200"/>
          </a:p>
          <a:p>
            <a:r>
              <a:rPr lang="zh-CN" altLang="en-US" sz="1200"/>
              <a:t>输出时间 中国时间每天</a:t>
            </a:r>
            <a:r>
              <a:rPr lang="en-US" altLang="zh-CN" sz="1200"/>
              <a:t>8</a:t>
            </a:r>
            <a:r>
              <a:rPr lang="zh-CN" altLang="en-US" sz="1200"/>
              <a:t>点</a:t>
            </a:r>
            <a:endParaRPr lang="zh-CN" altLang="en-US" sz="1200"/>
          </a:p>
          <a:p>
            <a:endParaRPr lang="zh-CN" altLang="en-US" sz="1200"/>
          </a:p>
          <a:p>
            <a:r>
              <a:rPr lang="zh-CN" altLang="en-US" sz="1200"/>
              <a:t>核心关键词：</a:t>
            </a:r>
            <a:r>
              <a:rPr lang="en-US" altLang="zh-CN" sz="1200"/>
              <a:t>smart home</a:t>
            </a:r>
            <a:endParaRPr lang="en-US" altLang="zh-CN" sz="1200"/>
          </a:p>
          <a:p>
            <a:r>
              <a:rPr lang="zh-CN" altLang="en-US" sz="1200"/>
              <a:t>第二梯级：</a:t>
            </a:r>
            <a:r>
              <a:rPr lang="en-US" altLang="zh-CN" sz="1200"/>
              <a:t>Home, lifestyle, beauty, fashion</a:t>
            </a:r>
            <a:r>
              <a:rPr lang="zh-CN" altLang="en-US" sz="1200"/>
              <a:t>，</a:t>
            </a:r>
            <a:r>
              <a:rPr lang="en-US" altLang="zh-CN" sz="1200"/>
              <a:t>design,installstion, garden, home automation,tools, diy,gear, review</a:t>
            </a:r>
            <a:endParaRPr lang="en-US" altLang="zh-CN"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善于利用</a:t>
            </a:r>
            <a:r>
              <a:rPr lang="en-US" altLang="zh-CN" dirty="0">
                <a:latin typeface="+mn-lt"/>
                <a:ea typeface="+mn-ea"/>
                <a:cs typeface="+mn-ea"/>
                <a:sym typeface="+mn-lt"/>
              </a:rPr>
              <a:t>Claude</a:t>
            </a:r>
            <a:r>
              <a:rPr lang="zh-CN" altLang="en-US" dirty="0">
                <a:latin typeface="+mn-lt"/>
                <a:ea typeface="+mn-ea"/>
                <a:cs typeface="+mn-ea"/>
                <a:sym typeface="+mn-lt"/>
              </a:rPr>
              <a:t>等创建自动化工作流</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圖片 6"/>
          <p:cNvPicPr>
            <a:picLocks noChangeAspect="1"/>
          </p:cNvPicPr>
          <p:nvPr/>
        </p:nvPicPr>
        <p:blipFill>
          <a:blip r:embed="rId1"/>
          <a:stretch>
            <a:fillRect/>
          </a:stretch>
        </p:blipFill>
        <p:spPr>
          <a:xfrm>
            <a:off x="6879590" y="1670685"/>
            <a:ext cx="5312410" cy="4328795"/>
          </a:xfrm>
          <a:prstGeom prst="rect">
            <a:avLst/>
          </a:prstGeom>
        </p:spPr>
      </p:pic>
      <p:pic>
        <p:nvPicPr>
          <p:cNvPr id="8" name="圖片 7"/>
          <p:cNvPicPr>
            <a:picLocks noChangeAspect="1"/>
          </p:cNvPicPr>
          <p:nvPr/>
        </p:nvPicPr>
        <p:blipFill>
          <a:blip r:embed="rId2"/>
          <a:stretch>
            <a:fillRect/>
          </a:stretch>
        </p:blipFill>
        <p:spPr>
          <a:xfrm>
            <a:off x="115570" y="1163320"/>
            <a:ext cx="6636385" cy="51396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联盟</a:t>
            </a:r>
            <a:r>
              <a:rPr lang="en-US" altLang="zh-CN" dirty="0">
                <a:latin typeface="+mn-lt"/>
                <a:ea typeface="+mn-ea"/>
                <a:cs typeface="+mn-ea"/>
                <a:sym typeface="+mn-lt"/>
              </a:rPr>
              <a:t>Affilite</a:t>
            </a:r>
            <a:r>
              <a:rPr lang="zh-CN" altLang="en-US" dirty="0">
                <a:latin typeface="+mn-lt"/>
                <a:ea typeface="+mn-ea"/>
                <a:cs typeface="+mn-ea"/>
                <a:sym typeface="+mn-lt"/>
              </a:rPr>
              <a:t>整体运营策略</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359900" y="1317625"/>
            <a:ext cx="2540000" cy="368300"/>
          </a:xfrm>
          <a:prstGeom prst="rect">
            <a:avLst/>
          </a:prstGeom>
          <a:noFill/>
        </p:spPr>
        <p:txBody>
          <a:bodyPr wrap="square" rtlCol="0" anchor="t">
            <a:spAutoFit/>
          </a:bodyPr>
          <a:lstStyle/>
          <a:p>
            <a:endParaRPr lang="zh-CN" altLang="en-US"/>
          </a:p>
        </p:txBody>
      </p:sp>
      <p:pic>
        <p:nvPicPr>
          <p:cNvPr id="2" name="图片 1"/>
          <p:cNvPicPr>
            <a:picLocks noChangeAspect="1"/>
          </p:cNvPicPr>
          <p:nvPr/>
        </p:nvPicPr>
        <p:blipFill>
          <a:blip r:embed="rId1"/>
          <a:stretch>
            <a:fillRect/>
          </a:stretch>
        </p:blipFill>
        <p:spPr>
          <a:xfrm>
            <a:off x="5827395" y="1101090"/>
            <a:ext cx="5112385" cy="5408930"/>
          </a:xfrm>
          <a:prstGeom prst="rect">
            <a:avLst/>
          </a:prstGeom>
        </p:spPr>
      </p:pic>
      <p:pic>
        <p:nvPicPr>
          <p:cNvPr id="3" name="图片 2"/>
          <p:cNvPicPr>
            <a:picLocks noChangeAspect="1"/>
          </p:cNvPicPr>
          <p:nvPr/>
        </p:nvPicPr>
        <p:blipFill>
          <a:blip r:embed="rId2"/>
          <a:stretch>
            <a:fillRect/>
          </a:stretch>
        </p:blipFill>
        <p:spPr>
          <a:xfrm>
            <a:off x="579755" y="1465580"/>
            <a:ext cx="4874895" cy="4680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联盟精细化运营策略</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图示 2"/>
          <p:cNvGraphicFramePr/>
          <p:nvPr/>
        </p:nvGraphicFramePr>
        <p:xfrm>
          <a:off x="522002" y="1309319"/>
          <a:ext cx="8128000" cy="5418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7" name="图片 6"/>
          <p:cNvPicPr>
            <a:picLocks noChangeAspect="1"/>
          </p:cNvPicPr>
          <p:nvPr/>
        </p:nvPicPr>
        <p:blipFill>
          <a:blip r:embed="rId6"/>
          <a:stretch>
            <a:fillRect/>
          </a:stretch>
        </p:blipFill>
        <p:spPr>
          <a:xfrm>
            <a:off x="8907451" y="3248020"/>
            <a:ext cx="3027094" cy="3119759"/>
          </a:xfrm>
          <a:prstGeom prst="rect">
            <a:avLst/>
          </a:prstGeom>
        </p:spPr>
      </p:pic>
      <p:pic>
        <p:nvPicPr>
          <p:cNvPr id="9" name="图片 8"/>
          <p:cNvPicPr>
            <a:picLocks noChangeAspect="1"/>
          </p:cNvPicPr>
          <p:nvPr/>
        </p:nvPicPr>
        <p:blipFill>
          <a:blip r:embed="rId7"/>
          <a:stretch>
            <a:fillRect/>
          </a:stretch>
        </p:blipFill>
        <p:spPr>
          <a:xfrm>
            <a:off x="8907451" y="1183455"/>
            <a:ext cx="2911170" cy="1909810"/>
          </a:xfrm>
          <a:prstGeom prst="rect">
            <a:avLst/>
          </a:prstGeom>
        </p:spPr>
      </p:pic>
      <p:pic>
        <p:nvPicPr>
          <p:cNvPr id="6" name="图片 5"/>
          <p:cNvPicPr>
            <a:picLocks noChangeAspect="1"/>
          </p:cNvPicPr>
          <p:nvPr/>
        </p:nvPicPr>
        <p:blipFill>
          <a:blip r:embed="rId8"/>
          <a:stretch>
            <a:fillRect/>
          </a:stretch>
        </p:blipFill>
        <p:spPr>
          <a:xfrm>
            <a:off x="37041" y="30469"/>
            <a:ext cx="12154959" cy="6817542"/>
          </a:xfrm>
          <a:prstGeom prst="rect">
            <a:avLst/>
          </a:prstGeom>
        </p:spPr>
      </p:pic>
      <p:pic>
        <p:nvPicPr>
          <p:cNvPr id="8" name="圖片 7"/>
          <p:cNvPicPr>
            <a:picLocks noChangeAspect="1"/>
          </p:cNvPicPr>
          <p:nvPr/>
        </p:nvPicPr>
        <p:blipFill>
          <a:blip r:embed="rId9"/>
          <a:stretch>
            <a:fillRect/>
          </a:stretch>
        </p:blipFill>
        <p:spPr>
          <a:xfrm>
            <a:off x="417830" y="245110"/>
            <a:ext cx="9223375" cy="6580505"/>
          </a:xfrm>
          <a:prstGeom prst="rect">
            <a:avLst/>
          </a:prstGeom>
        </p:spPr>
      </p:pic>
      <p:pic>
        <p:nvPicPr>
          <p:cNvPr id="2" name="圖片 1"/>
          <p:cNvPicPr>
            <a:picLocks noChangeAspect="1"/>
          </p:cNvPicPr>
          <p:nvPr/>
        </p:nvPicPr>
        <p:blipFill>
          <a:blip r:embed="rId10"/>
          <a:stretch>
            <a:fillRect/>
          </a:stretch>
        </p:blipFill>
        <p:spPr>
          <a:xfrm>
            <a:off x="109220" y="0"/>
            <a:ext cx="1128331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19735" y="521970"/>
            <a:ext cx="11101070" cy="538480"/>
          </a:xfrm>
        </p:spPr>
        <p:txBody>
          <a:bodyPr>
            <a:normAutofit fontScale="90000"/>
          </a:bodyPr>
          <a:lstStyle/>
          <a:p>
            <a:r>
              <a:rPr lang="zh-CN" altLang="en-US" dirty="0">
                <a:latin typeface="+mn-lt"/>
                <a:ea typeface="+mn-ea"/>
                <a:cs typeface="+mn-ea"/>
                <a:sym typeface="+mn-lt"/>
              </a:rPr>
              <a:t>案例分享</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圖片 2"/>
          <p:cNvPicPr/>
          <p:nvPr/>
        </p:nvPicPr>
        <p:blipFill>
          <a:blip r:embed="rId1"/>
          <a:stretch>
            <a:fillRect/>
          </a:stretch>
        </p:blipFill>
        <p:spPr>
          <a:xfrm>
            <a:off x="146685" y="5272405"/>
            <a:ext cx="6749415" cy="1266825"/>
          </a:xfrm>
          <a:prstGeom prst="rect">
            <a:avLst/>
          </a:prstGeom>
        </p:spPr>
      </p:pic>
      <p:pic>
        <p:nvPicPr>
          <p:cNvPr id="7" name="圖片 6"/>
          <p:cNvPicPr/>
          <p:nvPr/>
        </p:nvPicPr>
        <p:blipFill>
          <a:blip r:embed="rId2"/>
          <a:stretch>
            <a:fillRect/>
          </a:stretch>
        </p:blipFill>
        <p:spPr>
          <a:xfrm>
            <a:off x="344170" y="1296035"/>
            <a:ext cx="6407150" cy="4074795"/>
          </a:xfrm>
          <a:prstGeom prst="rect">
            <a:avLst/>
          </a:prstGeom>
        </p:spPr>
      </p:pic>
      <p:pic>
        <p:nvPicPr>
          <p:cNvPr id="9" name="圖片 8"/>
          <p:cNvPicPr/>
          <p:nvPr/>
        </p:nvPicPr>
        <p:blipFill>
          <a:blip r:embed="rId3"/>
          <a:stretch>
            <a:fillRect/>
          </a:stretch>
        </p:blipFill>
        <p:spPr>
          <a:xfrm>
            <a:off x="6991350" y="1192530"/>
            <a:ext cx="4469765" cy="5346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头部合作</a:t>
            </a:r>
            <a:r>
              <a:rPr lang="en-US" altLang="zh-CN" dirty="0">
                <a:latin typeface="+mn-lt"/>
                <a:ea typeface="+mn-ea"/>
                <a:cs typeface="+mn-ea"/>
                <a:sym typeface="+mn-lt"/>
              </a:rPr>
              <a:t>Tech Media25-30</a:t>
            </a:r>
            <a:r>
              <a:rPr lang="zh-CN" altLang="en-US" dirty="0">
                <a:latin typeface="+mn-lt"/>
                <a:ea typeface="+mn-ea"/>
                <a:cs typeface="+mn-ea"/>
                <a:sym typeface="+mn-lt"/>
              </a:rPr>
              <a:t>家</a:t>
            </a:r>
            <a:endParaRPr lang="zh-CN" altLang="en-US" dirty="0">
              <a:latin typeface="+mn-lt"/>
              <a:ea typeface="+mn-ea"/>
              <a:cs typeface="+mn-ea"/>
              <a:sym typeface="+mn-lt"/>
            </a:endParaRPr>
          </a:p>
        </p:txBody>
      </p:sp>
      <p:sp>
        <p:nvSpPr>
          <p:cNvPr id="5" name="矩形 4"/>
          <p:cNvSpPr/>
          <p:nvPr/>
        </p:nvSpPr>
        <p:spPr>
          <a:xfrm>
            <a:off x="9531350" y="245110"/>
            <a:ext cx="1989455" cy="5384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
          <a:stretch>
            <a:fillRect/>
          </a:stretch>
        </p:blipFill>
        <p:spPr>
          <a:xfrm>
            <a:off x="596900" y="1288415"/>
            <a:ext cx="5499100" cy="5267325"/>
          </a:xfrm>
          <a:prstGeom prst="rect">
            <a:avLst/>
          </a:prstGeom>
        </p:spPr>
      </p:pic>
      <p:pic>
        <p:nvPicPr>
          <p:cNvPr id="8" name="图片 7"/>
          <p:cNvPicPr>
            <a:picLocks noChangeAspect="1"/>
          </p:cNvPicPr>
          <p:nvPr/>
        </p:nvPicPr>
        <p:blipFill>
          <a:blip r:embed="rId2"/>
          <a:stretch>
            <a:fillRect/>
          </a:stretch>
        </p:blipFill>
        <p:spPr>
          <a:xfrm>
            <a:off x="6293485" y="1891665"/>
            <a:ext cx="5898515" cy="30746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9525"/>
            <a:ext cx="12192000" cy="6858000"/>
          </a:xfrm>
          <a:prstGeom prst="rect">
            <a:avLst/>
          </a:prstGeom>
        </p:spPr>
      </p:pic>
      <p:sp>
        <p:nvSpPr>
          <p:cNvPr id="3" name="Text 0"/>
          <p:cNvSpPr/>
          <p:nvPr/>
        </p:nvSpPr>
        <p:spPr>
          <a:xfrm>
            <a:off x="762000" y="941449"/>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方法一：基于关键词的媒体监测</a:t>
            </a:r>
            <a:endParaRPr lang="en-US" sz="3265" dirty="0"/>
          </a:p>
        </p:txBody>
      </p:sp>
      <p:sp>
        <p:nvSpPr>
          <p:cNvPr id="4" name="Text 1"/>
          <p:cNvSpPr/>
          <p:nvPr/>
        </p:nvSpPr>
        <p:spPr>
          <a:xfrm>
            <a:off x="762000" y="2143981"/>
            <a:ext cx="471170" cy="389890"/>
          </a:xfrm>
          <a:prstGeom prst="rect">
            <a:avLst/>
          </a:prstGeom>
          <a:noFill/>
        </p:spPr>
        <p:txBody>
          <a:bodyPr wrap="non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01</a:t>
            </a:r>
            <a:endParaRPr lang="en-US" sz="2535" dirty="0"/>
          </a:p>
        </p:txBody>
      </p:sp>
      <p:sp>
        <p:nvSpPr>
          <p:cNvPr id="5" name="Text 2"/>
          <p:cNvSpPr/>
          <p:nvPr/>
        </p:nvSpPr>
        <p:spPr>
          <a:xfrm>
            <a:off x="1257300" y="2127312"/>
            <a:ext cx="1290320" cy="389890"/>
          </a:xfrm>
          <a:prstGeom prst="rect">
            <a:avLst/>
          </a:prstGeom>
          <a:noFill/>
        </p:spPr>
        <p:txBody>
          <a:bodyPr wrap="non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趋势分析</a:t>
            </a:r>
            <a:endParaRPr lang="en-US" sz="2535" dirty="0"/>
          </a:p>
        </p:txBody>
      </p:sp>
      <p:sp>
        <p:nvSpPr>
          <p:cNvPr id="6" name="Text 3"/>
          <p:cNvSpPr/>
          <p:nvPr/>
        </p:nvSpPr>
        <p:spPr>
          <a:xfrm>
            <a:off x="762000" y="2694049"/>
            <a:ext cx="5048251" cy="498475"/>
          </a:xfrm>
          <a:prstGeom prst="rect">
            <a:avLst/>
          </a:prstGeom>
          <a:noFill/>
        </p:spPr>
        <p:txBody>
          <a:bodyPr wrap="square" lIns="0" tIns="0" rIns="0" bIns="0" rtlCol="0" anchor="t">
            <a:spAutoFit/>
          </a:bodyPr>
          <a:lstStyle/>
          <a:p>
            <a:pPr marL="0" indent="0" algn="l">
              <a:lnSpc>
                <a:spcPct val="116000"/>
              </a:lnSpc>
              <a:buNone/>
            </a:pPr>
            <a:r>
              <a:rPr lang="en-US" sz="1400" dirty="0">
                <a:solidFill>
                  <a:srgbClr val="596A7A"/>
                </a:solidFill>
                <a:latin typeface="Inter Light" pitchFamily="34" charset="0"/>
                <a:ea typeface="Inter Light" pitchFamily="34" charset="-122"/>
                <a:cs typeface="Inter Light" pitchFamily="34" charset="-120"/>
              </a:rPr>
              <a:t>输入产品或竞品关键词，分析媒体报道的同比增长情况，作为选品与市场热度的直接依据。</a:t>
            </a:r>
            <a:endParaRPr lang="en-US" sz="1400" dirty="0"/>
          </a:p>
        </p:txBody>
      </p:sp>
      <p:sp>
        <p:nvSpPr>
          <p:cNvPr id="7" name="Text 4"/>
          <p:cNvSpPr/>
          <p:nvPr/>
        </p:nvSpPr>
        <p:spPr>
          <a:xfrm>
            <a:off x="762000" y="3491768"/>
            <a:ext cx="471170" cy="389890"/>
          </a:xfrm>
          <a:prstGeom prst="rect">
            <a:avLst/>
          </a:prstGeom>
          <a:noFill/>
        </p:spPr>
        <p:txBody>
          <a:bodyPr wrap="non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02</a:t>
            </a:r>
            <a:endParaRPr lang="en-US" sz="2535" dirty="0"/>
          </a:p>
        </p:txBody>
      </p:sp>
      <p:sp>
        <p:nvSpPr>
          <p:cNvPr id="8" name="Text 5"/>
          <p:cNvSpPr/>
          <p:nvPr/>
        </p:nvSpPr>
        <p:spPr>
          <a:xfrm>
            <a:off x="1304925" y="3475100"/>
            <a:ext cx="1290320" cy="389890"/>
          </a:xfrm>
          <a:prstGeom prst="rect">
            <a:avLst/>
          </a:prstGeom>
          <a:noFill/>
        </p:spPr>
        <p:txBody>
          <a:bodyPr wrap="non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捕捉峰值</a:t>
            </a:r>
            <a:endParaRPr lang="en-US" sz="2535" dirty="0"/>
          </a:p>
        </p:txBody>
      </p:sp>
      <p:sp>
        <p:nvSpPr>
          <p:cNvPr id="9" name="Text 6"/>
          <p:cNvSpPr/>
          <p:nvPr/>
        </p:nvSpPr>
        <p:spPr>
          <a:xfrm>
            <a:off x="762000" y="4041837"/>
            <a:ext cx="5048251" cy="498475"/>
          </a:xfrm>
          <a:prstGeom prst="rect">
            <a:avLst/>
          </a:prstGeom>
          <a:noFill/>
        </p:spPr>
        <p:txBody>
          <a:bodyPr wrap="square" lIns="0" tIns="0" rIns="0" bIns="0" rtlCol="0" anchor="t">
            <a:spAutoFit/>
          </a:bodyPr>
          <a:lstStyle/>
          <a:p>
            <a:pPr marL="0" indent="0" algn="l">
              <a:lnSpc>
                <a:spcPct val="116000"/>
              </a:lnSpc>
              <a:buNone/>
            </a:pPr>
            <a:r>
              <a:rPr lang="en-US" sz="1400" dirty="0">
                <a:solidFill>
                  <a:srgbClr val="596A7A"/>
                </a:solidFill>
                <a:latin typeface="Inter Light" pitchFamily="34" charset="0"/>
                <a:ea typeface="Inter Light" pitchFamily="34" charset="-122"/>
                <a:cs typeface="Inter Light" pitchFamily="34" charset="-120"/>
              </a:rPr>
              <a:t>通过监测曲线的高峰值，回溯竞品在特定时间节点的营销活动，锁定为其背书的关键媒体资源。</a:t>
            </a:r>
            <a:endParaRPr lang="en-US" sz="1400" dirty="0"/>
          </a:p>
        </p:txBody>
      </p:sp>
      <p:sp>
        <p:nvSpPr>
          <p:cNvPr id="10" name="Text 7"/>
          <p:cNvSpPr/>
          <p:nvPr/>
        </p:nvSpPr>
        <p:spPr>
          <a:xfrm>
            <a:off x="762000" y="4839556"/>
            <a:ext cx="471170" cy="389890"/>
          </a:xfrm>
          <a:prstGeom prst="rect">
            <a:avLst/>
          </a:prstGeom>
          <a:noFill/>
        </p:spPr>
        <p:txBody>
          <a:bodyPr wrap="non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03</a:t>
            </a:r>
            <a:endParaRPr lang="en-US" sz="2535" dirty="0"/>
          </a:p>
        </p:txBody>
      </p:sp>
      <p:sp>
        <p:nvSpPr>
          <p:cNvPr id="11" name="Text 8"/>
          <p:cNvSpPr/>
          <p:nvPr/>
        </p:nvSpPr>
        <p:spPr>
          <a:xfrm>
            <a:off x="1293019" y="4822887"/>
            <a:ext cx="1735931" cy="389890"/>
          </a:xfrm>
          <a:prstGeom prst="rect">
            <a:avLst/>
          </a:prstGeom>
          <a:noFill/>
        </p:spPr>
        <p:txBody>
          <a:bodyPr wrap="square" lIns="0" tIns="0" rIns="0" bIns="0" rtlCol="0" anchor="t">
            <a:spAutoFit/>
          </a:bodyPr>
          <a:lstStyle/>
          <a:p>
            <a:pPr marL="0" indent="0" algn="l">
              <a:buNone/>
            </a:pPr>
            <a:r>
              <a:rPr lang="en-US" sz="2535" dirty="0">
                <a:solidFill>
                  <a:srgbClr val="00A859">
                    <a:alpha val="30000"/>
                  </a:srgbClr>
                </a:solidFill>
                <a:latin typeface="Playfair Display Bold" pitchFamily="34" charset="0"/>
                <a:ea typeface="Playfair Display Bold" pitchFamily="34" charset="-122"/>
                <a:cs typeface="Playfair Display Bold" pitchFamily="34" charset="-120"/>
              </a:rPr>
              <a:t>Reach 筛选</a:t>
            </a:r>
            <a:endParaRPr lang="en-US" sz="2535" dirty="0"/>
          </a:p>
        </p:txBody>
      </p:sp>
      <p:sp>
        <p:nvSpPr>
          <p:cNvPr id="12" name="Text 9"/>
          <p:cNvSpPr/>
          <p:nvPr/>
        </p:nvSpPr>
        <p:spPr>
          <a:xfrm>
            <a:off x="762000" y="5389624"/>
            <a:ext cx="5048251" cy="498475"/>
          </a:xfrm>
          <a:prstGeom prst="rect">
            <a:avLst/>
          </a:prstGeom>
          <a:noFill/>
        </p:spPr>
        <p:txBody>
          <a:bodyPr wrap="square" lIns="0" tIns="0" rIns="0" bIns="0" rtlCol="0" anchor="t">
            <a:spAutoFit/>
          </a:bodyPr>
          <a:lstStyle/>
          <a:p>
            <a:pPr marL="0" indent="0" algn="l">
              <a:lnSpc>
                <a:spcPct val="116000"/>
              </a:lnSpc>
              <a:buNone/>
            </a:pPr>
            <a:r>
              <a:rPr lang="en-US" sz="1400" dirty="0">
                <a:solidFill>
                  <a:srgbClr val="596A7A"/>
                </a:solidFill>
                <a:latin typeface="Inter Light" pitchFamily="34" charset="0"/>
                <a:ea typeface="Inter Light" pitchFamily="34" charset="-122"/>
                <a:cs typeface="Inter Light" pitchFamily="34" charset="-120"/>
              </a:rPr>
              <a:t>利用 Meltwater 的触达量（Reach）指标进行排序，精准定位影响力最大的头部编辑进行深度开发。</a:t>
            </a:r>
            <a:endParaRPr lang="en-US" sz="1400" dirty="0"/>
          </a:p>
        </p:txBody>
      </p:sp>
      <p:sp>
        <p:nvSpPr>
          <p:cNvPr id="14" name="Shape 11"/>
          <p:cNvSpPr/>
          <p:nvPr/>
        </p:nvSpPr>
        <p:spPr>
          <a:xfrm>
            <a:off x="9505951" y="2222563"/>
            <a:ext cx="1352551" cy="276225"/>
          </a:xfrm>
          <a:prstGeom prst="rect">
            <a:avLst/>
          </a:prstGeom>
          <a:solidFill>
            <a:srgbClr val="2C3E50"/>
          </a:solidFill>
        </p:spPr>
      </p:sp>
      <p:sp>
        <p:nvSpPr>
          <p:cNvPr id="15" name="Text 12"/>
          <p:cNvSpPr/>
          <p:nvPr/>
        </p:nvSpPr>
        <p:spPr>
          <a:xfrm>
            <a:off x="9505951" y="2222563"/>
            <a:ext cx="1355090" cy="266700"/>
          </a:xfrm>
          <a:prstGeom prst="rect">
            <a:avLst/>
          </a:prstGeom>
          <a:noFill/>
        </p:spPr>
        <p:txBody>
          <a:bodyPr wrap="none" lIns="170010" tIns="56726" rIns="170010" bIns="56726" rtlCol="0" anchor="t">
            <a:spAutoFit/>
          </a:bodyPr>
          <a:lstStyle/>
          <a:p>
            <a:pPr marL="0" indent="0" algn="l">
              <a:buNone/>
            </a:pPr>
            <a:r>
              <a:rPr lang="en-US" sz="1000" dirty="0">
                <a:solidFill>
                  <a:srgbClr val="FFFFFF"/>
                </a:solidFill>
                <a:latin typeface="Inter Light" pitchFamily="34" charset="0"/>
                <a:ea typeface="Inter Light" pitchFamily="34" charset="-122"/>
                <a:cs typeface="Inter Light" pitchFamily="34" charset="-120"/>
              </a:rPr>
              <a:t>捕捉竞品营销峰值</a:t>
            </a:r>
            <a:endParaRPr lang="en-US" sz="1000" dirty="0"/>
          </a:p>
        </p:txBody>
      </p:sp>
      <p:sp>
        <p:nvSpPr>
          <p:cNvPr id="16" name="Text 13"/>
          <p:cNvSpPr/>
          <p:nvPr/>
        </p:nvSpPr>
        <p:spPr>
          <a:xfrm>
            <a:off x="7908131" y="4852652"/>
            <a:ext cx="1995488" cy="174625"/>
          </a:xfrm>
          <a:prstGeom prst="rect">
            <a:avLst/>
          </a:prstGeom>
          <a:noFill/>
        </p:spPr>
        <p:txBody>
          <a:bodyPr wrap="square" lIns="0" tIns="0" rIns="0" bIns="0" rtlCol="0" anchor="t">
            <a:spAutoFit/>
          </a:bodyPr>
          <a:lstStyle/>
          <a:p>
            <a:pPr marL="0" indent="0" algn="l">
              <a:buNone/>
            </a:pPr>
            <a:r>
              <a:rPr lang="en-US" sz="1135" dirty="0">
                <a:solidFill>
                  <a:srgbClr val="596A7A"/>
                </a:solidFill>
                <a:latin typeface="Inter Light" pitchFamily="34" charset="0"/>
                <a:ea typeface="Inter Light" pitchFamily="34" charset="-122"/>
                <a:cs typeface="Inter Light" pitchFamily="34" charset="-120"/>
              </a:rPr>
              <a:t>Meltwater 媒体监测看板示例</a:t>
            </a:r>
            <a:endParaRPr lang="en-US" sz="1135" dirty="0"/>
          </a:p>
        </p:txBody>
      </p:sp>
      <p:pic>
        <p:nvPicPr>
          <p:cNvPr id="13" name="圖片 12"/>
          <p:cNvPicPr/>
          <p:nvPr/>
        </p:nvPicPr>
        <p:blipFill>
          <a:blip r:embed="rId2"/>
          <a:stretch>
            <a:fillRect/>
          </a:stretch>
        </p:blipFill>
        <p:spPr>
          <a:xfrm>
            <a:off x="6096000" y="1750060"/>
            <a:ext cx="5912485" cy="46602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762000" y="9509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方法二：从流量工具到编辑开发</a:t>
            </a:r>
            <a:endParaRPr lang="en-US" sz="3265" dirty="0"/>
          </a:p>
        </p:txBody>
      </p:sp>
      <p:sp>
        <p:nvSpPr>
          <p:cNvPr id="4" name="Shape 1"/>
          <p:cNvSpPr/>
          <p:nvPr/>
        </p:nvSpPr>
        <p:spPr>
          <a:xfrm>
            <a:off x="1809751" y="2327337"/>
            <a:ext cx="952500" cy="952500"/>
          </a:xfrm>
          <a:prstGeom prst="ellipse">
            <a:avLst/>
          </a:prstGeom>
          <a:solidFill>
            <a:srgbClr val="00A859"/>
          </a:solidFill>
        </p:spPr>
      </p:sp>
      <p:sp>
        <p:nvSpPr>
          <p:cNvPr id="5" name="Text 2"/>
          <p:cNvSpPr/>
          <p:nvPr/>
        </p:nvSpPr>
        <p:spPr>
          <a:xfrm>
            <a:off x="2019936" y="2583242"/>
            <a:ext cx="532130" cy="440690"/>
          </a:xfrm>
          <a:prstGeom prst="rect">
            <a:avLst/>
          </a:prstGeom>
          <a:noFill/>
        </p:spPr>
        <p:txBody>
          <a:bodyPr wrap="none" lIns="0" tIns="0" rIns="0" bIns="0" rtlCol="0" anchor="ctr">
            <a:spAutoFit/>
          </a:bodyPr>
          <a:lstStyle/>
          <a:p>
            <a:pPr marL="0" indent="0" algn="ctr">
              <a:buNone/>
            </a:pPr>
            <a:r>
              <a:rPr lang="en-US" sz="2865" dirty="0">
                <a:solidFill>
                  <a:srgbClr val="FFFFFF"/>
                </a:solidFill>
                <a:latin typeface="Playfair Display Bold" pitchFamily="34" charset="0"/>
                <a:ea typeface="Playfair Display Bold" pitchFamily="34" charset="-122"/>
                <a:cs typeface="Playfair Display Bold" pitchFamily="34" charset="-120"/>
              </a:rPr>
              <a:t>01</a:t>
            </a:r>
            <a:endParaRPr lang="en-US" sz="2865" dirty="0"/>
          </a:p>
        </p:txBody>
      </p:sp>
      <p:sp>
        <p:nvSpPr>
          <p:cNvPr id="6" name="Text 3"/>
          <p:cNvSpPr/>
          <p:nvPr/>
        </p:nvSpPr>
        <p:spPr>
          <a:xfrm>
            <a:off x="762000" y="3470337"/>
            <a:ext cx="3048000" cy="287020"/>
          </a:xfrm>
          <a:prstGeom prst="rect">
            <a:avLst/>
          </a:prstGeom>
          <a:noFill/>
        </p:spPr>
        <p:txBody>
          <a:bodyPr wrap="square" lIns="0" tIns="0" rIns="0" bIns="0" rtlCol="0" anchor="t">
            <a:spAutoFit/>
          </a:bodyPr>
          <a:lstStyle/>
          <a:p>
            <a:pPr marL="0" indent="0" algn="ctr">
              <a:buNone/>
            </a:pPr>
            <a:r>
              <a:rPr lang="en-US" sz="1865" dirty="0">
                <a:solidFill>
                  <a:srgbClr val="2C3E50"/>
                </a:solidFill>
                <a:latin typeface="Inter Medium" pitchFamily="34" charset="0"/>
                <a:ea typeface="Inter Medium" pitchFamily="34" charset="-122"/>
                <a:cs typeface="Inter Medium" pitchFamily="34" charset="-120"/>
              </a:rPr>
              <a:t>行业流量筛选</a:t>
            </a:r>
            <a:endParaRPr lang="en-US" sz="1865" dirty="0"/>
          </a:p>
        </p:txBody>
      </p:sp>
      <p:sp>
        <p:nvSpPr>
          <p:cNvPr id="7" name="Text 4"/>
          <p:cNvSpPr/>
          <p:nvPr/>
        </p:nvSpPr>
        <p:spPr>
          <a:xfrm>
            <a:off x="762000" y="3956112"/>
            <a:ext cx="3048000" cy="749935"/>
          </a:xfrm>
          <a:prstGeom prst="rect">
            <a:avLst/>
          </a:prstGeom>
          <a:noFill/>
        </p:spPr>
        <p:txBody>
          <a:bodyPr wrap="square" lIns="0" tIns="0" rIns="0" bIns="0" rtlCol="0" anchor="t">
            <a:spAutoFit/>
          </a:bodyPr>
          <a:lstStyle/>
          <a:p>
            <a:pPr marL="0" indent="0" algn="ctr">
              <a:lnSpc>
                <a:spcPct val="128000"/>
              </a:lnSpc>
              <a:buNone/>
            </a:pPr>
            <a:r>
              <a:rPr lang="en-US" sz="1265" dirty="0">
                <a:solidFill>
                  <a:srgbClr val="596A7A"/>
                </a:solidFill>
                <a:latin typeface="Inter Light" pitchFamily="34" charset="0"/>
                <a:ea typeface="Inter Light" pitchFamily="34" charset="-122"/>
                <a:cs typeface="Inter Light" pitchFamily="34" charset="-120"/>
              </a:rPr>
              <a:t>利用 Similarweb 导出同类高流量媒体域名列表，快速锁定目标行业的头部及腰部流量池。</a:t>
            </a:r>
            <a:endParaRPr lang="en-US" sz="1265" dirty="0"/>
          </a:p>
        </p:txBody>
      </p:sp>
      <p:sp>
        <p:nvSpPr>
          <p:cNvPr id="8" name="Shape 5"/>
          <p:cNvSpPr/>
          <p:nvPr/>
        </p:nvSpPr>
        <p:spPr>
          <a:xfrm>
            <a:off x="5619751" y="2327337"/>
            <a:ext cx="952500" cy="952500"/>
          </a:xfrm>
          <a:prstGeom prst="ellipse">
            <a:avLst/>
          </a:prstGeom>
          <a:solidFill>
            <a:srgbClr val="00A859"/>
          </a:solidFill>
        </p:spPr>
      </p:sp>
      <p:sp>
        <p:nvSpPr>
          <p:cNvPr id="9" name="Text 6"/>
          <p:cNvSpPr/>
          <p:nvPr/>
        </p:nvSpPr>
        <p:spPr>
          <a:xfrm>
            <a:off x="5829936" y="2583242"/>
            <a:ext cx="532130" cy="440690"/>
          </a:xfrm>
          <a:prstGeom prst="rect">
            <a:avLst/>
          </a:prstGeom>
          <a:noFill/>
        </p:spPr>
        <p:txBody>
          <a:bodyPr wrap="none" lIns="0" tIns="0" rIns="0" bIns="0" rtlCol="0" anchor="ctr">
            <a:spAutoFit/>
          </a:bodyPr>
          <a:lstStyle/>
          <a:p>
            <a:pPr marL="0" indent="0" algn="ctr">
              <a:buNone/>
            </a:pPr>
            <a:r>
              <a:rPr lang="en-US" sz="2865" dirty="0">
                <a:solidFill>
                  <a:srgbClr val="FFFFFF"/>
                </a:solidFill>
                <a:latin typeface="Playfair Display Bold" pitchFamily="34" charset="0"/>
                <a:ea typeface="Playfair Display Bold" pitchFamily="34" charset="-122"/>
                <a:cs typeface="Playfair Display Bold" pitchFamily="34" charset="-120"/>
              </a:rPr>
              <a:t>02</a:t>
            </a:r>
            <a:endParaRPr lang="en-US" sz="2865" dirty="0"/>
          </a:p>
        </p:txBody>
      </p:sp>
      <p:sp>
        <p:nvSpPr>
          <p:cNvPr id="10" name="Text 7"/>
          <p:cNvSpPr/>
          <p:nvPr/>
        </p:nvSpPr>
        <p:spPr>
          <a:xfrm>
            <a:off x="4572000" y="3470337"/>
            <a:ext cx="3048000" cy="287020"/>
          </a:xfrm>
          <a:prstGeom prst="rect">
            <a:avLst/>
          </a:prstGeom>
          <a:noFill/>
        </p:spPr>
        <p:txBody>
          <a:bodyPr wrap="square" lIns="0" tIns="0" rIns="0" bIns="0" rtlCol="0" anchor="t">
            <a:spAutoFit/>
          </a:bodyPr>
          <a:lstStyle/>
          <a:p>
            <a:pPr marL="0" indent="0" algn="ctr">
              <a:buNone/>
            </a:pPr>
            <a:r>
              <a:rPr lang="en-US" sz="1865" dirty="0">
                <a:solidFill>
                  <a:srgbClr val="2C3E50"/>
                </a:solidFill>
                <a:latin typeface="Inter Medium" pitchFamily="34" charset="0"/>
                <a:ea typeface="Inter Medium" pitchFamily="34" charset="-122"/>
                <a:cs typeface="Inter Medium" pitchFamily="34" charset="-120"/>
              </a:rPr>
              <a:t>记者库精准匹配</a:t>
            </a:r>
            <a:endParaRPr lang="en-US" sz="1865" dirty="0"/>
          </a:p>
        </p:txBody>
      </p:sp>
      <p:sp>
        <p:nvSpPr>
          <p:cNvPr id="11" name="Text 8"/>
          <p:cNvSpPr/>
          <p:nvPr/>
        </p:nvSpPr>
        <p:spPr>
          <a:xfrm>
            <a:off x="4572000" y="3956112"/>
            <a:ext cx="3048000" cy="749935"/>
          </a:xfrm>
          <a:prstGeom prst="rect">
            <a:avLst/>
          </a:prstGeom>
          <a:noFill/>
        </p:spPr>
        <p:txBody>
          <a:bodyPr wrap="square" lIns="0" tIns="0" rIns="0" bIns="0" rtlCol="0" anchor="t">
            <a:spAutoFit/>
          </a:bodyPr>
          <a:lstStyle/>
          <a:p>
            <a:pPr marL="0" indent="0" algn="ctr">
              <a:lnSpc>
                <a:spcPct val="128000"/>
              </a:lnSpc>
              <a:buNone/>
            </a:pPr>
            <a:r>
              <a:rPr lang="en-US" sz="1265" dirty="0">
                <a:solidFill>
                  <a:srgbClr val="596A7A"/>
                </a:solidFill>
                <a:latin typeface="Inter Light" pitchFamily="34" charset="0"/>
                <a:ea typeface="Inter Light" pitchFamily="34" charset="-122"/>
                <a:cs typeface="Inter Light" pitchFamily="34" charset="-120"/>
              </a:rPr>
              <a:t>将域名列表导入 Meltwater 全球记者库，自动匹配该网站下擅长特定专题（如 Fitness）的活跃编辑。</a:t>
            </a:r>
            <a:endParaRPr lang="en-US" sz="1265" dirty="0"/>
          </a:p>
        </p:txBody>
      </p:sp>
      <p:sp>
        <p:nvSpPr>
          <p:cNvPr id="12" name="Shape 9"/>
          <p:cNvSpPr/>
          <p:nvPr/>
        </p:nvSpPr>
        <p:spPr>
          <a:xfrm>
            <a:off x="9429751" y="2327337"/>
            <a:ext cx="952500" cy="952500"/>
          </a:xfrm>
          <a:prstGeom prst="ellipse">
            <a:avLst/>
          </a:prstGeom>
          <a:solidFill>
            <a:srgbClr val="00A859"/>
          </a:solidFill>
        </p:spPr>
      </p:sp>
      <p:sp>
        <p:nvSpPr>
          <p:cNvPr id="13" name="Text 10"/>
          <p:cNvSpPr/>
          <p:nvPr/>
        </p:nvSpPr>
        <p:spPr>
          <a:xfrm>
            <a:off x="9639936" y="2583242"/>
            <a:ext cx="532130" cy="440690"/>
          </a:xfrm>
          <a:prstGeom prst="rect">
            <a:avLst/>
          </a:prstGeom>
          <a:noFill/>
        </p:spPr>
        <p:txBody>
          <a:bodyPr wrap="none" lIns="0" tIns="0" rIns="0" bIns="0" rtlCol="0" anchor="ctr">
            <a:spAutoFit/>
          </a:bodyPr>
          <a:lstStyle/>
          <a:p>
            <a:pPr marL="0" indent="0" algn="ctr">
              <a:buNone/>
            </a:pPr>
            <a:r>
              <a:rPr lang="en-US" sz="2865" dirty="0">
                <a:solidFill>
                  <a:srgbClr val="FFFFFF"/>
                </a:solidFill>
                <a:latin typeface="Playfair Display Bold" pitchFamily="34" charset="0"/>
                <a:ea typeface="Playfair Display Bold" pitchFamily="34" charset="-122"/>
                <a:cs typeface="Playfair Display Bold" pitchFamily="34" charset="-120"/>
              </a:rPr>
              <a:t>03</a:t>
            </a:r>
            <a:endParaRPr lang="en-US" sz="2865" dirty="0"/>
          </a:p>
        </p:txBody>
      </p:sp>
      <p:sp>
        <p:nvSpPr>
          <p:cNvPr id="14" name="Text 11"/>
          <p:cNvSpPr/>
          <p:nvPr/>
        </p:nvSpPr>
        <p:spPr>
          <a:xfrm>
            <a:off x="8382000" y="3470337"/>
            <a:ext cx="3048000" cy="287020"/>
          </a:xfrm>
          <a:prstGeom prst="rect">
            <a:avLst/>
          </a:prstGeom>
          <a:noFill/>
        </p:spPr>
        <p:txBody>
          <a:bodyPr wrap="square" lIns="0" tIns="0" rIns="0" bIns="0" rtlCol="0" anchor="t">
            <a:spAutoFit/>
          </a:bodyPr>
          <a:lstStyle/>
          <a:p>
            <a:pPr marL="0" indent="0" algn="ctr">
              <a:buNone/>
            </a:pPr>
            <a:r>
              <a:rPr lang="en-US" sz="1865" dirty="0">
                <a:solidFill>
                  <a:srgbClr val="2C3E50"/>
                </a:solidFill>
                <a:latin typeface="Inter Medium" pitchFamily="34" charset="0"/>
                <a:ea typeface="Inter Medium" pitchFamily="34" charset="-122"/>
                <a:cs typeface="Inter Medium" pitchFamily="34" charset="-120"/>
              </a:rPr>
              <a:t>多维背景透视</a:t>
            </a:r>
            <a:endParaRPr lang="en-US" sz="1865" dirty="0"/>
          </a:p>
        </p:txBody>
      </p:sp>
      <p:sp>
        <p:nvSpPr>
          <p:cNvPr id="15" name="Text 12"/>
          <p:cNvSpPr/>
          <p:nvPr/>
        </p:nvSpPr>
        <p:spPr>
          <a:xfrm>
            <a:off x="8382000" y="3956112"/>
            <a:ext cx="3048000" cy="749935"/>
          </a:xfrm>
          <a:prstGeom prst="rect">
            <a:avLst/>
          </a:prstGeom>
          <a:noFill/>
        </p:spPr>
        <p:txBody>
          <a:bodyPr wrap="square" lIns="0" tIns="0" rIns="0" bIns="0" rtlCol="0" anchor="t">
            <a:spAutoFit/>
          </a:bodyPr>
          <a:lstStyle/>
          <a:p>
            <a:pPr marL="0" indent="0" algn="ctr">
              <a:lnSpc>
                <a:spcPct val="128000"/>
              </a:lnSpc>
              <a:buNone/>
            </a:pPr>
            <a:r>
              <a:rPr lang="en-US" sz="1265" dirty="0">
                <a:solidFill>
                  <a:srgbClr val="596A7A"/>
                </a:solidFill>
                <a:latin typeface="Inter Light" pitchFamily="34" charset="0"/>
                <a:ea typeface="Inter Light" pitchFamily="34" charset="-122"/>
                <a:cs typeface="Inter Light" pitchFamily="34" charset="-120"/>
              </a:rPr>
              <a:t>获取编辑的直接联系方式、社媒账号、职业经历及过往报道案例，为后续个性化开发做足功课。</a:t>
            </a:r>
            <a:endParaRPr lang="en-US" sz="126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方法三：竞品外链分析</a:t>
            </a:r>
            <a:endParaRPr lang="en-US" sz="3265" dirty="0"/>
          </a:p>
        </p:txBody>
      </p:sp>
      <p:sp>
        <p:nvSpPr>
          <p:cNvPr id="4" name="Shape 1"/>
          <p:cNvSpPr/>
          <p:nvPr/>
        </p:nvSpPr>
        <p:spPr>
          <a:xfrm>
            <a:off x="838200" y="2308287"/>
            <a:ext cx="3007519" cy="314325"/>
          </a:xfrm>
          <a:prstGeom prst="rect">
            <a:avLst/>
          </a:prstGeom>
          <a:solidFill>
            <a:srgbClr val="2C3E50"/>
          </a:solidFill>
        </p:spPr>
      </p:sp>
      <p:sp>
        <p:nvSpPr>
          <p:cNvPr id="5" name="Text 2"/>
          <p:cNvSpPr/>
          <p:nvPr/>
        </p:nvSpPr>
        <p:spPr>
          <a:xfrm>
            <a:off x="838200" y="2308287"/>
            <a:ext cx="3007519" cy="334010"/>
          </a:xfrm>
          <a:prstGeom prst="rect">
            <a:avLst/>
          </a:prstGeom>
          <a:noFill/>
        </p:spPr>
        <p:txBody>
          <a:bodyPr wrap="square" lIns="181356" tIns="90762" rIns="181356" bIns="90762" rtlCol="0" anchor="t">
            <a:spAutoFit/>
          </a:bodyPr>
          <a:lstStyle/>
          <a:p>
            <a:pPr marL="0" indent="0" algn="l">
              <a:buNone/>
            </a:pPr>
            <a:r>
              <a:rPr lang="en-US" sz="1000" kern="0" spc="1" dirty="0">
                <a:solidFill>
                  <a:srgbClr val="FFFFFF"/>
                </a:solidFill>
                <a:latin typeface="Inter Medium" pitchFamily="34" charset="0"/>
                <a:ea typeface="Inter Medium" pitchFamily="34" charset="-122"/>
                <a:cs typeface="Inter Medium" pitchFamily="34" charset="-120"/>
              </a:rPr>
              <a:t>SEMRUSH / AHREFS / UBERSUGGEST</a:t>
            </a:r>
            <a:endParaRPr lang="en-US" sz="1000" dirty="0"/>
          </a:p>
        </p:txBody>
      </p:sp>
      <p:sp>
        <p:nvSpPr>
          <p:cNvPr id="6" name="Text 3"/>
          <p:cNvSpPr/>
          <p:nvPr/>
        </p:nvSpPr>
        <p:spPr>
          <a:xfrm>
            <a:off x="838200" y="2736912"/>
            <a:ext cx="4286251" cy="255905"/>
          </a:xfrm>
          <a:prstGeom prst="rect">
            <a:avLst/>
          </a:prstGeom>
          <a:noFill/>
        </p:spPr>
        <p:txBody>
          <a:bodyPr wrap="square" lIns="0" tIns="0" rIns="0" bIns="0" rtlCol="0" anchor="t">
            <a:spAutoFit/>
          </a:bodyPr>
          <a:lstStyle/>
          <a:p>
            <a:pPr marL="0" indent="0" algn="l">
              <a:buNone/>
            </a:pPr>
            <a:r>
              <a:rPr lang="en-US" sz="1665" dirty="0">
                <a:solidFill>
                  <a:srgbClr val="00A859"/>
                </a:solidFill>
                <a:latin typeface="Inter Medium" pitchFamily="34" charset="0"/>
                <a:ea typeface="Inter Medium" pitchFamily="34" charset="-122"/>
                <a:cs typeface="Inter Medium" pitchFamily="34" charset="-120"/>
              </a:rPr>
              <a:t>外链一键提取</a:t>
            </a:r>
            <a:endParaRPr lang="en-US" sz="1665" dirty="0"/>
          </a:p>
        </p:txBody>
      </p:sp>
      <p:sp>
        <p:nvSpPr>
          <p:cNvPr id="7" name="Text 4"/>
          <p:cNvSpPr/>
          <p:nvPr/>
        </p:nvSpPr>
        <p:spPr>
          <a:xfrm>
            <a:off x="838200" y="3217924"/>
            <a:ext cx="42862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输入竞品域名，系统化导出其已获得的媒体博客外链，这是获取精准资源最快的“捷径”。</a:t>
            </a:r>
            <a:endParaRPr lang="en-US" sz="1265" dirty="0"/>
          </a:p>
        </p:txBody>
      </p:sp>
      <p:sp>
        <p:nvSpPr>
          <p:cNvPr id="8" name="Text 5"/>
          <p:cNvSpPr/>
          <p:nvPr/>
        </p:nvSpPr>
        <p:spPr>
          <a:xfrm>
            <a:off x="838200" y="3937955"/>
            <a:ext cx="4286251" cy="255905"/>
          </a:xfrm>
          <a:prstGeom prst="rect">
            <a:avLst/>
          </a:prstGeom>
          <a:noFill/>
        </p:spPr>
        <p:txBody>
          <a:bodyPr wrap="square" lIns="0" tIns="0" rIns="0" bIns="0" rtlCol="0" anchor="t">
            <a:spAutoFit/>
          </a:bodyPr>
          <a:lstStyle/>
          <a:p>
            <a:pPr marL="0" indent="0" algn="l">
              <a:buNone/>
            </a:pPr>
            <a:r>
              <a:rPr lang="en-US" sz="1665" dirty="0">
                <a:solidFill>
                  <a:srgbClr val="00A859"/>
                </a:solidFill>
                <a:latin typeface="Inter Medium" pitchFamily="34" charset="0"/>
                <a:ea typeface="Inter Medium" pitchFamily="34" charset="-122"/>
                <a:cs typeface="Inter Medium" pitchFamily="34" charset="-120"/>
              </a:rPr>
              <a:t>资源路径收割</a:t>
            </a:r>
            <a:endParaRPr lang="en-US" sz="1665" dirty="0"/>
          </a:p>
        </p:txBody>
      </p:sp>
      <p:sp>
        <p:nvSpPr>
          <p:cNvPr id="9" name="Text 6"/>
          <p:cNvSpPr/>
          <p:nvPr/>
        </p:nvSpPr>
        <p:spPr>
          <a:xfrm>
            <a:off x="838200" y="4418968"/>
            <a:ext cx="42862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通过分析竞品的背书媒体，模仿其资源路径，快速建立属于自己的高权重媒体库。</a:t>
            </a:r>
            <a:endParaRPr lang="en-US" sz="1265" dirty="0"/>
          </a:p>
        </p:txBody>
      </p:sp>
      <p:sp>
        <p:nvSpPr>
          <p:cNvPr id="10" name="Text 7"/>
          <p:cNvSpPr/>
          <p:nvPr/>
        </p:nvSpPr>
        <p:spPr>
          <a:xfrm>
            <a:off x="838200" y="5138997"/>
            <a:ext cx="4286251" cy="255905"/>
          </a:xfrm>
          <a:prstGeom prst="rect">
            <a:avLst/>
          </a:prstGeom>
          <a:noFill/>
        </p:spPr>
        <p:txBody>
          <a:bodyPr wrap="square" lIns="0" tIns="0" rIns="0" bIns="0" rtlCol="0" anchor="t">
            <a:spAutoFit/>
          </a:bodyPr>
          <a:lstStyle/>
          <a:p>
            <a:pPr marL="0" indent="0" algn="l">
              <a:buNone/>
            </a:pPr>
            <a:r>
              <a:rPr lang="en-US" sz="1665" dirty="0">
                <a:solidFill>
                  <a:srgbClr val="00A859"/>
                </a:solidFill>
                <a:latin typeface="Inter Medium" pitchFamily="34" charset="0"/>
                <a:ea typeface="Inter Medium" pitchFamily="34" charset="-122"/>
                <a:cs typeface="Inter Medium" pitchFamily="34" charset="-120"/>
              </a:rPr>
              <a:t>低成本替代方案</a:t>
            </a:r>
            <a:endParaRPr lang="en-US" sz="1665" dirty="0"/>
          </a:p>
        </p:txBody>
      </p:sp>
      <p:sp>
        <p:nvSpPr>
          <p:cNvPr id="11" name="Text 8"/>
          <p:cNvSpPr/>
          <p:nvPr/>
        </p:nvSpPr>
        <p:spPr>
          <a:xfrm>
            <a:off x="838200" y="5620011"/>
            <a:ext cx="42862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需求量较小时，可使用 Ubersuggest (NeilPatel) 免费查看关键词数据与外链情况。</a:t>
            </a:r>
            <a:endParaRPr lang="en-US" sz="1265" dirty="0"/>
          </a:p>
        </p:txBody>
      </p:sp>
      <p:sp>
        <p:nvSpPr>
          <p:cNvPr id="12" name="Shape 9"/>
          <p:cNvSpPr/>
          <p:nvPr/>
        </p:nvSpPr>
        <p:spPr>
          <a:xfrm>
            <a:off x="5886451" y="2117787"/>
            <a:ext cx="5619751" cy="4019551"/>
          </a:xfrm>
          <a:prstGeom prst="rect">
            <a:avLst/>
          </a:prstGeom>
          <a:solidFill>
            <a:srgbClr val="FFFFFF"/>
          </a:solidFill>
          <a:ln w="9144">
            <a:solidFill>
              <a:srgbClr val="000000">
                <a:alpha val="5000"/>
              </a:srgbClr>
            </a:solidFill>
            <a:prstDash val="solid"/>
          </a:ln>
        </p:spPr>
      </p:sp>
      <p:sp>
        <p:nvSpPr>
          <p:cNvPr id="13" name="Shape 10"/>
          <p:cNvSpPr/>
          <p:nvPr/>
        </p:nvSpPr>
        <p:spPr>
          <a:xfrm>
            <a:off x="5886451" y="2117787"/>
            <a:ext cx="5619751" cy="447675"/>
          </a:xfrm>
          <a:prstGeom prst="rect">
            <a:avLst/>
          </a:prstGeom>
          <a:solidFill>
            <a:srgbClr val="2C3E50"/>
          </a:solidFill>
        </p:spPr>
      </p:sp>
      <p:sp>
        <p:nvSpPr>
          <p:cNvPr id="14" name="Text 11"/>
          <p:cNvSpPr/>
          <p:nvPr/>
        </p:nvSpPr>
        <p:spPr>
          <a:xfrm>
            <a:off x="6076951" y="2260663"/>
            <a:ext cx="2619375" cy="153670"/>
          </a:xfrm>
          <a:prstGeom prst="rect">
            <a:avLst/>
          </a:prstGeom>
          <a:noFill/>
        </p:spPr>
        <p:txBody>
          <a:bodyPr wrap="square" lIns="0" tIns="0" rIns="0" bIns="0" rtlCol="0" anchor="t">
            <a:spAutoFit/>
          </a:bodyPr>
          <a:lstStyle/>
          <a:p>
            <a:pPr marL="0" indent="0" algn="l">
              <a:buNone/>
            </a:pPr>
            <a:r>
              <a:rPr lang="en-US" sz="1000" dirty="0">
                <a:solidFill>
                  <a:srgbClr val="FFFFFF"/>
                </a:solidFill>
                <a:latin typeface="Inter Medium" pitchFamily="34" charset="0"/>
                <a:ea typeface="Inter Medium" pitchFamily="34" charset="-122"/>
                <a:cs typeface="Inter Medium" pitchFamily="34" charset="-120"/>
              </a:rPr>
              <a:t>Referring Page URL</a:t>
            </a:r>
            <a:endParaRPr lang="en-US" sz="1000" dirty="0"/>
          </a:p>
        </p:txBody>
      </p:sp>
      <p:sp>
        <p:nvSpPr>
          <p:cNvPr id="15" name="Text 12"/>
          <p:cNvSpPr/>
          <p:nvPr/>
        </p:nvSpPr>
        <p:spPr>
          <a:xfrm>
            <a:off x="8696325" y="2260663"/>
            <a:ext cx="970915" cy="153670"/>
          </a:xfrm>
          <a:prstGeom prst="rect">
            <a:avLst/>
          </a:prstGeom>
          <a:noFill/>
        </p:spPr>
        <p:txBody>
          <a:bodyPr wrap="none" lIns="0" tIns="0" rIns="0" bIns="0" rtlCol="0" anchor="t">
            <a:spAutoFit/>
          </a:bodyPr>
          <a:lstStyle/>
          <a:p>
            <a:pPr marL="0" indent="0" algn="l">
              <a:buNone/>
            </a:pPr>
            <a:r>
              <a:rPr lang="en-US" sz="1000" dirty="0">
                <a:solidFill>
                  <a:srgbClr val="FFFFFF"/>
                </a:solidFill>
                <a:latin typeface="Inter Medium" pitchFamily="34" charset="0"/>
                <a:ea typeface="Inter Medium" pitchFamily="34" charset="-122"/>
                <a:cs typeface="Inter Medium" pitchFamily="34" charset="-120"/>
              </a:rPr>
              <a:t>Domain Rating</a:t>
            </a:r>
            <a:endParaRPr lang="en-US" sz="1000" dirty="0"/>
          </a:p>
        </p:txBody>
      </p:sp>
      <p:sp>
        <p:nvSpPr>
          <p:cNvPr id="16" name="Text 13"/>
          <p:cNvSpPr/>
          <p:nvPr/>
        </p:nvSpPr>
        <p:spPr>
          <a:xfrm>
            <a:off x="10006012" y="2260663"/>
            <a:ext cx="420370" cy="153670"/>
          </a:xfrm>
          <a:prstGeom prst="rect">
            <a:avLst/>
          </a:prstGeom>
          <a:noFill/>
        </p:spPr>
        <p:txBody>
          <a:bodyPr wrap="none" lIns="0" tIns="0" rIns="0" bIns="0" rtlCol="0" anchor="t">
            <a:spAutoFit/>
          </a:bodyPr>
          <a:lstStyle/>
          <a:p>
            <a:pPr marL="0" indent="0" algn="l">
              <a:buNone/>
            </a:pPr>
            <a:r>
              <a:rPr lang="en-US" sz="1000" dirty="0">
                <a:solidFill>
                  <a:srgbClr val="FFFFFF"/>
                </a:solidFill>
                <a:latin typeface="Inter Medium" pitchFamily="34" charset="0"/>
                <a:ea typeface="Inter Medium" pitchFamily="34" charset="-122"/>
                <a:cs typeface="Inter Medium" pitchFamily="34" charset="-120"/>
              </a:rPr>
              <a:t>Traffic</a:t>
            </a:r>
            <a:endParaRPr lang="en-US" sz="1000" dirty="0"/>
          </a:p>
        </p:txBody>
      </p:sp>
      <p:sp>
        <p:nvSpPr>
          <p:cNvPr id="17" name="Shape 14"/>
          <p:cNvSpPr/>
          <p:nvPr/>
        </p:nvSpPr>
        <p:spPr>
          <a:xfrm>
            <a:off x="5886451" y="2565463"/>
            <a:ext cx="5619751" cy="619125"/>
          </a:xfrm>
          <a:prstGeom prst="rect">
            <a:avLst/>
          </a:prstGeom>
          <a:solidFill>
            <a:srgbClr val="FAFBFA"/>
          </a:solidFill>
        </p:spPr>
      </p:sp>
      <p:sp>
        <p:nvSpPr>
          <p:cNvPr id="18" name="Shape 15"/>
          <p:cNvSpPr/>
          <p:nvPr/>
        </p:nvSpPr>
        <p:spPr>
          <a:xfrm>
            <a:off x="5886451" y="3175063"/>
            <a:ext cx="5619751" cy="9525"/>
          </a:xfrm>
          <a:prstGeom prst="rect">
            <a:avLst/>
          </a:prstGeom>
          <a:solidFill>
            <a:srgbClr val="F4F7F6"/>
          </a:solidFill>
        </p:spPr>
      </p:sp>
      <p:sp>
        <p:nvSpPr>
          <p:cNvPr id="19" name="Text 16"/>
          <p:cNvSpPr/>
          <p:nvPr/>
        </p:nvSpPr>
        <p:spPr>
          <a:xfrm>
            <a:off x="6076951" y="2708337"/>
            <a:ext cx="2619375" cy="30734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techcrunch.com/article/competitor-review</a:t>
            </a:r>
            <a:endParaRPr lang="en-US" sz="1000" dirty="0"/>
          </a:p>
        </p:txBody>
      </p:sp>
      <p:sp>
        <p:nvSpPr>
          <p:cNvPr id="20" name="Text 17"/>
          <p:cNvSpPr/>
          <p:nvPr/>
        </p:nvSpPr>
        <p:spPr>
          <a:xfrm>
            <a:off x="8696325" y="2708337"/>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92</a:t>
            </a:r>
            <a:endParaRPr lang="en-US" sz="1000" dirty="0"/>
          </a:p>
        </p:txBody>
      </p:sp>
      <p:sp>
        <p:nvSpPr>
          <p:cNvPr id="21" name="Text 18"/>
          <p:cNvSpPr/>
          <p:nvPr/>
        </p:nvSpPr>
        <p:spPr>
          <a:xfrm>
            <a:off x="10006012" y="2708337"/>
            <a:ext cx="33718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1.2M</a:t>
            </a:r>
            <a:endParaRPr lang="en-US" sz="1000" dirty="0"/>
          </a:p>
        </p:txBody>
      </p:sp>
      <p:sp>
        <p:nvSpPr>
          <p:cNvPr id="22" name="Text 19"/>
          <p:cNvSpPr/>
          <p:nvPr/>
        </p:nvSpPr>
        <p:spPr>
          <a:xfrm>
            <a:off x="6076951" y="3317937"/>
            <a:ext cx="2619375" cy="15367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theverge.com/best-gadgets-2024</a:t>
            </a:r>
            <a:endParaRPr lang="en-US" sz="1000" dirty="0"/>
          </a:p>
        </p:txBody>
      </p:sp>
      <p:sp>
        <p:nvSpPr>
          <p:cNvPr id="23" name="Text 20"/>
          <p:cNvSpPr/>
          <p:nvPr/>
        </p:nvSpPr>
        <p:spPr>
          <a:xfrm>
            <a:off x="8696325" y="3317937"/>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91</a:t>
            </a:r>
            <a:endParaRPr lang="en-US" sz="1000" dirty="0"/>
          </a:p>
        </p:txBody>
      </p:sp>
      <p:sp>
        <p:nvSpPr>
          <p:cNvPr id="24" name="Text 21"/>
          <p:cNvSpPr/>
          <p:nvPr/>
        </p:nvSpPr>
        <p:spPr>
          <a:xfrm>
            <a:off x="10006012" y="3317937"/>
            <a:ext cx="37274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850K</a:t>
            </a:r>
            <a:endParaRPr lang="en-US" sz="1000" dirty="0"/>
          </a:p>
        </p:txBody>
      </p:sp>
      <p:sp>
        <p:nvSpPr>
          <p:cNvPr id="25" name="Shape 22"/>
          <p:cNvSpPr/>
          <p:nvPr/>
        </p:nvSpPr>
        <p:spPr>
          <a:xfrm>
            <a:off x="5886451" y="3632263"/>
            <a:ext cx="5619751" cy="457200"/>
          </a:xfrm>
          <a:prstGeom prst="rect">
            <a:avLst/>
          </a:prstGeom>
          <a:solidFill>
            <a:srgbClr val="FAFBFA"/>
          </a:solidFill>
        </p:spPr>
      </p:sp>
      <p:sp>
        <p:nvSpPr>
          <p:cNvPr id="26" name="Shape 23"/>
          <p:cNvSpPr/>
          <p:nvPr/>
        </p:nvSpPr>
        <p:spPr>
          <a:xfrm>
            <a:off x="5886451" y="4079937"/>
            <a:ext cx="5619751" cy="9525"/>
          </a:xfrm>
          <a:prstGeom prst="rect">
            <a:avLst/>
          </a:prstGeom>
          <a:solidFill>
            <a:srgbClr val="F4F7F6"/>
          </a:solidFill>
        </p:spPr>
      </p:sp>
      <p:sp>
        <p:nvSpPr>
          <p:cNvPr id="27" name="Text 24"/>
          <p:cNvSpPr/>
          <p:nvPr/>
        </p:nvSpPr>
        <p:spPr>
          <a:xfrm>
            <a:off x="6076951" y="3775137"/>
            <a:ext cx="2619375" cy="15367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cnet.com/reviews/fitness-trackers</a:t>
            </a:r>
            <a:endParaRPr lang="en-US" sz="1000" dirty="0"/>
          </a:p>
        </p:txBody>
      </p:sp>
      <p:sp>
        <p:nvSpPr>
          <p:cNvPr id="28" name="Text 25"/>
          <p:cNvSpPr/>
          <p:nvPr/>
        </p:nvSpPr>
        <p:spPr>
          <a:xfrm>
            <a:off x="8696325" y="3775137"/>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89</a:t>
            </a:r>
            <a:endParaRPr lang="en-US" sz="1000" dirty="0"/>
          </a:p>
        </p:txBody>
      </p:sp>
      <p:sp>
        <p:nvSpPr>
          <p:cNvPr id="29" name="Text 26"/>
          <p:cNvSpPr/>
          <p:nvPr/>
        </p:nvSpPr>
        <p:spPr>
          <a:xfrm>
            <a:off x="10006012" y="3775137"/>
            <a:ext cx="33718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2.1M</a:t>
            </a:r>
            <a:endParaRPr lang="en-US" sz="1000" dirty="0"/>
          </a:p>
        </p:txBody>
      </p:sp>
      <p:sp>
        <p:nvSpPr>
          <p:cNvPr id="30" name="Text 27"/>
          <p:cNvSpPr/>
          <p:nvPr/>
        </p:nvSpPr>
        <p:spPr>
          <a:xfrm>
            <a:off x="6076951" y="4222812"/>
            <a:ext cx="2619375" cy="30734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wired.com/story/top-picks-for-home-gym</a:t>
            </a:r>
            <a:endParaRPr lang="en-US" sz="1000" dirty="0"/>
          </a:p>
        </p:txBody>
      </p:sp>
      <p:sp>
        <p:nvSpPr>
          <p:cNvPr id="31" name="Text 28"/>
          <p:cNvSpPr/>
          <p:nvPr/>
        </p:nvSpPr>
        <p:spPr>
          <a:xfrm>
            <a:off x="8696325" y="4222812"/>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90</a:t>
            </a:r>
            <a:endParaRPr lang="en-US" sz="1000" dirty="0"/>
          </a:p>
        </p:txBody>
      </p:sp>
      <p:sp>
        <p:nvSpPr>
          <p:cNvPr id="32" name="Text 29"/>
          <p:cNvSpPr/>
          <p:nvPr/>
        </p:nvSpPr>
        <p:spPr>
          <a:xfrm>
            <a:off x="10006012" y="4222812"/>
            <a:ext cx="37274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600K</a:t>
            </a:r>
            <a:endParaRPr lang="en-US" sz="1000" dirty="0"/>
          </a:p>
        </p:txBody>
      </p:sp>
      <p:sp>
        <p:nvSpPr>
          <p:cNvPr id="33" name="Shape 30"/>
          <p:cNvSpPr/>
          <p:nvPr/>
        </p:nvSpPr>
        <p:spPr>
          <a:xfrm>
            <a:off x="5886451" y="4699063"/>
            <a:ext cx="5619751" cy="457200"/>
          </a:xfrm>
          <a:prstGeom prst="rect">
            <a:avLst/>
          </a:prstGeom>
          <a:solidFill>
            <a:srgbClr val="FAFBFA"/>
          </a:solidFill>
        </p:spPr>
      </p:sp>
      <p:sp>
        <p:nvSpPr>
          <p:cNvPr id="34" name="Shape 31"/>
          <p:cNvSpPr/>
          <p:nvPr/>
        </p:nvSpPr>
        <p:spPr>
          <a:xfrm>
            <a:off x="5886451" y="5146737"/>
            <a:ext cx="5619751" cy="9525"/>
          </a:xfrm>
          <a:prstGeom prst="rect">
            <a:avLst/>
          </a:prstGeom>
          <a:solidFill>
            <a:srgbClr val="F4F7F6"/>
          </a:solidFill>
        </p:spPr>
      </p:sp>
      <p:sp>
        <p:nvSpPr>
          <p:cNvPr id="35" name="Text 32"/>
          <p:cNvSpPr/>
          <p:nvPr/>
        </p:nvSpPr>
        <p:spPr>
          <a:xfrm>
            <a:off x="6076951" y="4841937"/>
            <a:ext cx="2619375" cy="15367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forbes.com/sites/lifestyle/gear</a:t>
            </a:r>
            <a:endParaRPr lang="en-US" sz="1000" dirty="0"/>
          </a:p>
        </p:txBody>
      </p:sp>
      <p:sp>
        <p:nvSpPr>
          <p:cNvPr id="36" name="Text 33"/>
          <p:cNvSpPr/>
          <p:nvPr/>
        </p:nvSpPr>
        <p:spPr>
          <a:xfrm>
            <a:off x="8696325" y="4841937"/>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93</a:t>
            </a:r>
            <a:endParaRPr lang="en-US" sz="1000" dirty="0"/>
          </a:p>
        </p:txBody>
      </p:sp>
      <p:sp>
        <p:nvSpPr>
          <p:cNvPr id="37" name="Text 34"/>
          <p:cNvSpPr/>
          <p:nvPr/>
        </p:nvSpPr>
        <p:spPr>
          <a:xfrm>
            <a:off x="10006012" y="4841937"/>
            <a:ext cx="33718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3.4M</a:t>
            </a:r>
            <a:endParaRPr lang="en-US" sz="1000" dirty="0"/>
          </a:p>
        </p:txBody>
      </p:sp>
      <p:sp>
        <p:nvSpPr>
          <p:cNvPr id="38" name="Text 35"/>
          <p:cNvSpPr/>
          <p:nvPr/>
        </p:nvSpPr>
        <p:spPr>
          <a:xfrm>
            <a:off x="6076951" y="5289612"/>
            <a:ext cx="2619375" cy="15367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engadget.com/buying-guide/dumbbells</a:t>
            </a:r>
            <a:endParaRPr lang="en-US" sz="1000" dirty="0"/>
          </a:p>
        </p:txBody>
      </p:sp>
      <p:sp>
        <p:nvSpPr>
          <p:cNvPr id="39" name="Text 36"/>
          <p:cNvSpPr/>
          <p:nvPr/>
        </p:nvSpPr>
        <p:spPr>
          <a:xfrm>
            <a:off x="8696325" y="5289612"/>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88</a:t>
            </a:r>
            <a:endParaRPr lang="en-US" sz="1000" dirty="0"/>
          </a:p>
        </p:txBody>
      </p:sp>
      <p:sp>
        <p:nvSpPr>
          <p:cNvPr id="40" name="Text 37"/>
          <p:cNvSpPr/>
          <p:nvPr/>
        </p:nvSpPr>
        <p:spPr>
          <a:xfrm>
            <a:off x="10006012" y="5289612"/>
            <a:ext cx="37274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450K</a:t>
            </a:r>
            <a:endParaRPr lang="en-US" sz="1000" dirty="0"/>
          </a:p>
        </p:txBody>
      </p:sp>
      <p:sp>
        <p:nvSpPr>
          <p:cNvPr id="41" name="Shape 38"/>
          <p:cNvSpPr/>
          <p:nvPr/>
        </p:nvSpPr>
        <p:spPr>
          <a:xfrm>
            <a:off x="5886451" y="5603937"/>
            <a:ext cx="5619751" cy="457200"/>
          </a:xfrm>
          <a:prstGeom prst="rect">
            <a:avLst/>
          </a:prstGeom>
          <a:solidFill>
            <a:srgbClr val="FAFBFA"/>
          </a:solidFill>
        </p:spPr>
      </p:sp>
      <p:sp>
        <p:nvSpPr>
          <p:cNvPr id="42" name="Shape 39"/>
          <p:cNvSpPr/>
          <p:nvPr/>
        </p:nvSpPr>
        <p:spPr>
          <a:xfrm>
            <a:off x="5886451" y="6051612"/>
            <a:ext cx="5619751" cy="9525"/>
          </a:xfrm>
          <a:prstGeom prst="rect">
            <a:avLst/>
          </a:prstGeom>
          <a:solidFill>
            <a:srgbClr val="F4F7F6"/>
          </a:solidFill>
        </p:spPr>
      </p:sp>
      <p:sp>
        <p:nvSpPr>
          <p:cNvPr id="43" name="Text 40"/>
          <p:cNvSpPr/>
          <p:nvPr/>
        </p:nvSpPr>
        <p:spPr>
          <a:xfrm>
            <a:off x="6076951" y="5746812"/>
            <a:ext cx="2619375" cy="153670"/>
          </a:xfrm>
          <a:prstGeom prst="rect">
            <a:avLst/>
          </a:prstGeom>
          <a:noFill/>
        </p:spPr>
        <p:txBody>
          <a:bodyPr wrap="squar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tomsguide.com/best-picks/running</a:t>
            </a:r>
            <a:endParaRPr lang="en-US" sz="1000" dirty="0"/>
          </a:p>
        </p:txBody>
      </p:sp>
      <p:sp>
        <p:nvSpPr>
          <p:cNvPr id="44" name="Text 41"/>
          <p:cNvSpPr/>
          <p:nvPr/>
        </p:nvSpPr>
        <p:spPr>
          <a:xfrm>
            <a:off x="8696325" y="5746812"/>
            <a:ext cx="185420" cy="153670"/>
          </a:xfrm>
          <a:prstGeom prst="rect">
            <a:avLst/>
          </a:prstGeom>
          <a:noFill/>
        </p:spPr>
        <p:txBody>
          <a:bodyPr wrap="none" lIns="0" tIns="0" rIns="0" bIns="0" rtlCol="0" anchor="t">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87</a:t>
            </a:r>
            <a:endParaRPr lang="en-US" sz="1000" dirty="0"/>
          </a:p>
        </p:txBody>
      </p:sp>
      <p:sp>
        <p:nvSpPr>
          <p:cNvPr id="45" name="Text 42"/>
          <p:cNvSpPr/>
          <p:nvPr/>
        </p:nvSpPr>
        <p:spPr>
          <a:xfrm>
            <a:off x="10006012" y="5746812"/>
            <a:ext cx="372745" cy="153670"/>
          </a:xfrm>
          <a:prstGeom prst="rect">
            <a:avLst/>
          </a:prstGeom>
          <a:noFill/>
        </p:spPr>
        <p:txBody>
          <a:bodyPr wrap="none" lIns="0" tIns="0" rIns="0" bIns="0" rtlCol="0" anchor="t">
            <a:spAutoFit/>
          </a:bodyPr>
          <a:lstStyle/>
          <a:p>
            <a:pPr marL="0" indent="0" algn="l">
              <a:buNone/>
            </a:pPr>
            <a:r>
              <a:rPr lang="en-US" sz="1000" dirty="0">
                <a:solidFill>
                  <a:srgbClr val="596A7A"/>
                </a:solidFill>
                <a:latin typeface="Inter Light" pitchFamily="34" charset="0"/>
                <a:ea typeface="Inter Light" pitchFamily="34" charset="-122"/>
                <a:cs typeface="Inter Light" pitchFamily="34" charset="-120"/>
              </a:rPr>
              <a:t>900K</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寻找编辑联系方式的“十种武器” </a:t>
            </a:r>
            <a:endParaRPr lang="en-US" sz="3265" dirty="0"/>
          </a:p>
        </p:txBody>
      </p:sp>
      <p:sp>
        <p:nvSpPr>
          <p:cNvPr id="4" name="Shape 1"/>
          <p:cNvSpPr/>
          <p:nvPr/>
        </p:nvSpPr>
        <p:spPr>
          <a:xfrm>
            <a:off x="838200" y="2022537"/>
            <a:ext cx="781051" cy="781051"/>
          </a:xfrm>
          <a:prstGeom prst="rect">
            <a:avLst/>
          </a:prstGeom>
          <a:solidFill>
            <a:srgbClr val="FFFFFF"/>
          </a:solidFill>
          <a:ln w="9144">
            <a:solidFill>
              <a:srgbClr val="000000">
                <a:alpha val="5000"/>
              </a:srgbClr>
            </a:solidFill>
            <a:prstDash val="solid"/>
          </a:ln>
        </p:spPr>
      </p:sp>
      <p:pic>
        <p:nvPicPr>
          <p:cNvPr id="5" name="Image 1" descr="preencoded.png"/>
          <p:cNvPicPr>
            <a:picLocks noChangeAspect="1"/>
          </p:cNvPicPr>
          <p:nvPr/>
        </p:nvPicPr>
        <p:blipFill>
          <a:blip r:embed="rId2"/>
          <a:stretch>
            <a:fillRect/>
          </a:stretch>
        </p:blipFill>
        <p:spPr>
          <a:xfrm>
            <a:off x="1066800" y="2251137"/>
            <a:ext cx="304800" cy="304800"/>
          </a:xfrm>
          <a:prstGeom prst="rect">
            <a:avLst/>
          </a:prstGeom>
        </p:spPr>
      </p:pic>
      <p:sp>
        <p:nvSpPr>
          <p:cNvPr id="6" name="Text 2"/>
          <p:cNvSpPr/>
          <p:nvPr/>
        </p:nvSpPr>
        <p:spPr>
          <a:xfrm>
            <a:off x="1885951" y="2032063"/>
            <a:ext cx="2205037" cy="307340"/>
          </a:xfrm>
          <a:prstGeom prst="rect">
            <a:avLst/>
          </a:prstGeom>
          <a:noFill/>
        </p:spPr>
        <p:txBody>
          <a:bodyPr wrap="square" lIns="0" tIns="0" rIns="0" bIns="0" rtlCol="0" anchor="t">
            <a:spAutoFit/>
          </a:bodyPr>
          <a:lstStyle/>
          <a:p>
            <a:pPr marL="0" indent="0" algn="l">
              <a:buNone/>
            </a:pPr>
            <a:r>
              <a:rPr lang="en-US" sz="2000" dirty="0">
                <a:solidFill>
                  <a:srgbClr val="2C3E50"/>
                </a:solidFill>
                <a:latin typeface="Inter Medium" pitchFamily="34" charset="0"/>
                <a:ea typeface="Inter Medium" pitchFamily="34" charset="-122"/>
                <a:cs typeface="Inter Medium" pitchFamily="34" charset="-120"/>
              </a:rPr>
              <a:t>官网直寻与站内信</a:t>
            </a:r>
            <a:endParaRPr lang="en-US" sz="2000" dirty="0"/>
          </a:p>
        </p:txBody>
      </p:sp>
      <p:sp>
        <p:nvSpPr>
          <p:cNvPr id="7" name="Shape 3"/>
          <p:cNvSpPr/>
          <p:nvPr/>
        </p:nvSpPr>
        <p:spPr>
          <a:xfrm>
            <a:off x="4233863" y="2090216"/>
            <a:ext cx="762000" cy="257175"/>
          </a:xfrm>
          <a:prstGeom prst="rect">
            <a:avLst/>
          </a:prstGeom>
          <a:solidFill>
            <a:srgbClr val="00A859">
              <a:alpha val="10000"/>
            </a:srgbClr>
          </a:solidFill>
        </p:spPr>
      </p:sp>
      <p:sp>
        <p:nvSpPr>
          <p:cNvPr id="8" name="Text 4"/>
          <p:cNvSpPr/>
          <p:nvPr/>
        </p:nvSpPr>
        <p:spPr>
          <a:xfrm>
            <a:off x="4233863" y="2096883"/>
            <a:ext cx="779780" cy="243840"/>
          </a:xfrm>
          <a:prstGeom prst="rect">
            <a:avLst/>
          </a:prstGeom>
          <a:noFill/>
        </p:spPr>
        <p:txBody>
          <a:bodyPr wrap="none" lIns="136144" tIns="45381" rIns="136144" bIns="45381" rtlCol="0" anchor="ctr">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基础武器</a:t>
            </a:r>
            <a:endParaRPr lang="en-US" sz="1000" dirty="0"/>
          </a:p>
        </p:txBody>
      </p:sp>
      <p:sp>
        <p:nvSpPr>
          <p:cNvPr id="9" name="Text 5"/>
          <p:cNvSpPr/>
          <p:nvPr/>
        </p:nvSpPr>
        <p:spPr>
          <a:xfrm>
            <a:off x="1885951" y="2572605"/>
            <a:ext cx="8572500" cy="27559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596A7A"/>
                </a:solidFill>
                <a:latin typeface="Inter Light" pitchFamily="34" charset="0"/>
                <a:ea typeface="Inter Light" pitchFamily="34" charset="-122"/>
                <a:cs typeface="Inter Light" pitchFamily="34" charset="-120"/>
              </a:rPr>
              <a:t>深入挖掘 Contact Us、About Us 页面。不要忽视站内信功能，这是最直接且往往被低估的触达渠道。</a:t>
            </a:r>
            <a:endParaRPr lang="en-US" sz="1400" dirty="0"/>
          </a:p>
        </p:txBody>
      </p:sp>
      <p:sp>
        <p:nvSpPr>
          <p:cNvPr id="10" name="Shape 6"/>
          <p:cNvSpPr/>
          <p:nvPr/>
        </p:nvSpPr>
        <p:spPr>
          <a:xfrm>
            <a:off x="838200" y="3544156"/>
            <a:ext cx="781051" cy="781051"/>
          </a:xfrm>
          <a:prstGeom prst="rect">
            <a:avLst/>
          </a:prstGeom>
          <a:solidFill>
            <a:srgbClr val="FFFFFF"/>
          </a:solidFill>
          <a:ln w="9144">
            <a:solidFill>
              <a:srgbClr val="000000">
                <a:alpha val="5000"/>
              </a:srgbClr>
            </a:solidFill>
            <a:prstDash val="solid"/>
          </a:ln>
        </p:spPr>
      </p:sp>
      <p:pic>
        <p:nvPicPr>
          <p:cNvPr id="11" name="Image 2" descr="preencoded.png"/>
          <p:cNvPicPr>
            <a:picLocks noChangeAspect="1"/>
          </p:cNvPicPr>
          <p:nvPr/>
        </p:nvPicPr>
        <p:blipFill>
          <a:blip r:embed="rId3"/>
          <a:stretch>
            <a:fillRect/>
          </a:stretch>
        </p:blipFill>
        <p:spPr>
          <a:xfrm>
            <a:off x="1066800" y="3772756"/>
            <a:ext cx="304800" cy="304800"/>
          </a:xfrm>
          <a:prstGeom prst="rect">
            <a:avLst/>
          </a:prstGeom>
        </p:spPr>
      </p:pic>
      <p:sp>
        <p:nvSpPr>
          <p:cNvPr id="12" name="Text 7"/>
          <p:cNvSpPr/>
          <p:nvPr/>
        </p:nvSpPr>
        <p:spPr>
          <a:xfrm>
            <a:off x="1885951" y="3553681"/>
            <a:ext cx="2874169" cy="307340"/>
          </a:xfrm>
          <a:prstGeom prst="rect">
            <a:avLst/>
          </a:prstGeom>
          <a:noFill/>
        </p:spPr>
        <p:txBody>
          <a:bodyPr wrap="square" lIns="0" tIns="0" rIns="0" bIns="0" rtlCol="0" anchor="t">
            <a:spAutoFit/>
          </a:bodyPr>
          <a:lstStyle/>
          <a:p>
            <a:pPr marL="0" indent="0" algn="l">
              <a:buNone/>
            </a:pPr>
            <a:r>
              <a:rPr lang="en-US" sz="2000" dirty="0">
                <a:solidFill>
                  <a:srgbClr val="2C3E50"/>
                </a:solidFill>
                <a:latin typeface="Inter Medium" pitchFamily="34" charset="0"/>
                <a:ea typeface="Inter Medium" pitchFamily="34" charset="-122"/>
                <a:cs typeface="Inter Medium" pitchFamily="34" charset="-120"/>
              </a:rPr>
              <a:t>Hunter 插件与命名推测</a:t>
            </a:r>
            <a:endParaRPr lang="en-US" sz="2000" dirty="0"/>
          </a:p>
        </p:txBody>
      </p:sp>
      <p:sp>
        <p:nvSpPr>
          <p:cNvPr id="13" name="Shape 8"/>
          <p:cNvSpPr/>
          <p:nvPr/>
        </p:nvSpPr>
        <p:spPr>
          <a:xfrm>
            <a:off x="4902993" y="3611836"/>
            <a:ext cx="762000" cy="257175"/>
          </a:xfrm>
          <a:prstGeom prst="rect">
            <a:avLst/>
          </a:prstGeom>
          <a:solidFill>
            <a:srgbClr val="00A859">
              <a:alpha val="10000"/>
            </a:srgbClr>
          </a:solidFill>
        </p:spPr>
      </p:sp>
      <p:sp>
        <p:nvSpPr>
          <p:cNvPr id="14" name="Text 9"/>
          <p:cNvSpPr/>
          <p:nvPr/>
        </p:nvSpPr>
        <p:spPr>
          <a:xfrm>
            <a:off x="4902993" y="3618503"/>
            <a:ext cx="779780" cy="243840"/>
          </a:xfrm>
          <a:prstGeom prst="rect">
            <a:avLst/>
          </a:prstGeom>
          <a:noFill/>
        </p:spPr>
        <p:txBody>
          <a:bodyPr wrap="none" lIns="136144" tIns="45381" rIns="136144" bIns="45381" rtlCol="0" anchor="ctr">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效率武器</a:t>
            </a:r>
            <a:endParaRPr lang="en-US" sz="1000" dirty="0"/>
          </a:p>
        </p:txBody>
      </p:sp>
      <p:sp>
        <p:nvSpPr>
          <p:cNvPr id="15" name="Text 10"/>
          <p:cNvSpPr/>
          <p:nvPr/>
        </p:nvSpPr>
        <p:spPr>
          <a:xfrm>
            <a:off x="1885951" y="4094224"/>
            <a:ext cx="8572500" cy="55118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596A7A"/>
                </a:solidFill>
                <a:latin typeface="Inter Light" pitchFamily="34" charset="0"/>
                <a:ea typeface="Inter Light" pitchFamily="34" charset="-122"/>
                <a:cs typeface="Inter Light" pitchFamily="34" charset="-120"/>
              </a:rPr>
              <a:t>利用 Email Hunter 自动抓取网站邮箱。若找不到特定编辑，可根据已有的邮箱模式（如 First.Last@domain.com）进行逻辑推测。</a:t>
            </a:r>
            <a:endParaRPr lang="en-US" sz="1400" dirty="0"/>
          </a:p>
        </p:txBody>
      </p:sp>
      <p:sp>
        <p:nvSpPr>
          <p:cNvPr id="16" name="Shape 11"/>
          <p:cNvSpPr/>
          <p:nvPr/>
        </p:nvSpPr>
        <p:spPr>
          <a:xfrm>
            <a:off x="838200" y="5065775"/>
            <a:ext cx="781051" cy="781051"/>
          </a:xfrm>
          <a:prstGeom prst="rect">
            <a:avLst/>
          </a:prstGeom>
          <a:solidFill>
            <a:srgbClr val="FFFFFF"/>
          </a:solidFill>
          <a:ln w="9144">
            <a:solidFill>
              <a:srgbClr val="000000">
                <a:alpha val="5000"/>
              </a:srgbClr>
            </a:solidFill>
            <a:prstDash val="solid"/>
          </a:ln>
        </p:spPr>
      </p:sp>
      <p:pic>
        <p:nvPicPr>
          <p:cNvPr id="17" name="Image 3" descr="preencoded.png"/>
          <p:cNvPicPr>
            <a:picLocks noChangeAspect="1"/>
          </p:cNvPicPr>
          <p:nvPr/>
        </p:nvPicPr>
        <p:blipFill>
          <a:blip r:embed="rId4"/>
          <a:stretch>
            <a:fillRect/>
          </a:stretch>
        </p:blipFill>
        <p:spPr>
          <a:xfrm>
            <a:off x="1085851" y="5294375"/>
            <a:ext cx="266700" cy="304800"/>
          </a:xfrm>
          <a:prstGeom prst="rect">
            <a:avLst/>
          </a:prstGeom>
        </p:spPr>
      </p:pic>
      <p:sp>
        <p:nvSpPr>
          <p:cNvPr id="18" name="Text 12"/>
          <p:cNvSpPr/>
          <p:nvPr/>
        </p:nvSpPr>
        <p:spPr>
          <a:xfrm>
            <a:off x="1885951" y="5075300"/>
            <a:ext cx="2205037" cy="307340"/>
          </a:xfrm>
          <a:prstGeom prst="rect">
            <a:avLst/>
          </a:prstGeom>
          <a:noFill/>
        </p:spPr>
        <p:txBody>
          <a:bodyPr wrap="square" lIns="0" tIns="0" rIns="0" bIns="0" rtlCol="0" anchor="t">
            <a:spAutoFit/>
          </a:bodyPr>
          <a:lstStyle/>
          <a:p>
            <a:pPr marL="0" indent="0" algn="l">
              <a:buNone/>
            </a:pPr>
            <a:r>
              <a:rPr lang="en-US" sz="2000" dirty="0">
                <a:solidFill>
                  <a:srgbClr val="2C3E50"/>
                </a:solidFill>
                <a:latin typeface="Inter Medium" pitchFamily="34" charset="0"/>
                <a:ea typeface="Inter Medium" pitchFamily="34" charset="-122"/>
                <a:cs typeface="Inter Medium" pitchFamily="34" charset="-120"/>
              </a:rPr>
              <a:t>职场社媒精准锁定</a:t>
            </a:r>
            <a:endParaRPr lang="en-US" sz="2000" dirty="0"/>
          </a:p>
        </p:txBody>
      </p:sp>
      <p:sp>
        <p:nvSpPr>
          <p:cNvPr id="19" name="Shape 13"/>
          <p:cNvSpPr/>
          <p:nvPr/>
        </p:nvSpPr>
        <p:spPr>
          <a:xfrm>
            <a:off x="4233863" y="5133455"/>
            <a:ext cx="762000" cy="257175"/>
          </a:xfrm>
          <a:prstGeom prst="rect">
            <a:avLst/>
          </a:prstGeom>
          <a:solidFill>
            <a:srgbClr val="00A859">
              <a:alpha val="10000"/>
            </a:srgbClr>
          </a:solidFill>
        </p:spPr>
      </p:sp>
      <p:sp>
        <p:nvSpPr>
          <p:cNvPr id="20" name="Text 14"/>
          <p:cNvSpPr/>
          <p:nvPr/>
        </p:nvSpPr>
        <p:spPr>
          <a:xfrm>
            <a:off x="4233863" y="5140122"/>
            <a:ext cx="779780" cy="243840"/>
          </a:xfrm>
          <a:prstGeom prst="rect">
            <a:avLst/>
          </a:prstGeom>
          <a:noFill/>
        </p:spPr>
        <p:txBody>
          <a:bodyPr wrap="none" lIns="136144" tIns="45381" rIns="136144" bIns="45381" rtlCol="0" anchor="ctr">
            <a:spAutoFit/>
          </a:bodyPr>
          <a:lstStyle/>
          <a:p>
            <a:pPr marL="0" indent="0" algn="l">
              <a:buNone/>
            </a:pPr>
            <a:r>
              <a:rPr lang="en-US" sz="1000" dirty="0">
                <a:solidFill>
                  <a:srgbClr val="00A859"/>
                </a:solidFill>
                <a:latin typeface="Inter Medium" pitchFamily="34" charset="0"/>
                <a:ea typeface="Inter Medium" pitchFamily="34" charset="-122"/>
                <a:cs typeface="Inter Medium" pitchFamily="34" charset="-120"/>
              </a:rPr>
              <a:t>核心武器</a:t>
            </a:r>
            <a:endParaRPr lang="en-US" sz="1000" dirty="0"/>
          </a:p>
        </p:txBody>
      </p:sp>
      <p:sp>
        <p:nvSpPr>
          <p:cNvPr id="21" name="Text 15"/>
          <p:cNvSpPr/>
          <p:nvPr/>
        </p:nvSpPr>
        <p:spPr>
          <a:xfrm>
            <a:off x="1885951" y="5615843"/>
            <a:ext cx="8572500" cy="551180"/>
          </a:xfrm>
          <a:prstGeom prst="rect">
            <a:avLst/>
          </a:prstGeom>
          <a:noFill/>
        </p:spPr>
        <p:txBody>
          <a:bodyPr wrap="square" lIns="0" tIns="0" rIns="0" bIns="0" rtlCol="0" anchor="t">
            <a:spAutoFit/>
          </a:bodyPr>
          <a:lstStyle/>
          <a:p>
            <a:pPr marL="0" indent="0" algn="l">
              <a:lnSpc>
                <a:spcPct val="128000"/>
              </a:lnSpc>
              <a:buNone/>
            </a:pPr>
            <a:r>
              <a:rPr lang="en-US" sz="1400" dirty="0">
                <a:solidFill>
                  <a:srgbClr val="596A7A"/>
                </a:solidFill>
                <a:latin typeface="Inter Light" pitchFamily="34" charset="0"/>
                <a:ea typeface="Inter Light" pitchFamily="34" charset="-122"/>
                <a:cs typeface="Inter Light" pitchFamily="34" charset="-120"/>
              </a:rPr>
              <a:t>使用 Rocketreach、Snovio 或 GetEmail 插件配合 LinkedIn。通过搜索编辑姓名，一键导出其验证过的个人及工作邮箱。</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寻找编辑联系方式的“十种武器” </a:t>
            </a:r>
            <a:endParaRPr lang="en-US" sz="3265" dirty="0"/>
          </a:p>
        </p:txBody>
      </p:sp>
      <p:sp>
        <p:nvSpPr>
          <p:cNvPr id="4" name="Text 1"/>
          <p:cNvSpPr/>
          <p:nvPr/>
        </p:nvSpPr>
        <p:spPr>
          <a:xfrm>
            <a:off x="838200" y="2213037"/>
            <a:ext cx="5143500" cy="375285"/>
          </a:xfrm>
          <a:prstGeom prst="rect">
            <a:avLst/>
          </a:prstGeom>
          <a:noFill/>
        </p:spPr>
        <p:txBody>
          <a:bodyPr wrap="square" lIns="0" tIns="0" rIns="0" bIns="68072" rtlCol="0" anchor="t">
            <a:spAutoFit/>
          </a:bodyPr>
          <a:lstStyle/>
          <a:p>
            <a:pPr marL="0" indent="0" algn="l">
              <a:buNone/>
            </a:pPr>
            <a:r>
              <a:rPr lang="en-US" sz="2000" dirty="0">
                <a:solidFill>
                  <a:srgbClr val="00A859"/>
                </a:solidFill>
                <a:latin typeface="Inter Medium" pitchFamily="34" charset="0"/>
                <a:ea typeface="Inter Medium" pitchFamily="34" charset="-122"/>
                <a:cs typeface="Inter Medium" pitchFamily="34" charset="-120"/>
              </a:rPr>
              <a:t>社交媒体私信触达</a:t>
            </a:r>
            <a:endParaRPr lang="en-US" sz="2000" dirty="0"/>
          </a:p>
        </p:txBody>
      </p:sp>
      <p:sp>
        <p:nvSpPr>
          <p:cNvPr id="5" name="Text 2"/>
          <p:cNvSpPr/>
          <p:nvPr/>
        </p:nvSpPr>
        <p:spPr>
          <a:xfrm>
            <a:off x="838200" y="2753581"/>
            <a:ext cx="5143500" cy="215265"/>
          </a:xfrm>
          <a:prstGeom prst="rect">
            <a:avLst/>
          </a:prstGeom>
          <a:noFill/>
        </p:spPr>
        <p:txBody>
          <a:bodyPr wrap="square" lIns="0" tIns="0" rIns="0" bIns="0" rtlCol="0" anchor="t">
            <a:spAutoFit/>
          </a:bodyPr>
          <a:lstStyle/>
          <a:p>
            <a:pPr marL="0" indent="0" algn="l">
              <a:buNone/>
            </a:pPr>
            <a:r>
              <a:rPr lang="en-US" sz="1400" dirty="0">
                <a:solidFill>
                  <a:srgbClr val="2C3E50"/>
                </a:solidFill>
                <a:latin typeface="Inter Medium" pitchFamily="34" charset="0"/>
                <a:ea typeface="Inter Medium" pitchFamily="34" charset="-122"/>
                <a:cs typeface="Inter Medium" pitchFamily="34" charset="-120"/>
              </a:rPr>
              <a:t>Twitter (X) / Facebook</a:t>
            </a:r>
            <a:endParaRPr lang="en-US" sz="1400" dirty="0"/>
          </a:p>
        </p:txBody>
      </p:sp>
      <p:sp>
        <p:nvSpPr>
          <p:cNvPr id="6" name="Text 3"/>
          <p:cNvSpPr/>
          <p:nvPr/>
        </p:nvSpPr>
        <p:spPr>
          <a:xfrm>
            <a:off x="838200" y="3060763"/>
            <a:ext cx="5143500" cy="467995"/>
          </a:xfrm>
          <a:prstGeom prst="rect">
            <a:avLst/>
          </a:prstGeom>
          <a:noFill/>
        </p:spPr>
        <p:txBody>
          <a:bodyPr wrap="squar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当邮件无果时，可前往编辑的社媒主页寻找简介中的联系方式，或通过私信建立初步联系。</a:t>
            </a:r>
            <a:endParaRPr lang="en-US" sz="1265" dirty="0"/>
          </a:p>
        </p:txBody>
      </p:sp>
      <p:sp>
        <p:nvSpPr>
          <p:cNvPr id="7" name="Text 4"/>
          <p:cNvSpPr/>
          <p:nvPr/>
        </p:nvSpPr>
        <p:spPr>
          <a:xfrm>
            <a:off x="838200" y="3708463"/>
            <a:ext cx="5143500" cy="215265"/>
          </a:xfrm>
          <a:prstGeom prst="rect">
            <a:avLst/>
          </a:prstGeom>
          <a:noFill/>
        </p:spPr>
        <p:txBody>
          <a:bodyPr wrap="square" lIns="0" tIns="0" rIns="0" bIns="0" rtlCol="0" anchor="t">
            <a:spAutoFit/>
          </a:bodyPr>
          <a:lstStyle/>
          <a:p>
            <a:pPr marL="0" indent="0" algn="l">
              <a:buNone/>
            </a:pPr>
            <a:r>
              <a:rPr lang="en-US" sz="1400" dirty="0">
                <a:solidFill>
                  <a:srgbClr val="2C3E50"/>
                </a:solidFill>
                <a:latin typeface="Inter Medium" pitchFamily="34" charset="0"/>
                <a:ea typeface="Inter Medium" pitchFamily="34" charset="-122"/>
                <a:cs typeface="Inter Medium" pitchFamily="34" charset="-120"/>
              </a:rPr>
              <a:t>实战案例</a:t>
            </a:r>
            <a:endParaRPr lang="en-US" sz="1400" dirty="0"/>
          </a:p>
        </p:txBody>
      </p:sp>
      <p:sp>
        <p:nvSpPr>
          <p:cNvPr id="8" name="Text 5"/>
          <p:cNvSpPr/>
          <p:nvPr/>
        </p:nvSpPr>
        <p:spPr>
          <a:xfrm>
            <a:off x="838200" y="4041837"/>
            <a:ext cx="5143500" cy="233680"/>
          </a:xfrm>
          <a:prstGeom prst="rect">
            <a:avLst/>
          </a:prstGeom>
          <a:noFill/>
        </p:spPr>
        <p:txBody>
          <a:bodyPr wrap="squar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曾有通过连续私信成功联系到 ZDNet 编辑的案例，社媒常为突破口。</a:t>
            </a:r>
            <a:endParaRPr lang="en-US" sz="1265" dirty="0"/>
          </a:p>
        </p:txBody>
      </p:sp>
      <p:sp>
        <p:nvSpPr>
          <p:cNvPr id="9" name="Text 6"/>
          <p:cNvSpPr/>
          <p:nvPr/>
        </p:nvSpPr>
        <p:spPr>
          <a:xfrm>
            <a:off x="6362700" y="2213037"/>
            <a:ext cx="5143500" cy="375285"/>
          </a:xfrm>
          <a:prstGeom prst="rect">
            <a:avLst/>
          </a:prstGeom>
          <a:noFill/>
        </p:spPr>
        <p:txBody>
          <a:bodyPr wrap="square" lIns="0" tIns="0" rIns="0" bIns="68072" rtlCol="0" anchor="t">
            <a:spAutoFit/>
          </a:bodyPr>
          <a:lstStyle/>
          <a:p>
            <a:pPr marL="0" indent="0" algn="l">
              <a:buNone/>
            </a:pPr>
            <a:r>
              <a:rPr lang="en-US" sz="2000" dirty="0">
                <a:solidFill>
                  <a:srgbClr val="00A859"/>
                </a:solidFill>
                <a:latin typeface="Inter Medium" pitchFamily="34" charset="0"/>
                <a:ea typeface="Inter Medium" pitchFamily="34" charset="-122"/>
                <a:cs typeface="Inter Medium" pitchFamily="34" charset="-120"/>
              </a:rPr>
              <a:t>谷歌高级搜索指令</a:t>
            </a:r>
            <a:endParaRPr lang="en-US" sz="2000" dirty="0"/>
          </a:p>
        </p:txBody>
      </p:sp>
      <p:sp>
        <p:nvSpPr>
          <p:cNvPr id="10" name="Text 7"/>
          <p:cNvSpPr/>
          <p:nvPr/>
        </p:nvSpPr>
        <p:spPr>
          <a:xfrm>
            <a:off x="6362700" y="2753581"/>
            <a:ext cx="5143500" cy="215265"/>
          </a:xfrm>
          <a:prstGeom prst="rect">
            <a:avLst/>
          </a:prstGeom>
          <a:noFill/>
        </p:spPr>
        <p:txBody>
          <a:bodyPr wrap="square" lIns="0" tIns="0" rIns="0" bIns="0" rtlCol="0" anchor="t">
            <a:spAutoFit/>
          </a:bodyPr>
          <a:lstStyle/>
          <a:p>
            <a:pPr marL="0" indent="0" algn="l">
              <a:buNone/>
            </a:pPr>
            <a:r>
              <a:rPr lang="en-US" sz="1400" dirty="0">
                <a:solidFill>
                  <a:srgbClr val="2C3E50"/>
                </a:solidFill>
                <a:latin typeface="Inter Medium" pitchFamily="34" charset="0"/>
                <a:ea typeface="Inter Medium" pitchFamily="34" charset="-122"/>
                <a:cs typeface="Inter Medium" pitchFamily="34" charset="-120"/>
              </a:rPr>
              <a:t>精准定位联系页面</a:t>
            </a:r>
            <a:endParaRPr lang="en-US" sz="1400" dirty="0"/>
          </a:p>
        </p:txBody>
      </p:sp>
      <p:sp>
        <p:nvSpPr>
          <p:cNvPr id="11" name="Text 8"/>
          <p:cNvSpPr/>
          <p:nvPr/>
        </p:nvSpPr>
        <p:spPr>
          <a:xfrm>
            <a:off x="6362700" y="3086956"/>
            <a:ext cx="308991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利用 inurl 指令快速寻找网站的联系入口。</a:t>
            </a:r>
            <a:endParaRPr lang="en-US" sz="1265" dirty="0"/>
          </a:p>
        </p:txBody>
      </p:sp>
      <p:sp>
        <p:nvSpPr>
          <p:cNvPr id="12" name="Shape 9"/>
          <p:cNvSpPr/>
          <p:nvPr/>
        </p:nvSpPr>
        <p:spPr>
          <a:xfrm>
            <a:off x="6362700" y="3420331"/>
            <a:ext cx="5143500" cy="342900"/>
          </a:xfrm>
          <a:prstGeom prst="rect">
            <a:avLst/>
          </a:prstGeom>
          <a:solidFill>
            <a:srgbClr val="FFFFFF"/>
          </a:solidFill>
        </p:spPr>
      </p:sp>
      <p:sp>
        <p:nvSpPr>
          <p:cNvPr id="13" name="Shape 10"/>
          <p:cNvSpPr/>
          <p:nvPr/>
        </p:nvSpPr>
        <p:spPr>
          <a:xfrm>
            <a:off x="6362700" y="3420331"/>
            <a:ext cx="38100" cy="342900"/>
          </a:xfrm>
          <a:prstGeom prst="rect">
            <a:avLst/>
          </a:prstGeom>
          <a:solidFill>
            <a:srgbClr val="00A859"/>
          </a:solidFill>
        </p:spPr>
      </p:sp>
      <p:sp>
        <p:nvSpPr>
          <p:cNvPr id="14" name="Text 11"/>
          <p:cNvSpPr/>
          <p:nvPr/>
        </p:nvSpPr>
        <p:spPr>
          <a:xfrm>
            <a:off x="6362700" y="3420331"/>
            <a:ext cx="5143500" cy="264795"/>
          </a:xfrm>
          <a:prstGeom prst="rect">
            <a:avLst/>
          </a:prstGeom>
          <a:noFill/>
        </p:spPr>
        <p:txBody>
          <a:bodyPr wrap="square" lIns="158834" tIns="90762" rIns="0" bIns="0" rtlCol="0" anchor="t">
            <a:spAutoFit/>
          </a:bodyPr>
          <a:lstStyle/>
          <a:p>
            <a:pPr marL="0" indent="0" algn="l">
              <a:buNone/>
            </a:pPr>
            <a:r>
              <a:rPr lang="en-US" sz="1135" dirty="0">
                <a:solidFill>
                  <a:srgbClr val="00A859"/>
                </a:solidFill>
                <a:latin typeface="Courier New" panose="02070309020205020404" pitchFamily="34" charset="0"/>
                <a:ea typeface="Courier New" panose="02070309020205020404" pitchFamily="34" charset="-122"/>
                <a:cs typeface="Courier New" panose="02070309020205020404" pitchFamily="34" charset="-120"/>
              </a:rPr>
              <a:t>inurl:"contact us" site:domain.com</a:t>
            </a:r>
            <a:endParaRPr lang="en-US" sz="1135" dirty="0"/>
          </a:p>
        </p:txBody>
      </p:sp>
      <p:sp>
        <p:nvSpPr>
          <p:cNvPr id="15" name="Text 12"/>
          <p:cNvSpPr/>
          <p:nvPr/>
        </p:nvSpPr>
        <p:spPr>
          <a:xfrm>
            <a:off x="6362700" y="3896581"/>
            <a:ext cx="5143500" cy="215265"/>
          </a:xfrm>
          <a:prstGeom prst="rect">
            <a:avLst/>
          </a:prstGeom>
          <a:noFill/>
        </p:spPr>
        <p:txBody>
          <a:bodyPr wrap="square" lIns="0" tIns="0" rIns="0" bIns="0" rtlCol="0" anchor="t">
            <a:spAutoFit/>
          </a:bodyPr>
          <a:lstStyle/>
          <a:p>
            <a:pPr marL="0" indent="0" algn="l">
              <a:buNone/>
            </a:pPr>
            <a:r>
              <a:rPr lang="en-US" sz="1400" dirty="0">
                <a:solidFill>
                  <a:srgbClr val="2C3E50"/>
                </a:solidFill>
                <a:latin typeface="Inter Medium" pitchFamily="34" charset="0"/>
                <a:ea typeface="Inter Medium" pitchFamily="34" charset="-122"/>
                <a:cs typeface="Inter Medium" pitchFamily="34" charset="-120"/>
              </a:rPr>
              <a:t>挖掘隐藏邮箱</a:t>
            </a:r>
            <a:endParaRPr lang="en-US" sz="1400" dirty="0"/>
          </a:p>
        </p:txBody>
      </p:sp>
      <p:sp>
        <p:nvSpPr>
          <p:cNvPr id="16" name="Text 13"/>
          <p:cNvSpPr/>
          <p:nvPr/>
        </p:nvSpPr>
        <p:spPr>
          <a:xfrm>
            <a:off x="6362700" y="4229956"/>
            <a:ext cx="4197985"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结合关键词与 mailto 指令，直接在网页文本中搜索邮箱。</a:t>
            </a:r>
            <a:endParaRPr lang="en-US" sz="1265" dirty="0"/>
          </a:p>
        </p:txBody>
      </p:sp>
      <p:sp>
        <p:nvSpPr>
          <p:cNvPr id="17" name="Shape 14"/>
          <p:cNvSpPr/>
          <p:nvPr/>
        </p:nvSpPr>
        <p:spPr>
          <a:xfrm>
            <a:off x="6362700" y="4563331"/>
            <a:ext cx="5143500" cy="342900"/>
          </a:xfrm>
          <a:prstGeom prst="rect">
            <a:avLst/>
          </a:prstGeom>
          <a:solidFill>
            <a:srgbClr val="FFFFFF"/>
          </a:solidFill>
        </p:spPr>
      </p:sp>
      <p:sp>
        <p:nvSpPr>
          <p:cNvPr id="18" name="Shape 15"/>
          <p:cNvSpPr/>
          <p:nvPr/>
        </p:nvSpPr>
        <p:spPr>
          <a:xfrm>
            <a:off x="6362700" y="4563331"/>
            <a:ext cx="38100" cy="342900"/>
          </a:xfrm>
          <a:prstGeom prst="rect">
            <a:avLst/>
          </a:prstGeom>
          <a:solidFill>
            <a:srgbClr val="00A859"/>
          </a:solidFill>
        </p:spPr>
      </p:sp>
      <p:sp>
        <p:nvSpPr>
          <p:cNvPr id="19" name="Text 16"/>
          <p:cNvSpPr/>
          <p:nvPr/>
        </p:nvSpPr>
        <p:spPr>
          <a:xfrm>
            <a:off x="6362700" y="4563331"/>
            <a:ext cx="5143500" cy="264795"/>
          </a:xfrm>
          <a:prstGeom prst="rect">
            <a:avLst/>
          </a:prstGeom>
          <a:noFill/>
        </p:spPr>
        <p:txBody>
          <a:bodyPr wrap="square" lIns="158834" tIns="90762" rIns="0" bIns="0" rtlCol="0" anchor="t">
            <a:spAutoFit/>
          </a:bodyPr>
          <a:lstStyle/>
          <a:p>
            <a:pPr marL="0" indent="0" algn="l">
              <a:buNone/>
            </a:pPr>
            <a:r>
              <a:rPr lang="en-US" sz="1135" dirty="0">
                <a:solidFill>
                  <a:srgbClr val="00A859"/>
                </a:solidFill>
                <a:latin typeface="Courier New" panose="02070309020205020404" pitchFamily="34" charset="0"/>
                <a:ea typeface="Courier New" panose="02070309020205020404" pitchFamily="34" charset="-122"/>
                <a:cs typeface="Courier New" panose="02070309020205020404" pitchFamily="34" charset="-120"/>
              </a:rPr>
              <a:t>"keyword" + "mailto" + "@gmail.com"</a:t>
            </a:r>
            <a:endParaRPr lang="en-US" sz="1135" dirty="0"/>
          </a:p>
        </p:txBody>
      </p:sp>
      <p:sp>
        <p:nvSpPr>
          <p:cNvPr id="20" name="Text 17"/>
          <p:cNvSpPr/>
          <p:nvPr/>
        </p:nvSpPr>
        <p:spPr>
          <a:xfrm>
            <a:off x="6362700" y="5039581"/>
            <a:ext cx="5143500" cy="215265"/>
          </a:xfrm>
          <a:prstGeom prst="rect">
            <a:avLst/>
          </a:prstGeom>
          <a:noFill/>
        </p:spPr>
        <p:txBody>
          <a:bodyPr wrap="square" lIns="0" tIns="0" rIns="0" bIns="0" rtlCol="0" anchor="t">
            <a:spAutoFit/>
          </a:bodyPr>
          <a:lstStyle/>
          <a:p>
            <a:pPr marL="0" indent="0" algn="l">
              <a:buNone/>
            </a:pPr>
            <a:r>
              <a:rPr lang="en-US" sz="1400" dirty="0">
                <a:solidFill>
                  <a:srgbClr val="2C3E50"/>
                </a:solidFill>
                <a:latin typeface="Inter Medium" pitchFamily="34" charset="0"/>
                <a:ea typeface="Inter Medium" pitchFamily="34" charset="-122"/>
                <a:cs typeface="Inter Medium" pitchFamily="34" charset="-120"/>
              </a:rPr>
              <a:t>标题关键词搜索</a:t>
            </a:r>
            <a:endParaRPr lang="en-US" sz="1400" dirty="0"/>
          </a:p>
        </p:txBody>
      </p:sp>
      <p:sp>
        <p:nvSpPr>
          <p:cNvPr id="21" name="Text 18"/>
          <p:cNvSpPr/>
          <p:nvPr/>
        </p:nvSpPr>
        <p:spPr>
          <a:xfrm>
            <a:off x="6362700" y="5372956"/>
            <a:ext cx="370967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限定搜索结果标题包含特定评测关键词以精准筛选。</a:t>
            </a:r>
            <a:endParaRPr lang="en-US" sz="1265" dirty="0"/>
          </a:p>
        </p:txBody>
      </p:sp>
      <p:sp>
        <p:nvSpPr>
          <p:cNvPr id="22" name="Shape 19"/>
          <p:cNvSpPr/>
          <p:nvPr/>
        </p:nvSpPr>
        <p:spPr>
          <a:xfrm>
            <a:off x="6362700" y="5706331"/>
            <a:ext cx="5143500" cy="342900"/>
          </a:xfrm>
          <a:prstGeom prst="rect">
            <a:avLst/>
          </a:prstGeom>
          <a:solidFill>
            <a:srgbClr val="FFFFFF"/>
          </a:solidFill>
        </p:spPr>
      </p:sp>
      <p:sp>
        <p:nvSpPr>
          <p:cNvPr id="23" name="Shape 20"/>
          <p:cNvSpPr/>
          <p:nvPr/>
        </p:nvSpPr>
        <p:spPr>
          <a:xfrm>
            <a:off x="6362700" y="5706331"/>
            <a:ext cx="38100" cy="342900"/>
          </a:xfrm>
          <a:prstGeom prst="rect">
            <a:avLst/>
          </a:prstGeom>
          <a:solidFill>
            <a:srgbClr val="00A859"/>
          </a:solidFill>
        </p:spPr>
      </p:sp>
      <p:sp>
        <p:nvSpPr>
          <p:cNvPr id="24" name="Text 21"/>
          <p:cNvSpPr/>
          <p:nvPr/>
        </p:nvSpPr>
        <p:spPr>
          <a:xfrm>
            <a:off x="6362700" y="5706331"/>
            <a:ext cx="5143500" cy="264795"/>
          </a:xfrm>
          <a:prstGeom prst="rect">
            <a:avLst/>
          </a:prstGeom>
          <a:noFill/>
        </p:spPr>
        <p:txBody>
          <a:bodyPr wrap="square" lIns="158834" tIns="90762" rIns="0" bIns="0" rtlCol="0" anchor="t">
            <a:spAutoFit/>
          </a:bodyPr>
          <a:lstStyle/>
          <a:p>
            <a:pPr marL="0" indent="0" algn="l">
              <a:buNone/>
            </a:pPr>
            <a:r>
              <a:rPr lang="en-US" sz="1135" dirty="0">
                <a:solidFill>
                  <a:srgbClr val="00A859"/>
                </a:solidFill>
                <a:latin typeface="Courier New" panose="02070309020205020404" pitchFamily="34" charset="0"/>
                <a:ea typeface="Courier New" panose="02070309020205020404" pitchFamily="34" charset="-122"/>
                <a:cs typeface="Courier New" panose="02070309020205020404" pitchFamily="34" charset="-120"/>
              </a:rPr>
              <a:t>intitle:"smartphone review"</a:t>
            </a:r>
            <a:endParaRPr lang="en-US" sz="113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海外媒体常见的合作形式</a:t>
            </a:r>
            <a:endParaRPr lang="en-US" sz="3265" dirty="0"/>
          </a:p>
        </p:txBody>
      </p:sp>
      <p:sp>
        <p:nvSpPr>
          <p:cNvPr id="4" name="Shape 1"/>
          <p:cNvSpPr/>
          <p:nvPr/>
        </p:nvSpPr>
        <p:spPr>
          <a:xfrm>
            <a:off x="838200" y="2213037"/>
            <a:ext cx="5238751" cy="2114551"/>
          </a:xfrm>
          <a:prstGeom prst="rect">
            <a:avLst/>
          </a:prstGeom>
          <a:solidFill>
            <a:srgbClr val="FFFFFF"/>
          </a:solidFill>
          <a:ln w="9144">
            <a:solidFill>
              <a:srgbClr val="000000">
                <a:alpha val="5000"/>
              </a:srgbClr>
            </a:solidFill>
            <a:prstDash val="solid"/>
          </a:ln>
        </p:spPr>
      </p:sp>
      <p:pic>
        <p:nvPicPr>
          <p:cNvPr id="5" name="Image 1" descr="preencoded.png"/>
          <p:cNvPicPr>
            <a:picLocks noChangeAspect="1"/>
          </p:cNvPicPr>
          <p:nvPr/>
        </p:nvPicPr>
        <p:blipFill>
          <a:blip r:embed="rId2"/>
          <a:stretch>
            <a:fillRect/>
          </a:stretch>
        </p:blipFill>
        <p:spPr>
          <a:xfrm>
            <a:off x="1219200" y="2455924"/>
            <a:ext cx="228600" cy="228600"/>
          </a:xfrm>
          <a:prstGeom prst="rect">
            <a:avLst/>
          </a:prstGeom>
        </p:spPr>
      </p:pic>
      <p:sp>
        <p:nvSpPr>
          <p:cNvPr id="6" name="Text 2"/>
          <p:cNvSpPr/>
          <p:nvPr/>
        </p:nvSpPr>
        <p:spPr>
          <a:xfrm>
            <a:off x="1590675" y="2403537"/>
            <a:ext cx="2219325" cy="287020"/>
          </a:xfrm>
          <a:prstGeom prst="rect">
            <a:avLst/>
          </a:prstGeom>
          <a:noFill/>
        </p:spPr>
        <p:txBody>
          <a:bodyPr wrap="square" lIns="0" tIns="0" rIns="0" bIns="0" rtlCol="0" anchor="t">
            <a:spAutoFit/>
          </a:bodyPr>
          <a:lstStyle/>
          <a:p>
            <a:pPr marL="0" indent="0" algn="l">
              <a:buNone/>
            </a:pPr>
            <a:r>
              <a:rPr lang="en-US" sz="1865" dirty="0">
                <a:solidFill>
                  <a:srgbClr val="00A859"/>
                </a:solidFill>
                <a:latin typeface="Inter Medium" pitchFamily="34" charset="0"/>
                <a:ea typeface="Inter Medium" pitchFamily="34" charset="-122"/>
                <a:cs typeface="Inter Medium" pitchFamily="34" charset="-120"/>
              </a:rPr>
              <a:t>产品评测 (Reviews)</a:t>
            </a:r>
            <a:endParaRPr lang="en-US" sz="1865" dirty="0"/>
          </a:p>
        </p:txBody>
      </p:sp>
      <p:sp>
        <p:nvSpPr>
          <p:cNvPr id="7" name="Text 3"/>
          <p:cNvSpPr/>
          <p:nvPr/>
        </p:nvSpPr>
        <p:spPr>
          <a:xfrm>
            <a:off x="1219200" y="2908363"/>
            <a:ext cx="44767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最常见的合作方式。寄送样机供编辑深度体验，生成客观的评测文章或视频，为品牌建立信任背书。</a:t>
            </a:r>
            <a:endParaRPr lang="en-US" sz="1265" dirty="0"/>
          </a:p>
        </p:txBody>
      </p:sp>
      <p:sp>
        <p:nvSpPr>
          <p:cNvPr id="8" name="Shape 4"/>
          <p:cNvSpPr/>
          <p:nvPr/>
        </p:nvSpPr>
        <p:spPr>
          <a:xfrm>
            <a:off x="6267451" y="2213037"/>
            <a:ext cx="5238751" cy="2114551"/>
          </a:xfrm>
          <a:prstGeom prst="rect">
            <a:avLst/>
          </a:prstGeom>
          <a:solidFill>
            <a:srgbClr val="FFFFFF"/>
          </a:solidFill>
          <a:ln w="9144">
            <a:solidFill>
              <a:srgbClr val="000000">
                <a:alpha val="5000"/>
              </a:srgbClr>
            </a:solidFill>
            <a:prstDash val="solid"/>
          </a:ln>
        </p:spPr>
      </p:sp>
      <p:pic>
        <p:nvPicPr>
          <p:cNvPr id="9" name="Image 2" descr="preencoded.png"/>
          <p:cNvPicPr>
            <a:picLocks noChangeAspect="1"/>
          </p:cNvPicPr>
          <p:nvPr/>
        </p:nvPicPr>
        <p:blipFill>
          <a:blip r:embed="rId3"/>
          <a:stretch>
            <a:fillRect/>
          </a:stretch>
        </p:blipFill>
        <p:spPr>
          <a:xfrm>
            <a:off x="6648451" y="2455924"/>
            <a:ext cx="257175" cy="228600"/>
          </a:xfrm>
          <a:prstGeom prst="rect">
            <a:avLst/>
          </a:prstGeom>
        </p:spPr>
      </p:pic>
      <p:sp>
        <p:nvSpPr>
          <p:cNvPr id="10" name="Text 5"/>
          <p:cNvSpPr/>
          <p:nvPr/>
        </p:nvSpPr>
        <p:spPr>
          <a:xfrm>
            <a:off x="7048500" y="2403537"/>
            <a:ext cx="2488407" cy="287020"/>
          </a:xfrm>
          <a:prstGeom prst="rect">
            <a:avLst/>
          </a:prstGeom>
          <a:noFill/>
        </p:spPr>
        <p:txBody>
          <a:bodyPr wrap="square" lIns="0" tIns="0" rIns="0" bIns="0" rtlCol="0" anchor="t">
            <a:spAutoFit/>
          </a:bodyPr>
          <a:lstStyle/>
          <a:p>
            <a:pPr marL="0" indent="0" algn="l">
              <a:buNone/>
            </a:pPr>
            <a:r>
              <a:rPr lang="en-US" sz="1865" dirty="0">
                <a:solidFill>
                  <a:srgbClr val="00A859"/>
                </a:solidFill>
                <a:latin typeface="Inter Medium" pitchFamily="34" charset="0"/>
                <a:ea typeface="Inter Medium" pitchFamily="34" charset="-122"/>
                <a:cs typeface="Inter Medium" pitchFamily="34" charset="-120"/>
              </a:rPr>
              <a:t>独家报道 (Exclusives)</a:t>
            </a:r>
            <a:endParaRPr lang="en-US" sz="1865" dirty="0"/>
          </a:p>
        </p:txBody>
      </p:sp>
      <p:sp>
        <p:nvSpPr>
          <p:cNvPr id="11" name="Text 6"/>
          <p:cNvSpPr/>
          <p:nvPr/>
        </p:nvSpPr>
        <p:spPr>
          <a:xfrm>
            <a:off x="6648451" y="2908363"/>
            <a:ext cx="44767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针对重大新品发布，向头部媒体提供独家素材、首发权或专访机会，以获取高权重的深度曝光。</a:t>
            </a:r>
            <a:endParaRPr lang="en-US" sz="1265" dirty="0"/>
          </a:p>
        </p:txBody>
      </p:sp>
      <p:sp>
        <p:nvSpPr>
          <p:cNvPr id="12" name="Shape 7"/>
          <p:cNvSpPr/>
          <p:nvPr/>
        </p:nvSpPr>
        <p:spPr>
          <a:xfrm>
            <a:off x="838200" y="4518087"/>
            <a:ext cx="5238751" cy="2114551"/>
          </a:xfrm>
          <a:prstGeom prst="rect">
            <a:avLst/>
          </a:prstGeom>
          <a:solidFill>
            <a:srgbClr val="FFFFFF"/>
          </a:solidFill>
          <a:ln w="9144">
            <a:solidFill>
              <a:srgbClr val="000000">
                <a:alpha val="5000"/>
              </a:srgbClr>
            </a:solidFill>
            <a:prstDash val="solid"/>
          </a:ln>
        </p:spPr>
      </p:sp>
      <p:pic>
        <p:nvPicPr>
          <p:cNvPr id="13" name="Image 3" descr="preencoded.png"/>
          <p:cNvPicPr>
            <a:picLocks noChangeAspect="1"/>
          </p:cNvPicPr>
          <p:nvPr/>
        </p:nvPicPr>
        <p:blipFill>
          <a:blip r:embed="rId4"/>
          <a:stretch>
            <a:fillRect/>
          </a:stretch>
        </p:blipFill>
        <p:spPr>
          <a:xfrm>
            <a:off x="1219200" y="4760975"/>
            <a:ext cx="228600" cy="228600"/>
          </a:xfrm>
          <a:prstGeom prst="rect">
            <a:avLst/>
          </a:prstGeom>
        </p:spPr>
      </p:pic>
      <p:sp>
        <p:nvSpPr>
          <p:cNvPr id="14" name="Text 8"/>
          <p:cNvSpPr/>
          <p:nvPr/>
        </p:nvSpPr>
        <p:spPr>
          <a:xfrm>
            <a:off x="1590675" y="4708587"/>
            <a:ext cx="2528888" cy="287020"/>
          </a:xfrm>
          <a:prstGeom prst="rect">
            <a:avLst/>
          </a:prstGeom>
          <a:noFill/>
        </p:spPr>
        <p:txBody>
          <a:bodyPr wrap="square" lIns="0" tIns="0" rIns="0" bIns="0" rtlCol="0" anchor="t">
            <a:spAutoFit/>
          </a:bodyPr>
          <a:lstStyle/>
          <a:p>
            <a:pPr marL="0" indent="0" algn="l">
              <a:buNone/>
            </a:pPr>
            <a:r>
              <a:rPr lang="en-US" sz="1865" dirty="0">
                <a:solidFill>
                  <a:srgbClr val="00A859"/>
                </a:solidFill>
                <a:latin typeface="Inter Medium" pitchFamily="34" charset="0"/>
                <a:ea typeface="Inter Medium" pitchFamily="34" charset="-122"/>
                <a:cs typeface="Inter Medium" pitchFamily="34" charset="-120"/>
              </a:rPr>
              <a:t>赠品活动 (Giveaways)</a:t>
            </a:r>
            <a:endParaRPr lang="en-US" sz="1865" dirty="0"/>
          </a:p>
        </p:txBody>
      </p:sp>
      <p:sp>
        <p:nvSpPr>
          <p:cNvPr id="15" name="Text 9"/>
          <p:cNvSpPr/>
          <p:nvPr/>
        </p:nvSpPr>
        <p:spPr>
          <a:xfrm>
            <a:off x="1219200" y="5213412"/>
            <a:ext cx="44767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通过媒体平台向粉丝赠送产品，快速提升品牌在特定社群内的讨论热度与粉丝粘性。</a:t>
            </a:r>
            <a:endParaRPr lang="en-US" sz="1265" dirty="0"/>
          </a:p>
        </p:txBody>
      </p:sp>
      <p:sp>
        <p:nvSpPr>
          <p:cNvPr id="16" name="Shape 10"/>
          <p:cNvSpPr/>
          <p:nvPr/>
        </p:nvSpPr>
        <p:spPr>
          <a:xfrm>
            <a:off x="6267451" y="4518087"/>
            <a:ext cx="5238751" cy="2114551"/>
          </a:xfrm>
          <a:prstGeom prst="rect">
            <a:avLst/>
          </a:prstGeom>
          <a:solidFill>
            <a:srgbClr val="FFFFFF"/>
          </a:solidFill>
          <a:ln w="9144">
            <a:solidFill>
              <a:srgbClr val="000000">
                <a:alpha val="5000"/>
              </a:srgbClr>
            </a:solidFill>
            <a:prstDash val="solid"/>
          </a:ln>
        </p:spPr>
      </p:sp>
      <p:pic>
        <p:nvPicPr>
          <p:cNvPr id="17" name="Image 4" descr="preencoded.png"/>
          <p:cNvPicPr>
            <a:picLocks noChangeAspect="1"/>
          </p:cNvPicPr>
          <p:nvPr/>
        </p:nvPicPr>
        <p:blipFill>
          <a:blip r:embed="rId5"/>
          <a:stretch>
            <a:fillRect/>
          </a:stretch>
        </p:blipFill>
        <p:spPr>
          <a:xfrm>
            <a:off x="6648451" y="4741924"/>
            <a:ext cx="257175" cy="228600"/>
          </a:xfrm>
          <a:prstGeom prst="rect">
            <a:avLst/>
          </a:prstGeom>
        </p:spPr>
      </p:pic>
      <p:sp>
        <p:nvSpPr>
          <p:cNvPr id="18" name="Text 11"/>
          <p:cNvSpPr/>
          <p:nvPr/>
        </p:nvSpPr>
        <p:spPr>
          <a:xfrm>
            <a:off x="7048500" y="4689537"/>
            <a:ext cx="2521744" cy="287020"/>
          </a:xfrm>
          <a:prstGeom prst="rect">
            <a:avLst/>
          </a:prstGeom>
          <a:noFill/>
        </p:spPr>
        <p:txBody>
          <a:bodyPr wrap="square" lIns="0" tIns="0" rIns="0" bIns="0" rtlCol="0" anchor="t">
            <a:spAutoFit/>
          </a:bodyPr>
          <a:lstStyle/>
          <a:p>
            <a:pPr marL="0" indent="0" algn="l">
              <a:buNone/>
            </a:pPr>
            <a:r>
              <a:rPr lang="en-US" sz="1865" dirty="0">
                <a:solidFill>
                  <a:srgbClr val="00A859"/>
                </a:solidFill>
                <a:latin typeface="Inter Medium" pitchFamily="34" charset="0"/>
                <a:ea typeface="Inter Medium" pitchFamily="34" charset="-122"/>
                <a:cs typeface="Inter Medium" pitchFamily="34" charset="-120"/>
              </a:rPr>
              <a:t>赞助内容 (Sponsored)</a:t>
            </a:r>
            <a:endParaRPr lang="en-US" sz="1865" dirty="0"/>
          </a:p>
        </p:txBody>
      </p:sp>
      <p:sp>
        <p:nvSpPr>
          <p:cNvPr id="19" name="Text 12"/>
          <p:cNvSpPr/>
          <p:nvPr/>
        </p:nvSpPr>
        <p:spPr>
          <a:xfrm>
            <a:off x="6648451" y="5194363"/>
            <a:ext cx="4476751" cy="499745"/>
          </a:xfrm>
          <a:prstGeom prst="rect">
            <a:avLst/>
          </a:prstGeom>
          <a:noFill/>
        </p:spPr>
        <p:txBody>
          <a:bodyPr wrap="square" lIns="0" tIns="0" rIns="0" bIns="0" rtlCol="0" anchor="t">
            <a:spAutoFit/>
          </a:bodyPr>
          <a:lstStyle/>
          <a:p>
            <a:pPr marL="0" indent="0" algn="l">
              <a:lnSpc>
                <a:spcPct val="128000"/>
              </a:lnSpc>
              <a:buNone/>
            </a:pPr>
            <a:r>
              <a:rPr lang="en-US" sz="1265" dirty="0">
                <a:solidFill>
                  <a:srgbClr val="596A7A"/>
                </a:solidFill>
                <a:latin typeface="Inter Light" pitchFamily="34" charset="0"/>
                <a:ea typeface="Inter Light" pitchFamily="34" charset="-122"/>
                <a:cs typeface="Inter Light" pitchFamily="34" charset="-120"/>
              </a:rPr>
              <a:t>付费合作形式。内容由品牌方与媒体共创，具有较强的可控性，但需按法规标注“Sponsored”或“Ad”。</a:t>
            </a:r>
            <a:endParaRPr lang="en-US" sz="126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海外媒体合作的关键注意事项</a:t>
            </a:r>
            <a:endParaRPr lang="en-US" sz="3265" dirty="0"/>
          </a:p>
        </p:txBody>
      </p:sp>
      <p:sp>
        <p:nvSpPr>
          <p:cNvPr id="4" name="Shape 1"/>
          <p:cNvSpPr/>
          <p:nvPr/>
        </p:nvSpPr>
        <p:spPr>
          <a:xfrm>
            <a:off x="838200" y="2022537"/>
            <a:ext cx="10668000" cy="1047751"/>
          </a:xfrm>
          <a:prstGeom prst="rect">
            <a:avLst/>
          </a:prstGeom>
          <a:solidFill>
            <a:srgbClr val="FFFFFF"/>
          </a:solidFill>
        </p:spPr>
      </p:sp>
      <p:sp>
        <p:nvSpPr>
          <p:cNvPr id="5" name="Shape 2"/>
          <p:cNvSpPr/>
          <p:nvPr/>
        </p:nvSpPr>
        <p:spPr>
          <a:xfrm>
            <a:off x="838200" y="2022537"/>
            <a:ext cx="47625" cy="1047751"/>
          </a:xfrm>
          <a:prstGeom prst="rect">
            <a:avLst/>
          </a:prstGeom>
          <a:solidFill>
            <a:srgbClr val="00A859"/>
          </a:solidFill>
        </p:spPr>
      </p:sp>
      <p:pic>
        <p:nvPicPr>
          <p:cNvPr id="6" name="Image 1" descr="preencoded.png"/>
          <p:cNvPicPr>
            <a:picLocks noChangeAspect="1"/>
          </p:cNvPicPr>
          <p:nvPr/>
        </p:nvPicPr>
        <p:blipFill>
          <a:blip r:embed="rId2"/>
          <a:stretch>
            <a:fillRect/>
          </a:stretch>
        </p:blipFill>
        <p:spPr>
          <a:xfrm>
            <a:off x="1123951" y="2193987"/>
            <a:ext cx="266700" cy="266700"/>
          </a:xfrm>
          <a:prstGeom prst="rect">
            <a:avLst/>
          </a:prstGeom>
        </p:spPr>
      </p:pic>
      <p:sp>
        <p:nvSpPr>
          <p:cNvPr id="7" name="Text 3"/>
          <p:cNvSpPr/>
          <p:nvPr/>
        </p:nvSpPr>
        <p:spPr>
          <a:xfrm>
            <a:off x="1562100" y="2193987"/>
            <a:ext cx="6593681"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提前布局 (Lead Time)</a:t>
            </a:r>
            <a:endParaRPr lang="en-US" sz="1665" dirty="0"/>
          </a:p>
        </p:txBody>
      </p:sp>
      <p:sp>
        <p:nvSpPr>
          <p:cNvPr id="8" name="Text 4"/>
          <p:cNvSpPr/>
          <p:nvPr/>
        </p:nvSpPr>
        <p:spPr>
          <a:xfrm>
            <a:off x="1562100" y="2560700"/>
            <a:ext cx="6388735"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顶级媒体评测排期常为 4–8 周。重大发布应至少提前 2 个月沟通并留出样机物流时间。</a:t>
            </a:r>
            <a:endParaRPr lang="en-US" sz="1265" dirty="0"/>
          </a:p>
        </p:txBody>
      </p:sp>
      <p:sp>
        <p:nvSpPr>
          <p:cNvPr id="9" name="Shape 5"/>
          <p:cNvSpPr/>
          <p:nvPr/>
        </p:nvSpPr>
        <p:spPr>
          <a:xfrm>
            <a:off x="838200" y="3241737"/>
            <a:ext cx="10668000" cy="1047751"/>
          </a:xfrm>
          <a:prstGeom prst="rect">
            <a:avLst/>
          </a:prstGeom>
          <a:solidFill>
            <a:srgbClr val="FFFFFF"/>
          </a:solidFill>
        </p:spPr>
      </p:sp>
      <p:sp>
        <p:nvSpPr>
          <p:cNvPr id="10" name="Shape 6"/>
          <p:cNvSpPr/>
          <p:nvPr/>
        </p:nvSpPr>
        <p:spPr>
          <a:xfrm>
            <a:off x="838200" y="3241737"/>
            <a:ext cx="47625" cy="1047751"/>
          </a:xfrm>
          <a:prstGeom prst="rect">
            <a:avLst/>
          </a:prstGeom>
          <a:solidFill>
            <a:srgbClr val="00A859"/>
          </a:solidFill>
        </p:spPr>
      </p:sp>
      <p:pic>
        <p:nvPicPr>
          <p:cNvPr id="11" name="Image 2" descr="preencoded.png"/>
          <p:cNvPicPr>
            <a:picLocks noChangeAspect="1"/>
          </p:cNvPicPr>
          <p:nvPr/>
        </p:nvPicPr>
        <p:blipFill>
          <a:blip r:embed="rId3"/>
          <a:stretch>
            <a:fillRect/>
          </a:stretch>
        </p:blipFill>
        <p:spPr>
          <a:xfrm>
            <a:off x="1123951" y="3413187"/>
            <a:ext cx="333375" cy="266700"/>
          </a:xfrm>
          <a:prstGeom prst="rect">
            <a:avLst/>
          </a:prstGeom>
        </p:spPr>
      </p:pic>
      <p:sp>
        <p:nvSpPr>
          <p:cNvPr id="12" name="Text 7"/>
          <p:cNvSpPr/>
          <p:nvPr/>
        </p:nvSpPr>
        <p:spPr>
          <a:xfrm>
            <a:off x="1628775" y="3413187"/>
            <a:ext cx="6515100"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编辑独立性 (Editorial Independence)</a:t>
            </a:r>
            <a:endParaRPr lang="en-US" sz="1665" dirty="0"/>
          </a:p>
        </p:txBody>
      </p:sp>
      <p:sp>
        <p:nvSpPr>
          <p:cNvPr id="13" name="Text 8"/>
          <p:cNvSpPr/>
          <p:nvPr/>
        </p:nvSpPr>
        <p:spPr>
          <a:xfrm>
            <a:off x="1628775" y="3779900"/>
            <a:ext cx="612902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海外编辑重视公信力。应尊重客观评价，不可要求删除负面观点，除非为事实性错误。</a:t>
            </a:r>
            <a:endParaRPr lang="en-US" sz="1265" dirty="0"/>
          </a:p>
        </p:txBody>
      </p:sp>
      <p:sp>
        <p:nvSpPr>
          <p:cNvPr id="14" name="Shape 9"/>
          <p:cNvSpPr/>
          <p:nvPr/>
        </p:nvSpPr>
        <p:spPr>
          <a:xfrm>
            <a:off x="838200" y="4460937"/>
            <a:ext cx="10668000" cy="1047751"/>
          </a:xfrm>
          <a:prstGeom prst="rect">
            <a:avLst/>
          </a:prstGeom>
          <a:solidFill>
            <a:srgbClr val="FFFFFF"/>
          </a:solidFill>
        </p:spPr>
      </p:sp>
      <p:sp>
        <p:nvSpPr>
          <p:cNvPr id="15" name="Shape 10"/>
          <p:cNvSpPr/>
          <p:nvPr/>
        </p:nvSpPr>
        <p:spPr>
          <a:xfrm>
            <a:off x="838200" y="4460937"/>
            <a:ext cx="47625" cy="1047751"/>
          </a:xfrm>
          <a:prstGeom prst="rect">
            <a:avLst/>
          </a:prstGeom>
          <a:solidFill>
            <a:srgbClr val="00A859"/>
          </a:solidFill>
        </p:spPr>
      </p:sp>
      <p:pic>
        <p:nvPicPr>
          <p:cNvPr id="16" name="Image 3" descr="preencoded.png"/>
          <p:cNvPicPr>
            <a:picLocks noChangeAspect="1"/>
          </p:cNvPicPr>
          <p:nvPr/>
        </p:nvPicPr>
        <p:blipFill>
          <a:blip r:embed="rId4"/>
          <a:stretch>
            <a:fillRect/>
          </a:stretch>
        </p:blipFill>
        <p:spPr>
          <a:xfrm>
            <a:off x="1123951" y="4632387"/>
            <a:ext cx="333375" cy="266700"/>
          </a:xfrm>
          <a:prstGeom prst="rect">
            <a:avLst/>
          </a:prstGeom>
        </p:spPr>
      </p:pic>
      <p:sp>
        <p:nvSpPr>
          <p:cNvPr id="17" name="Text 11"/>
          <p:cNvSpPr/>
          <p:nvPr/>
        </p:nvSpPr>
        <p:spPr>
          <a:xfrm>
            <a:off x="1628775" y="4632387"/>
            <a:ext cx="5657851"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样机管理 (Sample Logistics)</a:t>
            </a:r>
            <a:endParaRPr lang="en-US" sz="1665" dirty="0"/>
          </a:p>
        </p:txBody>
      </p:sp>
      <p:sp>
        <p:nvSpPr>
          <p:cNvPr id="18" name="Text 12"/>
          <p:cNvSpPr/>
          <p:nvPr/>
        </p:nvSpPr>
        <p:spPr>
          <a:xfrm>
            <a:off x="1628775" y="4999100"/>
            <a:ext cx="532257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提供准确追踪号并确认签收。对于高价值样机，事先约定归还或留存方案。</a:t>
            </a:r>
            <a:endParaRPr lang="en-US" sz="1265" dirty="0"/>
          </a:p>
        </p:txBody>
      </p:sp>
      <p:sp>
        <p:nvSpPr>
          <p:cNvPr id="19" name="Shape 13"/>
          <p:cNvSpPr/>
          <p:nvPr/>
        </p:nvSpPr>
        <p:spPr>
          <a:xfrm>
            <a:off x="838200" y="5680137"/>
            <a:ext cx="10668000" cy="1047751"/>
          </a:xfrm>
          <a:prstGeom prst="rect">
            <a:avLst/>
          </a:prstGeom>
          <a:solidFill>
            <a:srgbClr val="FFFFFF"/>
          </a:solidFill>
        </p:spPr>
      </p:sp>
      <p:sp>
        <p:nvSpPr>
          <p:cNvPr id="20" name="Shape 14"/>
          <p:cNvSpPr/>
          <p:nvPr/>
        </p:nvSpPr>
        <p:spPr>
          <a:xfrm>
            <a:off x="838200" y="5680137"/>
            <a:ext cx="47625" cy="1047751"/>
          </a:xfrm>
          <a:prstGeom prst="rect">
            <a:avLst/>
          </a:prstGeom>
          <a:solidFill>
            <a:srgbClr val="00A859"/>
          </a:solidFill>
        </p:spPr>
      </p:sp>
      <p:pic>
        <p:nvPicPr>
          <p:cNvPr id="21" name="Image 4" descr="preencoded.png"/>
          <p:cNvPicPr>
            <a:picLocks noChangeAspect="1"/>
          </p:cNvPicPr>
          <p:nvPr/>
        </p:nvPicPr>
        <p:blipFill>
          <a:blip r:embed="rId5"/>
          <a:stretch>
            <a:fillRect/>
          </a:stretch>
        </p:blipFill>
        <p:spPr>
          <a:xfrm>
            <a:off x="1123951" y="5851587"/>
            <a:ext cx="266700" cy="266700"/>
          </a:xfrm>
          <a:prstGeom prst="rect">
            <a:avLst/>
          </a:prstGeom>
        </p:spPr>
      </p:pic>
      <p:sp>
        <p:nvSpPr>
          <p:cNvPr id="22" name="Text 15"/>
          <p:cNvSpPr/>
          <p:nvPr/>
        </p:nvSpPr>
        <p:spPr>
          <a:xfrm>
            <a:off x="1562100" y="5851587"/>
            <a:ext cx="5224463"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法律合规 (Legal Compliance)</a:t>
            </a:r>
            <a:endParaRPr lang="en-US" sz="1665" dirty="0"/>
          </a:p>
        </p:txBody>
      </p:sp>
      <p:sp>
        <p:nvSpPr>
          <p:cNvPr id="23" name="Text 16"/>
          <p:cNvSpPr/>
          <p:nvPr/>
        </p:nvSpPr>
        <p:spPr>
          <a:xfrm>
            <a:off x="1562100" y="6218300"/>
            <a:ext cx="496316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遵守 FTC 等关于利益披露的准则，确保赞助或合作内容有清晰标识。</a:t>
            </a:r>
            <a:endParaRPr lang="en-US" sz="126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200" y="76200"/>
            <a:ext cx="12039600" cy="6858000"/>
          </a:xfrm>
          <a:prstGeom prst="rect">
            <a:avLst/>
          </a:prstGeom>
        </p:spPr>
      </p:pic>
      <p:sp>
        <p:nvSpPr>
          <p:cNvPr id="3" name="Text 0"/>
          <p:cNvSpPr/>
          <p:nvPr/>
        </p:nvSpPr>
        <p:spPr>
          <a:xfrm>
            <a:off x="838200" y="1027175"/>
            <a:ext cx="11430000" cy="502285"/>
          </a:xfrm>
          <a:prstGeom prst="rect">
            <a:avLst/>
          </a:prstGeom>
          <a:noFill/>
        </p:spPr>
        <p:txBody>
          <a:bodyPr wrap="square" lIns="0" tIns="0" rIns="0" bIns="0" rtlCol="0" anchor="t">
            <a:spAutoFit/>
          </a:bodyPr>
          <a:lstStyle/>
          <a:p>
            <a:pPr marL="0" indent="0" algn="l">
              <a:buNone/>
            </a:pPr>
            <a:r>
              <a:rPr lang="en-US" sz="3265" b="1" dirty="0">
                <a:solidFill>
                  <a:srgbClr val="2C3E50"/>
                </a:solidFill>
                <a:latin typeface="Playfair Display Bold" pitchFamily="34" charset="0"/>
                <a:ea typeface="Playfair Display Bold" pitchFamily="34" charset="-122"/>
                <a:cs typeface="Playfair Display Bold" pitchFamily="34" charset="-120"/>
              </a:rPr>
              <a:t>海外媒体合作的关键注意事项</a:t>
            </a:r>
            <a:endParaRPr lang="en-US" sz="3265" dirty="0"/>
          </a:p>
        </p:txBody>
      </p:sp>
      <p:sp>
        <p:nvSpPr>
          <p:cNvPr id="4" name="Shape 1"/>
          <p:cNvSpPr/>
          <p:nvPr/>
        </p:nvSpPr>
        <p:spPr>
          <a:xfrm>
            <a:off x="838200" y="2022537"/>
            <a:ext cx="10668000" cy="1047751"/>
          </a:xfrm>
          <a:prstGeom prst="rect">
            <a:avLst/>
          </a:prstGeom>
          <a:solidFill>
            <a:srgbClr val="FFFFFF"/>
          </a:solidFill>
        </p:spPr>
      </p:sp>
      <p:sp>
        <p:nvSpPr>
          <p:cNvPr id="5" name="Shape 2"/>
          <p:cNvSpPr/>
          <p:nvPr/>
        </p:nvSpPr>
        <p:spPr>
          <a:xfrm>
            <a:off x="838200" y="2022537"/>
            <a:ext cx="47625" cy="1047751"/>
          </a:xfrm>
          <a:prstGeom prst="rect">
            <a:avLst/>
          </a:prstGeom>
          <a:solidFill>
            <a:srgbClr val="00A859"/>
          </a:solidFill>
        </p:spPr>
      </p:sp>
      <p:pic>
        <p:nvPicPr>
          <p:cNvPr id="6" name="Image 1" descr="preencoded.png"/>
          <p:cNvPicPr>
            <a:picLocks noChangeAspect="1"/>
          </p:cNvPicPr>
          <p:nvPr/>
        </p:nvPicPr>
        <p:blipFill>
          <a:blip r:embed="rId2"/>
          <a:stretch>
            <a:fillRect/>
          </a:stretch>
        </p:blipFill>
        <p:spPr>
          <a:xfrm>
            <a:off x="1123951" y="2193987"/>
            <a:ext cx="266700" cy="266700"/>
          </a:xfrm>
          <a:prstGeom prst="rect">
            <a:avLst/>
          </a:prstGeom>
        </p:spPr>
      </p:pic>
      <p:sp>
        <p:nvSpPr>
          <p:cNvPr id="7" name="Text 3"/>
          <p:cNvSpPr/>
          <p:nvPr/>
        </p:nvSpPr>
        <p:spPr>
          <a:xfrm>
            <a:off x="1562100" y="2193987"/>
            <a:ext cx="6593681"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提前布局 (Lead Time)</a:t>
            </a:r>
            <a:endParaRPr lang="en-US" sz="1665" dirty="0"/>
          </a:p>
        </p:txBody>
      </p:sp>
      <p:sp>
        <p:nvSpPr>
          <p:cNvPr id="8" name="Text 4"/>
          <p:cNvSpPr/>
          <p:nvPr/>
        </p:nvSpPr>
        <p:spPr>
          <a:xfrm>
            <a:off x="1562100" y="2560700"/>
            <a:ext cx="6388735"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顶级媒体评测排期常为 4–8 周。重大发布应至少提前 2 个月沟通并留出样机物流时间。</a:t>
            </a:r>
            <a:endParaRPr lang="en-US" sz="1265" dirty="0"/>
          </a:p>
        </p:txBody>
      </p:sp>
      <p:sp>
        <p:nvSpPr>
          <p:cNvPr id="9" name="Shape 5"/>
          <p:cNvSpPr/>
          <p:nvPr/>
        </p:nvSpPr>
        <p:spPr>
          <a:xfrm>
            <a:off x="838200" y="3241737"/>
            <a:ext cx="10668000" cy="1047751"/>
          </a:xfrm>
          <a:prstGeom prst="rect">
            <a:avLst/>
          </a:prstGeom>
          <a:solidFill>
            <a:srgbClr val="FFFFFF"/>
          </a:solidFill>
        </p:spPr>
      </p:sp>
      <p:sp>
        <p:nvSpPr>
          <p:cNvPr id="10" name="Shape 6"/>
          <p:cNvSpPr/>
          <p:nvPr/>
        </p:nvSpPr>
        <p:spPr>
          <a:xfrm>
            <a:off x="838200" y="3241737"/>
            <a:ext cx="47625" cy="1047751"/>
          </a:xfrm>
          <a:prstGeom prst="rect">
            <a:avLst/>
          </a:prstGeom>
          <a:solidFill>
            <a:srgbClr val="00A859"/>
          </a:solidFill>
        </p:spPr>
      </p:sp>
      <p:pic>
        <p:nvPicPr>
          <p:cNvPr id="11" name="Image 2" descr="preencoded.png"/>
          <p:cNvPicPr>
            <a:picLocks noChangeAspect="1"/>
          </p:cNvPicPr>
          <p:nvPr/>
        </p:nvPicPr>
        <p:blipFill>
          <a:blip r:embed="rId3"/>
          <a:stretch>
            <a:fillRect/>
          </a:stretch>
        </p:blipFill>
        <p:spPr>
          <a:xfrm>
            <a:off x="1123951" y="3413187"/>
            <a:ext cx="333375" cy="266700"/>
          </a:xfrm>
          <a:prstGeom prst="rect">
            <a:avLst/>
          </a:prstGeom>
        </p:spPr>
      </p:pic>
      <p:sp>
        <p:nvSpPr>
          <p:cNvPr id="12" name="Text 7"/>
          <p:cNvSpPr/>
          <p:nvPr/>
        </p:nvSpPr>
        <p:spPr>
          <a:xfrm>
            <a:off x="1628775" y="3413187"/>
            <a:ext cx="6515100"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编辑独立性 (Editorial Independence)</a:t>
            </a:r>
            <a:endParaRPr lang="en-US" sz="1665" dirty="0"/>
          </a:p>
        </p:txBody>
      </p:sp>
      <p:sp>
        <p:nvSpPr>
          <p:cNvPr id="13" name="Text 8"/>
          <p:cNvSpPr/>
          <p:nvPr/>
        </p:nvSpPr>
        <p:spPr>
          <a:xfrm>
            <a:off x="1628775" y="3779900"/>
            <a:ext cx="612902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海外编辑重视公信力。应尊重客观评价，不可要求删除负面观点，除非为事实性错误。</a:t>
            </a:r>
            <a:endParaRPr lang="en-US" sz="1265" dirty="0"/>
          </a:p>
        </p:txBody>
      </p:sp>
      <p:sp>
        <p:nvSpPr>
          <p:cNvPr id="14" name="Shape 9"/>
          <p:cNvSpPr/>
          <p:nvPr/>
        </p:nvSpPr>
        <p:spPr>
          <a:xfrm>
            <a:off x="838200" y="4460937"/>
            <a:ext cx="10668000" cy="1047751"/>
          </a:xfrm>
          <a:prstGeom prst="rect">
            <a:avLst/>
          </a:prstGeom>
          <a:solidFill>
            <a:srgbClr val="FFFFFF"/>
          </a:solidFill>
        </p:spPr>
      </p:sp>
      <p:sp>
        <p:nvSpPr>
          <p:cNvPr id="15" name="Shape 10"/>
          <p:cNvSpPr/>
          <p:nvPr/>
        </p:nvSpPr>
        <p:spPr>
          <a:xfrm>
            <a:off x="838200" y="4460937"/>
            <a:ext cx="47625" cy="1047751"/>
          </a:xfrm>
          <a:prstGeom prst="rect">
            <a:avLst/>
          </a:prstGeom>
          <a:solidFill>
            <a:srgbClr val="00A859"/>
          </a:solidFill>
        </p:spPr>
      </p:sp>
      <p:pic>
        <p:nvPicPr>
          <p:cNvPr id="16" name="Image 3" descr="preencoded.png"/>
          <p:cNvPicPr>
            <a:picLocks noChangeAspect="1"/>
          </p:cNvPicPr>
          <p:nvPr/>
        </p:nvPicPr>
        <p:blipFill>
          <a:blip r:embed="rId4"/>
          <a:stretch>
            <a:fillRect/>
          </a:stretch>
        </p:blipFill>
        <p:spPr>
          <a:xfrm>
            <a:off x="1123951" y="4632387"/>
            <a:ext cx="333375" cy="266700"/>
          </a:xfrm>
          <a:prstGeom prst="rect">
            <a:avLst/>
          </a:prstGeom>
        </p:spPr>
      </p:pic>
      <p:sp>
        <p:nvSpPr>
          <p:cNvPr id="17" name="Text 11"/>
          <p:cNvSpPr/>
          <p:nvPr/>
        </p:nvSpPr>
        <p:spPr>
          <a:xfrm>
            <a:off x="1628775" y="4632387"/>
            <a:ext cx="5657851"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样机管理 (Sample Logistics)</a:t>
            </a:r>
            <a:endParaRPr lang="en-US" sz="1665" dirty="0"/>
          </a:p>
        </p:txBody>
      </p:sp>
      <p:sp>
        <p:nvSpPr>
          <p:cNvPr id="18" name="Text 12"/>
          <p:cNvSpPr/>
          <p:nvPr/>
        </p:nvSpPr>
        <p:spPr>
          <a:xfrm>
            <a:off x="1628775" y="4999100"/>
            <a:ext cx="532257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提供准确追踪号并确认签收。对于高价值样机，事先约定归还或留存方案。</a:t>
            </a:r>
            <a:endParaRPr lang="en-US" sz="1265" dirty="0"/>
          </a:p>
        </p:txBody>
      </p:sp>
      <p:sp>
        <p:nvSpPr>
          <p:cNvPr id="19" name="Shape 13"/>
          <p:cNvSpPr/>
          <p:nvPr/>
        </p:nvSpPr>
        <p:spPr>
          <a:xfrm>
            <a:off x="838200" y="5680137"/>
            <a:ext cx="10668000" cy="1047751"/>
          </a:xfrm>
          <a:prstGeom prst="rect">
            <a:avLst/>
          </a:prstGeom>
          <a:solidFill>
            <a:srgbClr val="FFFFFF"/>
          </a:solidFill>
        </p:spPr>
      </p:sp>
      <p:sp>
        <p:nvSpPr>
          <p:cNvPr id="20" name="Shape 14"/>
          <p:cNvSpPr/>
          <p:nvPr/>
        </p:nvSpPr>
        <p:spPr>
          <a:xfrm>
            <a:off x="838200" y="5680137"/>
            <a:ext cx="47625" cy="1047751"/>
          </a:xfrm>
          <a:prstGeom prst="rect">
            <a:avLst/>
          </a:prstGeom>
          <a:solidFill>
            <a:srgbClr val="00A859"/>
          </a:solidFill>
        </p:spPr>
      </p:sp>
      <p:pic>
        <p:nvPicPr>
          <p:cNvPr id="21" name="Image 4" descr="preencoded.png"/>
          <p:cNvPicPr>
            <a:picLocks noChangeAspect="1"/>
          </p:cNvPicPr>
          <p:nvPr/>
        </p:nvPicPr>
        <p:blipFill>
          <a:blip r:embed="rId5"/>
          <a:stretch>
            <a:fillRect/>
          </a:stretch>
        </p:blipFill>
        <p:spPr>
          <a:xfrm>
            <a:off x="1123951" y="5851587"/>
            <a:ext cx="266700" cy="266700"/>
          </a:xfrm>
          <a:prstGeom prst="rect">
            <a:avLst/>
          </a:prstGeom>
        </p:spPr>
      </p:pic>
      <p:sp>
        <p:nvSpPr>
          <p:cNvPr id="22" name="Text 15"/>
          <p:cNvSpPr/>
          <p:nvPr/>
        </p:nvSpPr>
        <p:spPr>
          <a:xfrm>
            <a:off x="1562100" y="5851587"/>
            <a:ext cx="5224463" cy="255905"/>
          </a:xfrm>
          <a:prstGeom prst="rect">
            <a:avLst/>
          </a:prstGeom>
          <a:noFill/>
        </p:spPr>
        <p:txBody>
          <a:bodyPr wrap="square" lIns="0" tIns="0" rIns="0" bIns="0" rtlCol="0" anchor="t">
            <a:spAutoFit/>
          </a:bodyPr>
          <a:lstStyle/>
          <a:p>
            <a:pPr marL="0" indent="0" algn="l">
              <a:buNone/>
            </a:pPr>
            <a:r>
              <a:rPr lang="en-US" sz="1665" dirty="0">
                <a:solidFill>
                  <a:srgbClr val="2C3E50"/>
                </a:solidFill>
                <a:latin typeface="Inter Medium" pitchFamily="34" charset="0"/>
                <a:ea typeface="Inter Medium" pitchFamily="34" charset="-122"/>
                <a:cs typeface="Inter Medium" pitchFamily="34" charset="-120"/>
              </a:rPr>
              <a:t>法律合规 (Legal Compliance)</a:t>
            </a:r>
            <a:endParaRPr lang="en-US" sz="1665" dirty="0"/>
          </a:p>
        </p:txBody>
      </p:sp>
      <p:sp>
        <p:nvSpPr>
          <p:cNvPr id="23" name="Text 16"/>
          <p:cNvSpPr/>
          <p:nvPr/>
        </p:nvSpPr>
        <p:spPr>
          <a:xfrm>
            <a:off x="1562100" y="6218300"/>
            <a:ext cx="4963160" cy="233680"/>
          </a:xfrm>
          <a:prstGeom prst="rect">
            <a:avLst/>
          </a:prstGeom>
          <a:noFill/>
        </p:spPr>
        <p:txBody>
          <a:bodyPr wrap="none" lIns="0" tIns="0" rIns="0" bIns="0" rtlCol="0" anchor="t">
            <a:spAutoFit/>
          </a:bodyPr>
          <a:lstStyle/>
          <a:p>
            <a:pPr marL="0" indent="0" algn="l">
              <a:lnSpc>
                <a:spcPct val="120000"/>
              </a:lnSpc>
              <a:buNone/>
            </a:pPr>
            <a:r>
              <a:rPr lang="en-US" sz="1265" dirty="0">
                <a:solidFill>
                  <a:srgbClr val="596A7A"/>
                </a:solidFill>
                <a:latin typeface="Inter Light" pitchFamily="34" charset="0"/>
                <a:ea typeface="Inter Light" pitchFamily="34" charset="-122"/>
                <a:cs typeface="Inter Light" pitchFamily="34" charset="-120"/>
              </a:rPr>
              <a:t>遵守 FTC 等关于利益披露的准则，确保赞助或合作内容有清晰标识。</a:t>
            </a:r>
            <a:endParaRPr lang="en-US" sz="1265" dirty="0"/>
          </a:p>
        </p:txBody>
      </p:sp>
      <p:pic>
        <p:nvPicPr>
          <p:cNvPr id="24" name="圖片 23"/>
          <p:cNvPicPr/>
          <p:nvPr/>
        </p:nvPicPr>
        <p:blipFill>
          <a:blip r:embed="rId6"/>
          <a:stretch>
            <a:fillRect/>
          </a:stretch>
        </p:blipFill>
        <p:spPr>
          <a:xfrm>
            <a:off x="-83185" y="0"/>
            <a:ext cx="12065000" cy="67271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491472" y="82296"/>
            <a:ext cx="2382281" cy="7772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426200" y="3670300"/>
            <a:ext cx="4514215" cy="275590"/>
          </a:xfrm>
          <a:prstGeom prst="rect">
            <a:avLst/>
          </a:prstGeom>
          <a:noFill/>
        </p:spPr>
        <p:txBody>
          <a:bodyPr wrap="square" rtlCol="0" anchor="t">
            <a:spAutoFit/>
          </a:bodyPr>
          <a:p>
            <a:pPr marL="171450" indent="-171450">
              <a:buFont typeface="Wingdings" panose="05000000000000000000" charset="0"/>
              <a:buChar char="l"/>
            </a:pPr>
            <a:endParaRPr lang="zh-CN" altLang="en-US" sz="1200"/>
          </a:p>
        </p:txBody>
      </p:sp>
      <p:sp>
        <p:nvSpPr>
          <p:cNvPr id="7" name="文本框 6"/>
          <p:cNvSpPr txBox="1"/>
          <p:nvPr/>
        </p:nvSpPr>
        <p:spPr>
          <a:xfrm>
            <a:off x="4298315" y="-8930005"/>
            <a:ext cx="6344920" cy="6369685"/>
          </a:xfrm>
          <a:prstGeom prst="rect">
            <a:avLst/>
          </a:prstGeom>
          <a:noFill/>
        </p:spPr>
        <p:txBody>
          <a:bodyPr wrap="square" rtlCol="0" anchor="t">
            <a:spAutoFit/>
          </a:bodyPr>
          <a:p>
            <a:r>
              <a:rPr lang="zh-CN" altLang="en-US" sz="1200">
                <a:sym typeface="+mn-ea"/>
              </a:rPr>
              <a:t>谷歌关键词规划师（Google keyword planner）关键字规划师是一款关键字研究工具,可以帮助您找到要为展示广告、搜索广告、视频广告和应用广告定位的合适关键字</a:t>
            </a:r>
            <a:endParaRPr lang="zh-CN" altLang="en-US" sz="1200"/>
          </a:p>
          <a:p>
            <a:r>
              <a:rPr lang="zh-CN" altLang="en-US" sz="1200">
                <a:sym typeface="+mn-ea"/>
              </a:rPr>
              <a:t>Ahrefs诊断您的网站,探测竞争对手,研究关键词和外链——全都在一个地方进行</a:t>
            </a:r>
            <a:endParaRPr lang="zh-CN" altLang="en-US" sz="1200"/>
          </a:p>
          <a:p>
            <a:r>
              <a:rPr lang="zh-CN" altLang="en-US" sz="1200">
                <a:sym typeface="+mn-ea"/>
              </a:rPr>
              <a:t>SEMRUSH是时下综合能力最强的SEO工具,他同时具有关键词排名追踪、关键词研究、长尾词研究、外链挖掘、PPC广告研究、流量研究,行业热文搜索等多个功能</a:t>
            </a:r>
            <a:endParaRPr lang="zh-CN" altLang="en-US" sz="1200"/>
          </a:p>
          <a:p>
            <a:r>
              <a:rPr lang="zh-CN" altLang="en-US" sz="1200">
                <a:sym typeface="+mn-ea"/>
              </a:rPr>
              <a:t>Keywords everywhere是一个SEO关键字研究工具，可以在多个网站上显示有用的谷歌关键字搜索量和每次点击费用数据</a:t>
            </a:r>
            <a:endParaRPr lang="zh-CN" altLang="en-US" sz="1200"/>
          </a:p>
          <a:p>
            <a:r>
              <a:rPr lang="zh-CN" altLang="en-US" sz="1200">
                <a:sym typeface="+mn-ea"/>
              </a:rPr>
              <a:t>KWfinder:KWfinder可以针对某个国家和地区以及某种语言进行关键字查询</a:t>
            </a:r>
            <a:endParaRPr lang="zh-CN" altLang="en-US" sz="1200"/>
          </a:p>
          <a:p>
            <a:r>
              <a:rPr lang="zh-CN" altLang="en-US" sz="1200">
                <a:sym typeface="+mn-ea"/>
              </a:rPr>
              <a:t>SeoStack Keyword Tool插件, 免费工具，可以很轻松的找到长尾关键词</a:t>
            </a:r>
            <a:endParaRPr lang="zh-CN" altLang="en-US" sz="1200"/>
          </a:p>
          <a:p>
            <a:r>
              <a:rPr lang="zh-CN" altLang="en-US" sz="1200">
                <a:sym typeface="+mn-ea"/>
              </a:rPr>
              <a:t>Soolve（https://soovle.com）是一个有趣的文字云整合搜索结果，让你一次可以看到不同搜索引擎的结果</a:t>
            </a:r>
            <a:endParaRPr lang="zh-CN" altLang="en-US" sz="1200"/>
          </a:p>
          <a:p>
            <a:r>
              <a:rPr lang="zh-CN" altLang="en-US" sz="1200">
                <a:sym typeface="+mn-ea"/>
              </a:rPr>
              <a:t> Keyword Tool(https://keywordtool.io) Keyword Tool这个关键字规划工具集结了Google、Amazon、Yahoo、Bing、Youtube、AppStore的搜索引擎，可以根据不同国家网域和语言选择搜索结果</a:t>
            </a:r>
            <a:endParaRPr lang="zh-CN" altLang="en-US" sz="1200"/>
          </a:p>
          <a:p>
            <a:r>
              <a:rPr lang="zh-CN" altLang="en-US" sz="1200">
                <a:sym typeface="+mn-ea"/>
              </a:rPr>
              <a:t>UberSuggest（https://app.neilpatel.com）长尾关键词神器以及网站分析</a:t>
            </a:r>
            <a:endParaRPr lang="zh-CN" altLang="en-US" sz="1200"/>
          </a:p>
          <a:p>
            <a:r>
              <a:rPr lang="zh-CN" altLang="en-US" sz="1200">
                <a:sym typeface="+mn-ea"/>
              </a:rPr>
              <a:t>K-Meta(https://k-meta.com/)以网址搜索可找到你的竞争对手、网站流量，广告文案,关键词Position；若是以关键字搜索的话则可以看到CPC、竞争程度、搜索声量以及相关关键字和有机搜索的结果</a:t>
            </a:r>
            <a:endParaRPr lang="zh-CN" altLang="en-US" sz="1200"/>
          </a:p>
          <a:p>
            <a:r>
              <a:rPr lang="zh-CN" altLang="en-US" sz="1200">
                <a:sym typeface="+mn-ea"/>
              </a:rPr>
              <a:t>SERPstat（https://serpstat.com）跟Semrush类似,功能也是非常强大,可以分析关键词,长尾关键词以及网站分析</a:t>
            </a:r>
            <a:endParaRPr lang="zh-CN" altLang="en-US" sz="1200"/>
          </a:p>
          <a:p>
            <a:r>
              <a:rPr lang="zh-CN" altLang="en-US" sz="1200">
                <a:sym typeface="+mn-ea"/>
              </a:rPr>
              <a:t>Spyfu（www.spyfu.com）Spyfu不只帮你找到你的竞争对手所使用的关键字，同时也告诉你每一个字他们所投入广告的成本和排名</a:t>
            </a:r>
            <a:endParaRPr lang="zh-CN" altLang="en-US" sz="1200"/>
          </a:p>
          <a:p>
            <a:r>
              <a:rPr lang="zh-CN" altLang="en-US" sz="1200">
                <a:sym typeface="+mn-ea"/>
              </a:rPr>
              <a:t>Word Tracker(www.wordtracker.com)Word Tracker是结合Google、Amazon和Youtube的搜索引擎，主要专注在你锁定的关键字之流量优化</a:t>
            </a:r>
            <a:endParaRPr lang="zh-CN" altLang="en-US" sz="1200"/>
          </a:p>
          <a:p>
            <a:r>
              <a:rPr lang="zh-CN" altLang="en-US" sz="1200">
                <a:sym typeface="+mn-ea"/>
              </a:rPr>
              <a:t>Keywordtool是一款非常强大的关键字工具，不仅可以查找谷歌关键字，还可以查找YouTube，Bing，Amazon，eBay等平台的关键字，适用范围特别广</a:t>
            </a:r>
            <a:endParaRPr lang="zh-CN" altLang="en-US" sz="1200"/>
          </a:p>
          <a:p>
            <a:r>
              <a:rPr lang="zh-CN" altLang="en-US" sz="1200">
                <a:sym typeface="+mn-ea"/>
              </a:rPr>
              <a:t>Keyword Shitter （拉出关键词）只需输入“种子”关键字（或多个），然后点击 “Shit Keywords”（拉出关键词）就可以</a:t>
            </a:r>
            <a:endParaRPr lang="zh-CN" altLang="en-US" sz="1200"/>
          </a:p>
          <a:p>
            <a:r>
              <a:rPr lang="zh-CN" altLang="en-US" sz="1200">
                <a:sym typeface="+mn-ea"/>
              </a:rPr>
              <a:t>AdWord &amp; SEO Keyword Permutation Generator：这个工具可以将多个关键词列表组合成关键词列表</a:t>
            </a:r>
            <a:endParaRPr lang="zh-CN" altLang="en-US" sz="1200"/>
          </a:p>
          <a:p>
            <a:r>
              <a:rPr lang="zh-CN" altLang="en-US" sz="1200">
                <a:sym typeface="+mn-ea"/>
              </a:rPr>
              <a:t>Answer the public: 工具可以帮助大家提供 问题、介词、比较、字母和相关关键词搜索</a:t>
            </a:r>
            <a:endParaRPr lang="zh-CN" altLang="en-US" sz="1200"/>
          </a:p>
          <a:p>
            <a:r>
              <a:rPr lang="zh-CN" altLang="en-US" sz="1200">
                <a:sym typeface="+mn-ea"/>
              </a:rPr>
              <a:t>Google Correlate （谷歌关联工具):用Google自己的话说，Google Correlate（谷歌关联工具）会找到与目前趋势相对应的词汇。即，趋势相关性</a:t>
            </a:r>
            <a:endParaRPr lang="zh-CN" altLang="en-US" sz="1200"/>
          </a:p>
          <a:p>
            <a:r>
              <a:rPr lang="zh-CN" altLang="en-US" sz="1200">
                <a:sym typeface="+mn-ea"/>
              </a:rPr>
              <a:t>Mozbar:老牌SEO工具之一</a:t>
            </a:r>
            <a:endParaRPr lang="zh-CN" altLang="en-US" sz="1200"/>
          </a:p>
        </p:txBody>
      </p:sp>
      <p:pic>
        <p:nvPicPr>
          <p:cNvPr id="8" name="图片 7" descr="下班后8小时"/>
          <p:cNvPicPr>
            <a:picLocks noChangeAspect="1"/>
          </p:cNvPicPr>
          <p:nvPr/>
        </p:nvPicPr>
        <p:blipFill>
          <a:blip r:embed="rId1"/>
          <a:stretch>
            <a:fillRect/>
          </a:stretch>
        </p:blipFill>
        <p:spPr>
          <a:xfrm>
            <a:off x="4298315" y="1475740"/>
            <a:ext cx="2959735" cy="2959735"/>
          </a:xfrm>
          <a:prstGeom prst="rect">
            <a:avLst/>
          </a:prstGeom>
        </p:spPr>
      </p:pic>
      <p:sp>
        <p:nvSpPr>
          <p:cNvPr id="10" name="圆角矩形 9"/>
          <p:cNvSpPr/>
          <p:nvPr/>
        </p:nvSpPr>
        <p:spPr>
          <a:xfrm>
            <a:off x="2183130" y="5103495"/>
            <a:ext cx="7945755" cy="1463040"/>
          </a:xfrm>
          <a:prstGeom prst="roundRect">
            <a:avLst/>
          </a:prstGeom>
          <a:solidFill>
            <a:schemeClr val="bg2">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400"/>
              <a:t>作者：南溪</a:t>
            </a:r>
            <a:endParaRPr lang="zh-CN" altLang="en-US" sz="1400"/>
          </a:p>
          <a:p>
            <a:pPr algn="l"/>
            <a:r>
              <a:rPr lang="zh-CN" altLang="en-US" sz="1400"/>
              <a:t>微信公众号（下班后8小时）</a:t>
            </a:r>
            <a:endParaRPr lang="zh-CN" altLang="en-US" sz="1400"/>
          </a:p>
          <a:p>
            <a:pPr algn="l"/>
            <a:r>
              <a:rPr lang="zh-CN" altLang="en-US" sz="1400"/>
              <a:t>个人博客：出海指南（</a:t>
            </a:r>
            <a:r>
              <a:rPr lang="en-US" altLang="zh-CN" sz="1400"/>
              <a:t>chuhaizhinan.com</a:t>
            </a:r>
            <a:r>
              <a:rPr lang="zh-CN" altLang="en-US" sz="1400"/>
              <a:t>）</a:t>
            </a:r>
            <a:endParaRPr lang="zh-CN" altLang="en-US" sz="1400"/>
          </a:p>
          <a:p>
            <a:pPr algn="l"/>
            <a:r>
              <a:rPr lang="zh-CN" altLang="en-US" sz="1400"/>
              <a:t>职业经历：从事多年站外推广跟品牌推广</a:t>
            </a:r>
            <a:endParaRPr lang="zh-CN" altLang="en-US" sz="1400"/>
          </a:p>
          <a:p>
            <a:pPr algn="l"/>
            <a:r>
              <a:rPr lang="zh-CN" altLang="en-US" sz="1400"/>
              <a:t>擅长Google,Facebook广告优化以及Affiliate联盟，网红营销</a:t>
            </a:r>
            <a:endParaRPr lang="zh-CN" altLang="en-US" sz="1400"/>
          </a:p>
        </p:txBody>
      </p:sp>
      <p:sp>
        <p:nvSpPr>
          <p:cNvPr id="12" name="圆角矩形 11"/>
          <p:cNvSpPr/>
          <p:nvPr/>
        </p:nvSpPr>
        <p:spPr>
          <a:xfrm>
            <a:off x="438785" y="299720"/>
            <a:ext cx="11435080" cy="5080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a:t>感谢您的聆听</a:t>
            </a:r>
            <a:endParaRPr lang="zh-CN" altLang="en-US" sz="2000"/>
          </a:p>
        </p:txBody>
      </p:sp>
    </p:spTree>
  </p:cSld>
  <p:clrMapOvr>
    <a:masterClrMapping/>
  </p:clrMapOvr>
</p:sld>
</file>

<file path=ppt/tags/tag1.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THINKCELLUNDODONOTDELETE" val="0"/>
  <p:tag name="ISLIDE.THEME" val="b109917e-603e-4878-ab4d-7b27a83dcf0d"/>
  <p:tag name="ISLIDE.GUIDESSETTING" val="{&quot;Id&quot;:null,&quot;Name&quot;:&quot;正常&quot;,&quot;HeaderHeight&quot;:15.0,&quot;FooterHeight&quot;:9.0,&quot;SideMargin&quot;:5.5,&quot;TopMargin&quot;:0.0,&quot;BottomMargin&quot;:0.0,&quot;IntervalMargin&quot;:1.5,&quot;SettingType&quot;:&quot;System&quot;}"/>
  <p:tag name="COMMONDATA" val="eyJoZGlkIjoiYmViMTI5OTc4YzgyMzk4MGUzYzEzYjliZTkzNDE3MDEifQ=="/>
  <p:tag name="resource_record_key" val="{&quot;70&quot;:[3322475,3322209,3312124]}"/>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F8BF08"/>
      </a:accent1>
      <a:accent2>
        <a:srgbClr val="5B574B"/>
      </a:accent2>
      <a:accent3>
        <a:srgbClr val="1F1F1F"/>
      </a:accent3>
      <a:accent4>
        <a:srgbClr val="534E44"/>
      </a:accent4>
      <a:accent5>
        <a:srgbClr val="7F7F7F"/>
      </a:accent5>
      <a:accent6>
        <a:srgbClr val="595959"/>
      </a:accent6>
      <a:hlink>
        <a:srgbClr val="4472C4"/>
      </a:hlink>
      <a:folHlink>
        <a:srgbClr val="BFBFBF"/>
      </a:folHlink>
    </a:clrScheme>
    <a:fontScheme name="rsnsnht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5592</Words>
  <Application>WPS 演示</Application>
  <PresentationFormat>宽屏</PresentationFormat>
  <Paragraphs>376</Paragraphs>
  <Slides>21</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21</vt:i4>
      </vt:variant>
    </vt:vector>
  </HeadingPairs>
  <TitlesOfParts>
    <vt:vector size="51" baseType="lpstr">
      <vt:lpstr>Arial</vt:lpstr>
      <vt:lpstr>PMingLiU</vt:lpstr>
      <vt:lpstr>Wingdings</vt:lpstr>
      <vt:lpstr>微软雅黑</vt:lpstr>
      <vt:lpstr>Helvetica Light</vt:lpstr>
      <vt:lpstr>Avenir Next</vt:lpstr>
      <vt:lpstr>Segoe Print</vt:lpstr>
      <vt:lpstr>Impact</vt:lpstr>
      <vt:lpstr>Wingdings</vt:lpstr>
      <vt:lpstr>宋体</vt:lpstr>
      <vt:lpstr>Arial Unicode MS</vt:lpstr>
      <vt:lpstr>Calibri</vt:lpstr>
      <vt:lpstr>Playfair Display Bold</vt:lpstr>
      <vt:lpstr>Playfair Display Bold</vt:lpstr>
      <vt:lpstr>Playfair Display Bold</vt:lpstr>
      <vt:lpstr>Inter Light</vt:lpstr>
      <vt:lpstr>Inter Light</vt:lpstr>
      <vt:lpstr>Inter Light</vt:lpstr>
      <vt:lpstr>Inter Medium</vt:lpstr>
      <vt:lpstr>Inter Medium</vt:lpstr>
      <vt:lpstr>Inter Medium</vt:lpstr>
      <vt:lpstr>Courier New</vt:lpstr>
      <vt:lpstr>Courier New</vt:lpstr>
      <vt:lpstr>Courier New</vt:lpstr>
      <vt:lpstr>Inter ExtraBold</vt:lpstr>
      <vt:lpstr>Inter ExtraBold</vt:lpstr>
      <vt:lpstr>Inter ExtraBold</vt:lpstr>
      <vt:lpstr>MingLiU-ExtB</vt:lpstr>
      <vt:lpstr>PMingLiU</vt:lpstr>
      <vt:lpstr>主题5</vt:lpstr>
      <vt:lpstr>PowerPoint 演示文稿</vt:lpstr>
      <vt:lpstr>项目上线必要的准备工作以及联盟竞品调研</vt:lpstr>
      <vt:lpstr>如何运营好联盟</vt:lpstr>
      <vt:lpstr>PowerPoint 演示文稿</vt:lpstr>
      <vt:lpstr>PowerPoint 演示文稿</vt:lpstr>
      <vt:lpstr>常见的11种联盟客资源开发方式</vt:lpstr>
      <vt:lpstr>善于利用AI Agent Minimaxi&amp;Manus等</vt:lpstr>
      <vt:lpstr>善于利用Claude等创建自动化工作流</vt:lpstr>
      <vt:lpstr>联盟Affilite整体运营策略</vt:lpstr>
      <vt:lpstr>联盟精细化运营策略</vt:lpstr>
      <vt:lpstr>案例分享</vt:lpstr>
      <vt:lpstr>头部合作Tech Media25-30家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Richard Andy</cp:lastModifiedBy>
  <cp:revision>655</cp:revision>
  <cp:lastPrinted>2018-10-24T16:00:00Z</cp:lastPrinted>
  <dcterms:created xsi:type="dcterms:W3CDTF">2018-10-24T16:00:00Z</dcterms:created>
  <dcterms:modified xsi:type="dcterms:W3CDTF">2026-04-22T05:03:34Z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_2015_ms_pID_725343">
    <vt:lpwstr>(2)OCt6gHa1Lag5C05K9efhBUHyD8Na0xUK4kpTGKDYkvSn2RNHXPf24xxIsH5rbHhNbQihulTE
Iviys9eFmzbX6HRJXbjWzyB8Ws7MI0Y+sCFVY1TVwu452ZBxOB3cxss7baiPka6OJPN9fK8/
tJfNu1fFFmex1SR90wdwXG/aOLoSb+0MqyJhnHxZajzC8ZggE/yybaE3t4iIj4b+cKK23Uiy
hlGyoerWewE24MLNVY</vt:lpwstr>
  </property>
  <property fmtid="{D5CDD505-2E9C-101B-9397-08002B2CF9AE}" pid="4" name="_2015_ms_pID_7253431">
    <vt:lpwstr>L9O5JhRugO8ekeQ9wtQ9l9fgEGWorBMLngJQc8xJNk0reteGPyDAFQ
0xwwa5ownta8HkZtIlEI1XljA3yHoT0m7dov7fo74PlIodL5BU21GPdw5FnUrJZTAEv+ULEx
+fwslr2QRvDPy2O4+S9mmUamB4C7KggV/v0pk+MIlxvtV9C0476ZGLOARjtBqRAsLRBewmuF
dcLpuO3zpg+1BmeO</vt:lpwstr>
  </property>
  <property fmtid="{D5CDD505-2E9C-101B-9397-08002B2CF9AE}" pid="5" name="KSOProductBuildVer">
    <vt:lpwstr>3076-12.1.0.25830</vt:lpwstr>
  </property>
  <property fmtid="{D5CDD505-2E9C-101B-9397-08002B2CF9AE}" pid="6" name="ICV">
    <vt:lpwstr>E654A75E9FEB45BCA1AEAD27650810BF</vt:lpwstr>
  </property>
</Properties>
</file>